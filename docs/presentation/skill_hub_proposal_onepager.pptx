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无 Hub</c:v>
                </c:pt>
              </c:strCache>
            </c:strRef>
          </c:tx>
          <c:spPr>
            <a:solidFill>
              <a:srgbClr val="BFBFBF"/>
            </a:solidFill>
            <a:ln w="22225" cap="flat">
              <a:solidFill>
                <a:srgbClr val="BFBFB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FBFBF"/>
              </a:solidFill>
              <a:ln w="9525" cap="flat">
                <a:solidFill>
                  <a:srgbClr val="BFBFB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12</c:v>
                </c:pt>
                <c:pt idx="2">
                  <c:v>9</c:v>
                </c:pt>
                <c:pt idx="3">
                  <c:v>13</c:v>
                </c:pt>
                <c:pt idx="4">
                  <c:v>10</c:v>
                </c:pt>
                <c:pt idx="5">
                  <c:v>12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有 Hub</c:v>
                </c:pt>
              </c:strCache>
            </c:strRef>
          </c:tx>
          <c:spPr>
            <a:solidFill>
              <a:srgbClr val="C00000"/>
            </a:solidFill>
            <a:ln w="22225" cap="flat">
              <a:solidFill>
                <a:srgbClr val="C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00000"/>
              </a:solidFill>
              <a:ln w="9525" cap="flat">
                <a:solidFill>
                  <a:srgbClr val="C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</c:v>
                </c:pt>
                <c:pt idx="1">
                  <c:v>22</c:v>
                </c:pt>
                <c:pt idx="2">
                  <c:v>36</c:v>
                </c:pt>
                <c:pt idx="3">
                  <c:v>52</c:v>
                </c:pt>
                <c:pt idx="4">
                  <c:v>70</c:v>
                </c:pt>
                <c:pt idx="5">
                  <c:v>90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404040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改善幅度</c:v>
                </c:pt>
              </c:strCache>
            </c:strRef>
          </c:tx>
          <c:spPr>
            <a:solidFill>
              <a:srgbClr val="2E9E9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40404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重复探索</c:v>
                  </c:pt>
                  <c:pt idx="1">
                    <c:v>冷启动</c:v>
                  </c:pt>
                  <c:pt idx="2">
                    <c:v>命中率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70</c:v>
                </c:pt>
                <c:pt idx="2">
                  <c:v>30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650" u="none">
                  <a:solidFill>
                    <a:srgbClr val="40404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404040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09728"/>
            <a:ext cx="11640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Hub：</a:t>
            </a:r>
            <a:pPr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鸿蒙内核智能优化的团队级自进化经验中枢</a:t>
            </a:r>
            <a:pPr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（提案人 00XXXXXX）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274320" y="841248"/>
            <a:ext cx="5074920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97380" y="685800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897380" y="6858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问题背景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77256" y="841248"/>
            <a:ext cx="642823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6972" y="685800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7776972" y="6858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创新方案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74320" y="4389120"/>
            <a:ext cx="5074920" cy="2267712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23060" y="4233672"/>
            <a:ext cx="237744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1623060" y="42336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现有方案不足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77256" y="4389120"/>
            <a:ext cx="6428232" cy="2267712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65492" y="4233672"/>
            <a:ext cx="265176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7365492" y="42336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收益和商业价值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38912" y="950976"/>
            <a:ext cx="47457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</a:t>
            </a:r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驱动的内核优化（内存底噪 · 指令数 · 功耗）规模化铺开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——真瓶颈不是“单次优化”，而是</a:t>
            </a:r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“经验能否复利积累”</a:t>
            </a:r>
            <a:endParaRPr lang="en-US" sz="1000" dirty="0"/>
          </a:p>
          <a:p>
            <a:pPr indent="0" marL="0">
              <a:lnSpc>
                <a:spcPct val="110000"/>
              </a:lnSpc>
              <a:spcBef>
                <a:spcPts val="300"/>
              </a:spcBef>
              <a:buNone/>
            </a:pPr>
            <a:r>
              <a:rPr lang="en-US" sz="1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哪个招式有效、哪里有坑、热函数怎么改、哪种验证不可信——只存在个人本地；团队重复探索、专家经验带不走，</a:t>
            </a:r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优化边际效率不升反降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8912" y="1901952"/>
            <a:ext cx="1417320" cy="256032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" y="190195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工程师 A（各自为战）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47572" y="2157984"/>
            <a:ext cx="0" cy="118872"/>
          </a:xfrm>
          <a:prstGeom prst="line">
            <a:avLst/>
          </a:prstGeom>
          <a:noFill/>
          <a:ln w="15875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103120" y="1901952"/>
            <a:ext cx="1417320" cy="256032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03120" y="190195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工程师 B（各自为战）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811780" y="2157984"/>
            <a:ext cx="0" cy="118872"/>
          </a:xfrm>
          <a:prstGeom prst="line">
            <a:avLst/>
          </a:prstGeom>
          <a:noFill/>
          <a:ln w="15875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767328" y="1901952"/>
            <a:ext cx="1417320" cy="256032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67328" y="190195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工程师 C（各自为战）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475988" y="2157984"/>
            <a:ext cx="0" cy="118872"/>
          </a:xfrm>
          <a:prstGeom prst="line">
            <a:avLst/>
          </a:prstGeom>
          <a:noFill/>
          <a:ln w="15875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38912" y="2286000"/>
            <a:ext cx="474573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2286000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优化流水线（.opencode 硬门禁）：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调研 → 计划评审 → 实现 → 代码评审 → 测试 A/B → 决策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811780" y="2651760"/>
            <a:ext cx="0" cy="109728"/>
          </a:xfrm>
          <a:prstGeom prst="line">
            <a:avLst/>
          </a:prstGeom>
          <a:noFill/>
          <a:ln w="15875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38912" y="2770632"/>
            <a:ext cx="4745736" cy="384048"/>
          </a:xfrm>
          <a:prstGeom prst="rect">
            <a:avLst/>
          </a:prstGeom>
          <a:solidFill>
            <a:srgbClr val="FFF8F0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2064" y="2770632"/>
            <a:ext cx="4599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本地经验 .opencode/memory/：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决策台账 idea_ledger（L001 实测 −0.8%）· 结构事实 · 通用教训 · 已否决方案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793492" y="3154680"/>
            <a:ext cx="-1664208" cy="146304"/>
          </a:xfrm>
          <a:prstGeom prst="line">
            <a:avLst/>
          </a:prstGeom>
          <a:noFill/>
          <a:ln w="12700">
            <a:solidFill>
              <a:srgbClr val="808080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438912" y="3310128"/>
            <a:ext cx="1417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8912" y="33101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队友复用 </a:t>
            </a:r>
            <a:pPr algn="ctr"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811780" y="3154680"/>
            <a:ext cx="0" cy="146304"/>
          </a:xfrm>
          <a:prstGeom prst="line">
            <a:avLst/>
          </a:prstGeom>
          <a:noFill/>
          <a:ln w="12700">
            <a:solidFill>
              <a:srgbClr val="808080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2103120" y="3310128"/>
            <a:ext cx="1417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103120" y="33101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新人接手 </a:t>
            </a:r>
            <a:pPr algn="ctr"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830068" y="3154680"/>
            <a:ext cx="1664208" cy="146304"/>
          </a:xfrm>
          <a:prstGeom prst="line">
            <a:avLst/>
          </a:prstGeom>
          <a:noFill/>
          <a:ln w="12700">
            <a:solidFill>
              <a:srgbClr val="808080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3767328" y="3310128"/>
            <a:ext cx="1417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767328" y="33101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 Agent </a:t>
            </a:r>
            <a:pPr algn="ctr"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38912" y="3648456"/>
            <a:ext cx="4745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经验止步个人目录——无汇聚 · 无治理 · 随人流失，新人与新 Agent 永远从零开始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38912" y="3895344"/>
            <a:ext cx="4745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例：shrink_node 循环不变量外提，实测指令数 −0.8%——这类可复用经验此前只躺在个人目录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438912" y="4517136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业界记忆方案只解决“个体的存与取”；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知识漂移 · 反馈自增强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两大致命风险与团队级复用均无人治理：</a:t>
            </a:r>
            <a:endParaRPr lang="en-US" sz="9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2336" y="4919472"/>
          <a:ext cx="4818888" cy="914400"/>
        </p:xfrm>
        <a:graphic>
          <a:graphicData uri="http://schemas.openxmlformats.org/drawingml/2006/table">
            <a:tbl>
              <a:tblPr/>
              <a:tblGrid>
                <a:gridCol w="1078992"/>
                <a:gridCol w="749808"/>
                <a:gridCol w="914400"/>
                <a:gridCol w="713232"/>
                <a:gridCol w="795528"/>
                <a:gridCol w="566928"/>
              </a:tblGrid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存取检索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冲突治理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质量门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版本化发布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团队评审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 v3 OSS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 只会追加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Zep / Graphiti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 时效标注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memU / EverOS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分层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git 直接共享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 行级冲突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Skill Hub 本方案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混合检索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七类判定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评测把关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版本锁定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双评审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EEC"/>
                    </a:solidFill>
                  </a:tcPr>
                </a:tc>
              </a:tr>
            </a:tbl>
          </a:graphicData>
        </a:graphic>
      </p:graphicFrame>
      <p:sp>
        <p:nvSpPr>
          <p:cNvPr id="43" name="Text 40"/>
          <p:cNvSpPr/>
          <p:nvPr/>
        </p:nvSpPr>
        <p:spPr>
          <a:xfrm>
            <a:off x="438912" y="6345936"/>
            <a:ext cx="4745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团队级治理层（门控 · 审核 · 版本化）为本方案独有——差异化护城河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5623560" y="914400"/>
            <a:ext cx="6135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核心思想：</a:t>
            </a:r>
            <a:pPr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经验像内部软件包一样管理——消费→提炼→门控→发布→再消费，全自动闭环、越用越准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5623560" y="1188720"/>
            <a:ext cx="4160520" cy="1243584"/>
          </a:xfrm>
          <a:prstGeom prst="rect">
            <a:avLst/>
          </a:prstGeom>
          <a:solidFill>
            <a:srgbClr val="F4FAF9"/>
          </a:solidFill>
          <a:ln w="15875">
            <a:solidFill>
              <a:srgbClr val="2E9E94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5733288" y="1225296"/>
            <a:ext cx="3941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hm-skill-hub 团队中央经验仓</a:t>
            </a:r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（版本化发布 · 各项目锁定消费 · 可回滚 · 可审计）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5733288" y="1426464"/>
            <a:ext cx="1243584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5760720" y="142646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审核入库</a:t>
            </a:r>
            <a:endParaRPr lang="en-US" sz="6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6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七类关系判定 · 双人评审</a:t>
            </a:r>
            <a:endParaRPr lang="en-US" sz="650" dirty="0"/>
          </a:p>
        </p:txBody>
      </p:sp>
      <p:sp>
        <p:nvSpPr>
          <p:cNvPr id="49" name="Shape 46"/>
          <p:cNvSpPr/>
          <p:nvPr/>
        </p:nvSpPr>
        <p:spPr>
          <a:xfrm>
            <a:off x="7082028" y="1581912"/>
            <a:ext cx="-105156" cy="0"/>
          </a:xfrm>
          <a:prstGeom prst="line">
            <a:avLst/>
          </a:prstGeom>
          <a:noFill/>
          <a:ln w="15875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50" name="Shape 47"/>
          <p:cNvSpPr/>
          <p:nvPr/>
        </p:nvSpPr>
        <p:spPr>
          <a:xfrm>
            <a:off x="7082028" y="1426464"/>
            <a:ext cx="1243584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109460" y="142646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CI 五道门</a:t>
            </a:r>
            <a:endParaRPr lang="en-US" sz="6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6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格式·脱敏·去重·评测·测试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8430768" y="1581912"/>
            <a:ext cx="-105156" cy="0"/>
          </a:xfrm>
          <a:prstGeom prst="line">
            <a:avLst/>
          </a:prstGeom>
          <a:noFill/>
          <a:ln w="15875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53" name="Shape 50"/>
          <p:cNvSpPr/>
          <p:nvPr/>
        </p:nvSpPr>
        <p:spPr>
          <a:xfrm>
            <a:off x="8430768" y="1426464"/>
            <a:ext cx="1243584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8458200" y="142646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投稿收件箱</a:t>
            </a:r>
            <a:endParaRPr lang="en-US" sz="6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6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成员提炼包 PR 待审</a:t>
            </a:r>
            <a:endParaRPr lang="en-US" sz="650" dirty="0"/>
          </a:p>
        </p:txBody>
      </p:sp>
      <p:sp>
        <p:nvSpPr>
          <p:cNvPr id="55" name="Shape 52"/>
          <p:cNvSpPr/>
          <p:nvPr/>
        </p:nvSpPr>
        <p:spPr>
          <a:xfrm>
            <a:off x="5733288" y="1792224"/>
            <a:ext cx="1847088" cy="548640"/>
          </a:xfrm>
          <a:prstGeom prst="rect">
            <a:avLst/>
          </a:prstGeom>
          <a:solidFill>
            <a:srgbClr val="CFEDEA"/>
          </a:solidFill>
          <a:ln w="12700">
            <a:solidFill>
              <a:srgbClr val="2E9E94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5788152" y="179222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knowledge/ 知识库 — 引擎A 治理合并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global · subsystems · targets（F/H/A/V/B/L）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七类关系判定 · 旧结论留痕不删除</a:t>
            </a:r>
            <a:endParaRPr lang="en-US" sz="700" dirty="0"/>
          </a:p>
        </p:txBody>
      </p:sp>
      <p:sp>
        <p:nvSpPr>
          <p:cNvPr id="57" name="Shape 54"/>
          <p:cNvSpPr/>
          <p:nvPr/>
        </p:nvSpPr>
        <p:spPr>
          <a:xfrm>
            <a:off x="7827264" y="1792224"/>
            <a:ext cx="1847088" cy="548640"/>
          </a:xfrm>
          <a:prstGeom prst="rect">
            <a:avLst/>
          </a:prstGeom>
          <a:solidFill>
            <a:srgbClr val="FBE5D6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7882128" y="179222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skills/ 技能库 — 引擎B 竞争进化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· technique · domain + best_skill.md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评测把关 · GEPA 进化 · 多候选保留</a:t>
            </a:r>
            <a:endParaRPr lang="en-US" sz="700" dirty="0"/>
          </a:p>
        </p:txBody>
      </p:sp>
      <p:sp>
        <p:nvSpPr>
          <p:cNvPr id="59" name="Shape 56"/>
          <p:cNvSpPr/>
          <p:nvPr/>
        </p:nvSpPr>
        <p:spPr>
          <a:xfrm>
            <a:off x="7621524" y="1984248"/>
            <a:ext cx="164592" cy="16459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7621524" y="198424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9482328" y="2139696"/>
            <a:ext cx="164592" cy="16459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82328" y="21396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50" dirty="0"/>
          </a:p>
        </p:txBody>
      </p:sp>
      <p:sp>
        <p:nvSpPr>
          <p:cNvPr id="63" name="Shape 60"/>
          <p:cNvSpPr/>
          <p:nvPr/>
        </p:nvSpPr>
        <p:spPr>
          <a:xfrm>
            <a:off x="5943600" y="2432304"/>
            <a:ext cx="0" cy="237744"/>
          </a:xfrm>
          <a:prstGeom prst="line">
            <a:avLst/>
          </a:prstGeom>
          <a:noFill/>
          <a:ln w="25400">
            <a:solidFill>
              <a:srgbClr val="2E9E94"/>
            </a:solidFill>
            <a:prstDash val="solid"/>
            <a:tailEnd type="triangle"/>
          </a:ln>
        </p:spPr>
      </p:sp>
      <p:sp>
        <p:nvSpPr>
          <p:cNvPr id="64" name="Text 61"/>
          <p:cNvSpPr/>
          <p:nvPr/>
        </p:nvSpPr>
        <p:spPr>
          <a:xfrm>
            <a:off x="6108192" y="2432304"/>
            <a:ext cx="3584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⑦ 发布回灌：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每晚自动归并优化（GEPA）· 版本化发布 · 自动通知升级</a:t>
            </a:r>
            <a:endParaRPr lang="en-US" sz="750" dirty="0"/>
          </a:p>
        </p:txBody>
      </p:sp>
      <p:sp>
        <p:nvSpPr>
          <p:cNvPr id="65" name="Shape 62"/>
          <p:cNvSpPr/>
          <p:nvPr/>
        </p:nvSpPr>
        <p:spPr>
          <a:xfrm>
            <a:off x="5623560" y="2670048"/>
            <a:ext cx="40507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5715000" y="2670048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消费 · 自动挂载：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锁定版本消费 · 按当前函数自动注入团队经验</a:t>
            </a:r>
            <a:endParaRPr lang="en-US" sz="750" dirty="0"/>
          </a:p>
        </p:txBody>
      </p:sp>
      <p:sp>
        <p:nvSpPr>
          <p:cNvPr id="67" name="Shape 64"/>
          <p:cNvSpPr/>
          <p:nvPr/>
        </p:nvSpPr>
        <p:spPr>
          <a:xfrm>
            <a:off x="7644384" y="2962656"/>
            <a:ext cx="0" cy="109728"/>
          </a:xfrm>
          <a:prstGeom prst="line">
            <a:avLst/>
          </a:prstGeom>
          <a:noFill/>
          <a:ln w="15875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68" name="Shape 65"/>
          <p:cNvSpPr/>
          <p:nvPr/>
        </p:nvSpPr>
        <p:spPr>
          <a:xfrm>
            <a:off x="5623560" y="3072384"/>
            <a:ext cx="40507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5715000" y="3072384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Agent 优化流水线：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调研 → 计划评审 → 实现 → 代码评审 → 测试 → 决策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7644384" y="3364992"/>
            <a:ext cx="0" cy="109728"/>
          </a:xfrm>
          <a:prstGeom prst="line">
            <a:avLst/>
          </a:prstGeom>
          <a:noFill/>
          <a:ln w="15875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71" name="Shape 68"/>
          <p:cNvSpPr/>
          <p:nvPr/>
        </p:nvSpPr>
        <p:spPr>
          <a:xfrm>
            <a:off x="5623560" y="3474720"/>
            <a:ext cx="40507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715000" y="3474720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收口自动提炼：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+ 大模型双重提取 → 候选记录 → ④ 投稿 PR</a:t>
            </a:r>
            <a:endParaRPr lang="en-US" sz="750" dirty="0"/>
          </a:p>
        </p:txBody>
      </p:sp>
      <p:sp>
        <p:nvSpPr>
          <p:cNvPr id="73" name="Shape 70"/>
          <p:cNvSpPr/>
          <p:nvPr/>
        </p:nvSpPr>
        <p:spPr>
          <a:xfrm>
            <a:off x="9400032" y="2734056"/>
            <a:ext cx="164592" cy="16459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9400032" y="273405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50" dirty="0"/>
          </a:p>
        </p:txBody>
      </p:sp>
      <p:sp>
        <p:nvSpPr>
          <p:cNvPr id="75" name="Shape 72"/>
          <p:cNvSpPr/>
          <p:nvPr/>
        </p:nvSpPr>
        <p:spPr>
          <a:xfrm>
            <a:off x="9747504" y="3621024"/>
            <a:ext cx="0" cy="-1188720"/>
          </a:xfrm>
          <a:prstGeom prst="line">
            <a:avLst/>
          </a:prstGeom>
          <a:noFill/>
          <a:ln w="25400">
            <a:solidFill>
              <a:srgbClr val="ED7D31"/>
            </a:solidFill>
            <a:prstDash val="solid"/>
            <a:tailEnd type="triangle"/>
          </a:ln>
        </p:spPr>
      </p:sp>
      <p:sp>
        <p:nvSpPr>
          <p:cNvPr id="76" name="Text 73"/>
          <p:cNvSpPr/>
          <p:nvPr/>
        </p:nvSpPr>
        <p:spPr>
          <a:xfrm>
            <a:off x="5623560" y="3986784"/>
            <a:ext cx="4160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接口 3 个工具接入现有流水线 · 经验仓故障自动跳过、不阻塞主流程</a:t>
            </a:r>
            <a:endParaRPr lang="en-US" sz="700" dirty="0"/>
          </a:p>
        </p:txBody>
      </p:sp>
      <p:sp>
        <p:nvSpPr>
          <p:cNvPr id="77" name="Shape 74"/>
          <p:cNvSpPr/>
          <p:nvPr/>
        </p:nvSpPr>
        <p:spPr>
          <a:xfrm>
            <a:off x="9948672" y="1216152"/>
            <a:ext cx="164592" cy="16459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9948672" y="12161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50" dirty="0"/>
          </a:p>
        </p:txBody>
      </p:sp>
      <p:sp>
        <p:nvSpPr>
          <p:cNvPr id="79" name="Text 76"/>
          <p:cNvSpPr/>
          <p:nvPr/>
        </p:nvSpPr>
        <p:spPr>
          <a:xfrm>
            <a:off x="10168128" y="1207008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创新点1：双资产双引擎</a:t>
            </a:r>
            <a:endParaRPr lang="en-US" sz="850" dirty="0"/>
          </a:p>
        </p:txBody>
      </p:sp>
      <p:sp>
        <p:nvSpPr>
          <p:cNvPr id="80" name="Text 77"/>
          <p:cNvSpPr/>
          <p:nvPr/>
        </p:nvSpPr>
        <p:spPr>
          <a:xfrm>
            <a:off x="9948672" y="1399032"/>
            <a:ext cx="1810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知识只增不删：七类关系判定，矛盾留痕可追溯；技能竞争进化：评测把关、多候选保留——</a:t>
            </a:r>
            <a:pPr indent="0" marL="0">
              <a:lnSpc>
                <a:spcPct val="108000"/>
              </a:lnSpc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业界记忆方案缺失的治理层</a:t>
            </a:r>
            <a:endParaRPr lang="en-US" sz="750" dirty="0"/>
          </a:p>
        </p:txBody>
      </p:sp>
      <p:sp>
        <p:nvSpPr>
          <p:cNvPr id="81" name="Shape 78"/>
          <p:cNvSpPr/>
          <p:nvPr/>
        </p:nvSpPr>
        <p:spPr>
          <a:xfrm>
            <a:off x="9948672" y="2185416"/>
            <a:ext cx="164592" cy="16459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9948672" y="218541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0168128" y="2176272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创新点2：评测门×GEPA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9948672" y="2368296"/>
            <a:ext cx="1810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技能改动必须在固定评测集上</a:t>
            </a:r>
            <a:pPr indent="0" marL="0">
              <a:lnSpc>
                <a:spcPct val="108000"/>
              </a:lnSpc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“严格变好且零退化”</a:t>
            </a:r>
            <a:pPr indent="0" marL="0">
              <a:lnSpc>
                <a:spcPct val="1080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才能入库，根治“自增强跑偏”；引入 GEPA 自动反思改写、多候选择优</a:t>
            </a:r>
            <a:endParaRPr lang="en-US" sz="750" dirty="0"/>
          </a:p>
        </p:txBody>
      </p:sp>
      <p:sp>
        <p:nvSpPr>
          <p:cNvPr id="85" name="Shape 82"/>
          <p:cNvSpPr/>
          <p:nvPr/>
        </p:nvSpPr>
        <p:spPr>
          <a:xfrm>
            <a:off x="9948672" y="3154680"/>
            <a:ext cx="164592" cy="16459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6" name="Text 83"/>
          <p:cNvSpPr/>
          <p:nvPr/>
        </p:nvSpPr>
        <p:spPr>
          <a:xfrm>
            <a:off x="9948672" y="315468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50" dirty="0"/>
          </a:p>
        </p:txBody>
      </p:sp>
      <p:sp>
        <p:nvSpPr>
          <p:cNvPr id="87" name="Text 84"/>
          <p:cNvSpPr/>
          <p:nvPr/>
        </p:nvSpPr>
        <p:spPr>
          <a:xfrm>
            <a:off x="10168128" y="3145536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创新点3：零侵入·好上手</a:t>
            </a:r>
            <a:endParaRPr lang="en-US" sz="850" dirty="0"/>
          </a:p>
        </p:txBody>
      </p:sp>
      <p:sp>
        <p:nvSpPr>
          <p:cNvPr id="88" name="Text 85"/>
          <p:cNvSpPr/>
          <p:nvPr/>
        </p:nvSpPr>
        <p:spPr>
          <a:xfrm>
            <a:off x="9948672" y="3337560"/>
            <a:ext cx="1810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研发习惯零改动：</a:t>
            </a:r>
            <a:pPr indent="0" marL="0">
              <a:lnSpc>
                <a:spcPct val="1080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经验自动挂载、收口自动提炼；MCP 即插即用、故障自动跳过；提炼到发布全自动，人只做晋升审批</a:t>
            </a:r>
            <a:endParaRPr lang="en-US" sz="750" dirty="0"/>
          </a:p>
        </p:txBody>
      </p:sp>
      <p:sp>
        <p:nvSpPr>
          <p:cNvPr id="89" name="Text 86"/>
          <p:cNvSpPr/>
          <p:nvPr/>
        </p:nvSpPr>
        <p:spPr>
          <a:xfrm>
            <a:off x="5623560" y="4498848"/>
            <a:ext cx="613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新人 / 新 Agent 开箱即带全队经验；经验跨人跨迭代复利，吞吐与命中率随使用持续提升</a:t>
            </a:r>
            <a:endParaRPr lang="en-US" sz="1000" dirty="0"/>
          </a:p>
        </p:txBody>
      </p:sp>
      <p:sp>
        <p:nvSpPr>
          <p:cNvPr id="90" name="Text 87"/>
          <p:cNvSpPr/>
          <p:nvPr/>
        </p:nvSpPr>
        <p:spPr>
          <a:xfrm>
            <a:off x="5623560" y="4809744"/>
            <a:ext cx="301752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☐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提效易用：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研发习惯零改动、即插即用；告别重复探索与重复踩坑，专家经验不随人员流失，新人与新 Agent 冷启动预期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从周级降到天级</a:t>
            </a:r>
            <a:endParaRPr lang="en-US" sz="950" dirty="0"/>
          </a:p>
          <a:p>
            <a:pPr indent="0" marL="0">
              <a:lnSpc>
                <a:spcPct val="114000"/>
              </a:lnSpc>
              <a:spcBef>
                <a:spcPts val="400"/>
              </a:spcBef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☐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通用：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不绑定内核——底噪 / 指令数 / 功耗 / 编译器后端等任意 Agent 优化场景直接复用</a:t>
            </a:r>
            <a:endParaRPr lang="en-US" sz="950" dirty="0"/>
          </a:p>
          <a:p>
            <a:pPr indent="0" marL="0">
              <a:lnSpc>
                <a:spcPct val="114000"/>
              </a:lnSpc>
              <a:spcBef>
                <a:spcPts val="400"/>
              </a:spcBef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☐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研究价值：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自进化 Agent（self-evolving）长期记忆的工程化实践：安全积累 · 矛盾治理 · 可审计</a:t>
            </a:r>
            <a:endParaRPr lang="en-US" sz="950" dirty="0"/>
          </a:p>
        </p:txBody>
      </p:sp>
      <p:sp>
        <p:nvSpPr>
          <p:cNvPr id="91" name="Text 88"/>
          <p:cNvSpPr/>
          <p:nvPr/>
        </p:nvSpPr>
        <p:spPr>
          <a:xfrm>
            <a:off x="8759952" y="4791456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经验资产复利（示意）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 Hub 复利 · 无 Hub 随人清零</a:t>
            </a:r>
            <a:endParaRPr lang="en-US" sz="750" dirty="0"/>
          </a:p>
        </p:txBody>
      </p:sp>
      <p:graphicFrame>
        <p:nvGraphicFramePr>
          <p:cNvPr id="92" name="Chart 0" descr=""/>
          <p:cNvGraphicFramePr/>
          <p:nvPr/>
        </p:nvGraphicFramePr>
        <p:xfrm>
          <a:off x="8741664" y="5102352"/>
          <a:ext cx="1682496" cy="1188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3" name="Text 89"/>
          <p:cNvSpPr/>
          <p:nvPr/>
        </p:nvSpPr>
        <p:spPr>
          <a:xfrm>
            <a:off x="10497312" y="47914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预期收益目标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相对现状改善幅度（%）</a:t>
            </a:r>
            <a:endParaRPr lang="en-US" sz="750" dirty="0"/>
          </a:p>
        </p:txBody>
      </p:sp>
      <p:graphicFrame>
        <p:nvGraphicFramePr>
          <p:cNvPr id="94" name="Chart 1" descr=""/>
          <p:cNvGraphicFramePr/>
          <p:nvPr/>
        </p:nvGraphicFramePr>
        <p:xfrm>
          <a:off x="10479024" y="5102352"/>
          <a:ext cx="1298448" cy="1188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5" name="Text 90"/>
          <p:cNvSpPr/>
          <p:nvPr/>
        </p:nvSpPr>
        <p:spPr>
          <a:xfrm>
            <a:off x="8741664" y="6309360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65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进展：双仓全链路已打通（154 项测试 · 5 道 CI 门 · 离线基准全绿）</a:t>
            </a:r>
            <a:endParaRPr lang="en-US" sz="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5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GEPA 反思进化集成中 · 真机收益数据随试点回填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2026-07-24T21:16:31Z</dcterms:created>
  <dcterms:modified xsi:type="dcterms:W3CDTF">2026-07-24T21:16:31Z</dcterms:modified>
</cp:coreProperties>
</file>
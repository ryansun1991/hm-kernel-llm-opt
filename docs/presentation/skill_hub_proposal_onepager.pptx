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64592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E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鸿蒙内核智能优化 · AGENT 长期记忆与质量治理基础设施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292608" y="384048"/>
            <a:ext cx="8823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36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面向鸿蒙内核智能优化的团队级自进化经验中枢  </a:t>
            </a:r>
            <a:pPr indent="0" marL="0">
              <a:buNone/>
            </a:pPr>
            <a:r>
              <a:rPr lang="en-US" sz="1500" b="1" dirty="0">
                <a:solidFill>
                  <a:srgbClr val="0E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Skill Hub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92608" y="859536"/>
            <a:ext cx="882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双资产双引擎治理 × 全自动闭环 —— 让团队优化经验像「私有 npm 包」一样可积累、可验证、可审计、可复利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9189720" y="237744"/>
            <a:ext cx="2697480" cy="713232"/>
          </a:xfrm>
          <a:prstGeom prst="roundRect">
            <a:avLst>
              <a:gd name="adj" fmla="val 10256"/>
            </a:avLst>
          </a:prstGeom>
          <a:solidFill>
            <a:srgbClr val="2B368C"/>
          </a:solidFill>
          <a:ln/>
        </p:spPr>
      </p:sp>
      <p:sp>
        <p:nvSpPr>
          <p:cNvPr id="6" name="Text 4"/>
          <p:cNvSpPr/>
          <p:nvPr/>
        </p:nvSpPr>
        <p:spPr>
          <a:xfrm>
            <a:off x="9244584" y="237744"/>
            <a:ext cx="2587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从「一次性能力」到「可复利资产」</a:t>
            </a:r>
            <a:endParaRPr lang="en-US" sz="10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7CF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One-shot Capability → Compounding Assets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2608" y="1088136"/>
            <a:ext cx="274320" cy="274320"/>
          </a:xfrm>
          <a:prstGeom prst="ellipse">
            <a:avLst/>
          </a:prstGeom>
          <a:solidFill>
            <a:srgbClr val="C03A3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" y="1152144"/>
            <a:ext cx="146304" cy="14630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10332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B36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场景问题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规模化的真瓶颈：不是单次优化，而是经验复利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92608" y="1645920"/>
            <a:ext cx="2834640" cy="932688"/>
          </a:xfrm>
          <a:prstGeom prst="roundRect">
            <a:avLst>
              <a:gd name="adj" fmla="val 4902"/>
            </a:avLst>
          </a:prstGeom>
          <a:solidFill>
            <a:srgbClr val="F1F4FA"/>
          </a:solidFill>
          <a:ln w="9525">
            <a:solidFill>
              <a:srgbClr val="C9D0D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2336" y="1719072"/>
            <a:ext cx="26151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B36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经验孤岛</a:t>
            </a: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哪个招式有效、哪里有坑、热函数怎么改、哪种验证不可信 —— 只存在工程师个人本地，无法跨人、跨项目、跨时间复用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92608" y="2670048"/>
            <a:ext cx="2834640" cy="932688"/>
          </a:xfrm>
          <a:prstGeom prst="roundRect">
            <a:avLst>
              <a:gd name="adj" fmla="val 4902"/>
            </a:avLst>
          </a:prstGeom>
          <a:solidFill>
            <a:srgbClr val="F1F4FA"/>
          </a:solidFill>
          <a:ln w="9525">
            <a:solidFill>
              <a:srgbClr val="C9D0D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02336" y="2743200"/>
            <a:ext cx="26151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B36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重复踩坑 · 无法传承</a:t>
            </a: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团队反复探索同一方向、重蹈同一坑；专家经验带不走，新人与新 Agent 每次从零开始，优化边际效率不升反降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92608" y="3694176"/>
            <a:ext cx="2834640" cy="932688"/>
          </a:xfrm>
          <a:prstGeom prst="roundRect">
            <a:avLst>
              <a:gd name="adj" fmla="val 4902"/>
            </a:avLst>
          </a:prstGeom>
          <a:solidFill>
            <a:srgbClr val="FBEDED"/>
          </a:solidFill>
          <a:ln w="9525">
            <a:solidFill>
              <a:srgbClr val="E3B8B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02336" y="3767328"/>
            <a:ext cx="26151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C03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「简单共享」= 两大致命风险</a:t>
            </a: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知识漂移：经验自相矛盾、随时间失效；② 反馈自增强：均值变好、个别场景被悄悄做坏 —— 业界 mem0 / Zep 均缺团队级治理，规模越大风险越大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92608" y="4736592"/>
            <a:ext cx="2834640" cy="475488"/>
          </a:xfrm>
          <a:prstGeom prst="roundRect">
            <a:avLst>
              <a:gd name="adj" fmla="val 9615"/>
            </a:avLst>
          </a:prstGeom>
          <a:solidFill>
            <a:srgbClr val="E9EDF9"/>
          </a:solidFill>
          <a:ln w="12700">
            <a:solidFill>
              <a:srgbClr val="2B368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2336" y="473659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b="1" dirty="0">
                <a:solidFill>
                  <a:srgbClr val="2B36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需要的不是又一个「记忆库」，而是带质量治理、可自进化的团队级经验基础设施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273552" y="1088136"/>
            <a:ext cx="274320" cy="274320"/>
          </a:xfrm>
          <a:prstGeom prst="ellipse">
            <a:avLst/>
          </a:prstGeom>
          <a:solidFill>
            <a:srgbClr val="0E9488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152144"/>
            <a:ext cx="146304" cy="14630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639312" y="1060704"/>
            <a:ext cx="8259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6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  </a:t>
            </a:r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版本化经验中枢 × 双资产双引擎 × 「消费 → 蒸馏 → 门控 → 发布 → 再消费」全自动闭环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3273552" y="1426464"/>
            <a:ext cx="8625535" cy="1042416"/>
          </a:xfrm>
          <a:prstGeom prst="roundRect">
            <a:avLst>
              <a:gd name="adj" fmla="val 5263"/>
            </a:avLst>
          </a:prstGeom>
          <a:solidFill>
            <a:srgbClr val="E9EDF9"/>
          </a:solidFill>
          <a:ln w="15875">
            <a:solidFill>
              <a:srgbClr val="2B368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01568" y="1463040"/>
            <a:ext cx="83695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36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hm-skill-hub · 团队中央经验仓 —— semver 发布 + lockfile 钉版 · 像「私有 npm」一样消费 · 可回滚 · 全程可审计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3401568" y="1737360"/>
            <a:ext cx="4160520" cy="658368"/>
          </a:xfrm>
          <a:prstGeom prst="roundRect">
            <a:avLst>
              <a:gd name="adj" fmla="val 5556"/>
            </a:avLst>
          </a:prstGeom>
          <a:solidFill>
            <a:srgbClr val="E1F2F0"/>
          </a:solidFill>
          <a:ln w="12700">
            <a:solidFill>
              <a:srgbClr val="0B7A7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493008" y="1773936"/>
            <a:ext cx="3977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0B7A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 知识资产（事实 · 教训 · 坏招）  </a:t>
            </a:r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C77E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 A · 治理型合并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只追加 + 七路关系分类（重复 / 矛盾 / 过时 / 条件 / 泛化 / 漂移 / 口径）· 双时态墓碑，永不物删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7653528" y="1737360"/>
            <a:ext cx="4114800" cy="658368"/>
          </a:xfrm>
          <a:prstGeom prst="roundRect">
            <a:avLst>
              <a:gd name="adj" fmla="val 5556"/>
            </a:avLst>
          </a:prstGeom>
          <a:solidFill>
            <a:srgbClr val="EAE8F8"/>
          </a:solidFill>
          <a:ln w="12700">
            <a:solidFill>
              <a:srgbClr val="4A44A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744968" y="1773936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4A44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Skills 技能资产（做法 · 流程）  </a:t>
            </a:r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C77E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 B · 竞争式进化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SkillOpt 有界编辑：留出 eval「严格变好且零回归」才接受 + Pareto 前沿防多人编辑塌缩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3703320" y="2468880"/>
            <a:ext cx="0" cy="493776"/>
          </a:xfrm>
          <a:prstGeom prst="line">
            <a:avLst/>
          </a:prstGeom>
          <a:noFill/>
          <a:ln w="28575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11475720" y="2962656"/>
            <a:ext cx="0" cy="-493776"/>
          </a:xfrm>
          <a:prstGeom prst="line">
            <a:avLst/>
          </a:prstGeom>
          <a:noFill/>
          <a:ln w="28575">
            <a:solidFill>
              <a:srgbClr val="C77E14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3877056" y="2606040"/>
            <a:ext cx="201168" cy="201168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30" name="Text 26"/>
          <p:cNvSpPr/>
          <p:nvPr/>
        </p:nvSpPr>
        <p:spPr>
          <a:xfrm>
            <a:off x="3877056" y="26060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4151376" y="2505456"/>
            <a:ext cx="5257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B7A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发布回灌：nightly 七步作业 → semver + scorecard → broadcast 自动钉版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9454896" y="256032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77E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过三道质量门 → 入库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3273552" y="2962656"/>
            <a:ext cx="269748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2B368C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3364992" y="3044952"/>
            <a:ext cx="219456" cy="219456"/>
          </a:xfrm>
          <a:prstGeom prst="ellipse">
            <a:avLst/>
          </a:prstGeom>
          <a:solidFill>
            <a:srgbClr val="2B368C"/>
          </a:solidFill>
          <a:ln/>
        </p:spPr>
      </p:sp>
      <p:sp>
        <p:nvSpPr>
          <p:cNvPr id="35" name="Text 31"/>
          <p:cNvSpPr/>
          <p:nvPr/>
        </p:nvSpPr>
        <p:spPr>
          <a:xfrm>
            <a:off x="3364992" y="30449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3657600" y="3035808"/>
            <a:ext cx="2221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6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 · 自动挂载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3383280" y="3291840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流水线 research→…→test 按阶段注入 Hub 上下文；MCP 接入 · 6 个接入点 · 断连静默降级不阻塞</a:t>
            </a:r>
            <a:endParaRPr lang="en-US" sz="800" dirty="0"/>
          </a:p>
        </p:txBody>
      </p:sp>
      <p:sp>
        <p:nvSpPr>
          <p:cNvPr id="38" name="Shape 34"/>
          <p:cNvSpPr/>
          <p:nvPr/>
        </p:nvSpPr>
        <p:spPr>
          <a:xfrm>
            <a:off x="5971032" y="3383280"/>
            <a:ext cx="265176" cy="0"/>
          </a:xfrm>
          <a:prstGeom prst="line">
            <a:avLst/>
          </a:prstGeom>
          <a:noFill/>
          <a:ln w="25400">
            <a:solidFill>
              <a:srgbClr val="2B368C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6236208" y="2962656"/>
            <a:ext cx="269748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2B368C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327648" y="3044952"/>
            <a:ext cx="219456" cy="219456"/>
          </a:xfrm>
          <a:prstGeom prst="ellipse">
            <a:avLst/>
          </a:prstGeom>
          <a:solidFill>
            <a:srgbClr val="2B368C"/>
          </a:solidFill>
          <a:ln/>
        </p:spPr>
      </p:sp>
      <p:sp>
        <p:nvSpPr>
          <p:cNvPr id="41" name="Text 37"/>
          <p:cNvSpPr/>
          <p:nvPr/>
        </p:nvSpPr>
        <p:spPr>
          <a:xfrm>
            <a:off x="6327648" y="30449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8"/>
          <p:cNvSpPr/>
          <p:nvPr/>
        </p:nvSpPr>
        <p:spPr>
          <a:xfrm>
            <a:off x="6620256" y="3035808"/>
            <a:ext cx="2221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6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收口 · 自动蒸馏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6345936" y="3291840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 收口双段抽取（确定性规则 + LLM 显著性）→ schema 合规 Tier-1 候选，自动附出处与证据</a:t>
            </a:r>
            <a:endParaRPr lang="en-US" sz="800" dirty="0"/>
          </a:p>
        </p:txBody>
      </p:sp>
      <p:sp>
        <p:nvSpPr>
          <p:cNvPr id="44" name="Shape 40"/>
          <p:cNvSpPr/>
          <p:nvPr/>
        </p:nvSpPr>
        <p:spPr>
          <a:xfrm>
            <a:off x="8933688" y="3383280"/>
            <a:ext cx="265176" cy="0"/>
          </a:xfrm>
          <a:prstGeom prst="line">
            <a:avLst/>
          </a:prstGeom>
          <a:noFill/>
          <a:ln w="25400">
            <a:solidFill>
              <a:srgbClr val="2B368C"/>
            </a:solidFill>
            <a:prstDash val="solid"/>
            <a:tailEnd type="triangle"/>
          </a:ln>
        </p:spPr>
      </p:sp>
      <p:sp>
        <p:nvSpPr>
          <p:cNvPr id="45" name="Shape 41"/>
          <p:cNvSpPr/>
          <p:nvPr/>
        </p:nvSpPr>
        <p:spPr>
          <a:xfrm>
            <a:off x="9198864" y="2962656"/>
            <a:ext cx="269748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2B368C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290304" y="3044952"/>
            <a:ext cx="219456" cy="219456"/>
          </a:xfrm>
          <a:prstGeom prst="ellipse">
            <a:avLst/>
          </a:prstGeom>
          <a:solidFill>
            <a:srgbClr val="2B368C"/>
          </a:solidFill>
          <a:ln/>
        </p:spPr>
      </p:sp>
      <p:sp>
        <p:nvSpPr>
          <p:cNvPr id="47" name="Text 43"/>
          <p:cNvSpPr/>
          <p:nvPr/>
        </p:nvSpPr>
        <p:spPr>
          <a:xfrm>
            <a:off x="9290304" y="30449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8" name="Text 44"/>
          <p:cNvSpPr/>
          <p:nvPr/>
        </p:nvSpPr>
        <p:spPr>
          <a:xfrm>
            <a:off x="9582912" y="3035808"/>
            <a:ext cx="2221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6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门控 · 策展入库</a:t>
            </a:r>
            <a:endParaRPr lang="en-US" sz="1000" dirty="0"/>
          </a:p>
        </p:txBody>
      </p:sp>
      <p:sp>
        <p:nvSpPr>
          <p:cNvPr id="49" name="Text 45"/>
          <p:cNvSpPr/>
          <p:nvPr/>
        </p:nvSpPr>
        <p:spPr>
          <a:xfrm>
            <a:off x="9308592" y="3291840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五道门（lint · 脱敏 · 去重 · eval-gate）+ 双人评审；≥2 独立实例自动检测毕业为 technique 技能</a:t>
            </a:r>
            <a:endParaRPr lang="en-US" sz="800" dirty="0"/>
          </a:p>
        </p:txBody>
      </p:sp>
      <p:sp>
        <p:nvSpPr>
          <p:cNvPr id="50" name="Shape 46"/>
          <p:cNvSpPr/>
          <p:nvPr/>
        </p:nvSpPr>
        <p:spPr>
          <a:xfrm>
            <a:off x="3273552" y="3922776"/>
            <a:ext cx="219456" cy="219456"/>
          </a:xfrm>
          <a:prstGeom prst="ellipse">
            <a:avLst/>
          </a:prstGeom>
          <a:solidFill>
            <a:srgbClr val="C77E14"/>
          </a:solidFill>
          <a:ln/>
        </p:spPr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844" y="3973068"/>
            <a:ext cx="118872" cy="118872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3584448" y="3895344"/>
            <a:ext cx="831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6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核心创新与差异化</a:t>
            </a:r>
            <a:endParaRPr lang="en-US" sz="1250" dirty="0"/>
          </a:p>
        </p:txBody>
      </p:sp>
      <p:sp>
        <p:nvSpPr>
          <p:cNvPr id="53" name="Shape 48"/>
          <p:cNvSpPr/>
          <p:nvPr/>
        </p:nvSpPr>
        <p:spPr>
          <a:xfrm>
            <a:off x="3273552" y="4206240"/>
            <a:ext cx="2060372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D0DE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3364992" y="4270248"/>
            <a:ext cx="18774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0E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双资产 · 双引擎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5B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知识与技能严格分治、各配治理引擎，根除「漂移」与「坏经验覆盖」—— mem0 / Zep 缺失的团队治理层</a:t>
            </a:r>
            <a:endParaRPr lang="en-US" sz="1100" dirty="0"/>
          </a:p>
        </p:txBody>
      </p:sp>
      <p:sp>
        <p:nvSpPr>
          <p:cNvPr id="55" name="Shape 50"/>
          <p:cNvSpPr/>
          <p:nvPr/>
        </p:nvSpPr>
        <p:spPr>
          <a:xfrm>
            <a:off x="5461940" y="4206240"/>
            <a:ext cx="2060372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D0DE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5553380" y="4270248"/>
            <a:ext cx="18774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0E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七路分类 × 双时态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5B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矛盾消解永不物删：superseded 墓碑 + 有效期，全程可审计；分类基准 48 例准确率 100%、误删 0</a:t>
            </a:r>
            <a:endParaRPr lang="en-US" sz="1100" dirty="0"/>
          </a:p>
        </p:txBody>
      </p:sp>
      <p:sp>
        <p:nvSpPr>
          <p:cNvPr id="57" name="Shape 52"/>
          <p:cNvSpPr/>
          <p:nvPr/>
        </p:nvSpPr>
        <p:spPr>
          <a:xfrm>
            <a:off x="7650328" y="4206240"/>
            <a:ext cx="2060372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D0DE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7741768" y="4270248"/>
            <a:ext cx="18774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0E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eval-gate 反喂安全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5B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 = 可训练外部参数：改动须「严格变好且零回归」才入库；Pareto 留互补候选，根治自增强跑偏</a:t>
            </a:r>
            <a:endParaRPr lang="en-US" sz="1100" dirty="0"/>
          </a:p>
        </p:txBody>
      </p:sp>
      <p:sp>
        <p:nvSpPr>
          <p:cNvPr id="59" name="Shape 54"/>
          <p:cNvSpPr/>
          <p:nvPr/>
        </p:nvSpPr>
        <p:spPr>
          <a:xfrm>
            <a:off x="9838715" y="4206240"/>
            <a:ext cx="2060372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D0DE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9930155" y="4270248"/>
            <a:ext cx="18774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0E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全自动闭环工程化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5B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收口蒸馏 → CI 门 → nightly 七步 → semver 发布 → 钉版回灌全自动；人只握晋升审批权</a:t>
            </a:r>
            <a:endParaRPr lang="en-US" sz="1100" dirty="0"/>
          </a:p>
        </p:txBody>
      </p:sp>
      <p:sp>
        <p:nvSpPr>
          <p:cNvPr id="61" name="Shape 56"/>
          <p:cNvSpPr/>
          <p:nvPr/>
        </p:nvSpPr>
        <p:spPr>
          <a:xfrm>
            <a:off x="292608" y="5294376"/>
            <a:ext cx="219456" cy="219456"/>
          </a:xfrm>
          <a:prstGeom prst="ellipse">
            <a:avLst/>
          </a:prstGeom>
          <a:solidFill>
            <a:srgbClr val="2B368C"/>
          </a:solidFill>
          <a:ln/>
        </p:spPr>
      </p:sp>
      <p:pic>
        <p:nvPicPr>
          <p:cNvPr id="6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5344668"/>
            <a:ext cx="118872" cy="118872"/>
          </a:xfrm>
          <a:prstGeom prst="rect">
            <a:avLst/>
          </a:prstGeom>
        </p:spPr>
      </p:pic>
      <p:sp>
        <p:nvSpPr>
          <p:cNvPr id="63" name="Text 57"/>
          <p:cNvSpPr/>
          <p:nvPr/>
        </p:nvSpPr>
        <p:spPr>
          <a:xfrm>
            <a:off x="603504" y="526694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6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预期效果   </a:t>
            </a:r>
            <a:pPr indent="0" marL="0">
              <a:buNone/>
            </a:pPr>
            <a:r>
              <a:rPr lang="en-US" sz="900" dirty="0">
                <a:solidFill>
                  <a:srgbClr val="5B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经验从「个人消耗品」变成「团队复利资产」</a:t>
            </a:r>
            <a:endParaRPr lang="en-US" sz="1250" dirty="0"/>
          </a:p>
        </p:txBody>
      </p:sp>
      <p:sp>
        <p:nvSpPr>
          <p:cNvPr id="64" name="Shape 58"/>
          <p:cNvSpPr/>
          <p:nvPr/>
        </p:nvSpPr>
        <p:spPr>
          <a:xfrm>
            <a:off x="292608" y="5577840"/>
            <a:ext cx="2805608" cy="694944"/>
          </a:xfrm>
          <a:prstGeom prst="roundRect">
            <a:avLst>
              <a:gd name="adj" fmla="val 6579"/>
            </a:avLst>
          </a:prstGeom>
          <a:solidFill>
            <a:srgbClr val="F1F4FA"/>
          </a:solidFill>
          <a:ln w="9525">
            <a:solidFill>
              <a:srgbClr val="C9D0DE"/>
            </a:solidFill>
            <a:prstDash val="solid"/>
          </a:ln>
        </p:spPr>
      </p:sp>
      <p:sp>
        <p:nvSpPr>
          <p:cNvPr id="65" name="Text 59"/>
          <p:cNvSpPr/>
          <p:nvPr/>
        </p:nvSpPr>
        <p:spPr>
          <a:xfrm>
            <a:off x="402336" y="5632704"/>
            <a:ext cx="2586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7A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开箱即会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新人 / 新 Agent 首次部署即携带全队经验，重复探索与重复踩坑显著减少</a:t>
            </a:r>
            <a:endParaRPr lang="en-US" sz="1100" dirty="0"/>
          </a:p>
        </p:txBody>
      </p:sp>
      <p:sp>
        <p:nvSpPr>
          <p:cNvPr id="66" name="Shape 60"/>
          <p:cNvSpPr/>
          <p:nvPr/>
        </p:nvSpPr>
        <p:spPr>
          <a:xfrm>
            <a:off x="3226232" y="5577840"/>
            <a:ext cx="2805608" cy="694944"/>
          </a:xfrm>
          <a:prstGeom prst="roundRect">
            <a:avLst>
              <a:gd name="adj" fmla="val 6579"/>
            </a:avLst>
          </a:prstGeom>
          <a:solidFill>
            <a:srgbClr val="F1F4FA"/>
          </a:solidFill>
          <a:ln w="9525">
            <a:solidFill>
              <a:srgbClr val="C9D0DE"/>
            </a:solidFill>
            <a:prstDash val="solid"/>
          </a:ln>
        </p:spPr>
      </p:sp>
      <p:sp>
        <p:nvSpPr>
          <p:cNvPr id="67" name="Text 61"/>
          <p:cNvSpPr/>
          <p:nvPr/>
        </p:nvSpPr>
        <p:spPr>
          <a:xfrm>
            <a:off x="3335960" y="5632704"/>
            <a:ext cx="2586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7A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专家经验资产化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高手经验沉淀为质量门保护的团队资产，不再随人员流动而流失</a:t>
            </a:r>
            <a:endParaRPr lang="en-US" sz="1100" dirty="0"/>
          </a:p>
        </p:txBody>
      </p:sp>
      <p:sp>
        <p:nvSpPr>
          <p:cNvPr id="68" name="Shape 62"/>
          <p:cNvSpPr/>
          <p:nvPr/>
        </p:nvSpPr>
        <p:spPr>
          <a:xfrm>
            <a:off x="6159856" y="5577840"/>
            <a:ext cx="2805608" cy="694944"/>
          </a:xfrm>
          <a:prstGeom prst="roundRect">
            <a:avLst>
              <a:gd name="adj" fmla="val 6579"/>
            </a:avLst>
          </a:prstGeom>
          <a:solidFill>
            <a:srgbClr val="F1F4FA"/>
          </a:solidFill>
          <a:ln w="9525">
            <a:solidFill>
              <a:srgbClr val="C9D0DE"/>
            </a:solidFill>
            <a:prstDash val="solid"/>
          </a:ln>
        </p:spPr>
      </p:sp>
      <p:sp>
        <p:nvSpPr>
          <p:cNvPr id="69" name="Text 63"/>
          <p:cNvSpPr/>
          <p:nvPr/>
        </p:nvSpPr>
        <p:spPr>
          <a:xfrm>
            <a:off x="6269584" y="5632704"/>
            <a:ext cx="2586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7A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复利式提升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经验跨成员、跨迭代持续累积，优化吞吐与命中率随使用不断上升</a:t>
            </a:r>
            <a:endParaRPr lang="en-US" sz="1100" dirty="0"/>
          </a:p>
        </p:txBody>
      </p:sp>
      <p:sp>
        <p:nvSpPr>
          <p:cNvPr id="70" name="Shape 64"/>
          <p:cNvSpPr/>
          <p:nvPr/>
        </p:nvSpPr>
        <p:spPr>
          <a:xfrm>
            <a:off x="9093479" y="5577840"/>
            <a:ext cx="2805608" cy="694944"/>
          </a:xfrm>
          <a:prstGeom prst="roundRect">
            <a:avLst>
              <a:gd name="adj" fmla="val 6579"/>
            </a:avLst>
          </a:prstGeom>
          <a:solidFill>
            <a:srgbClr val="F1F4FA"/>
          </a:solidFill>
          <a:ln w="9525">
            <a:solidFill>
              <a:srgbClr val="C9D0DE"/>
            </a:solidFill>
            <a:prstDash val="solid"/>
          </a:ln>
        </p:spPr>
      </p:sp>
      <p:sp>
        <p:nvSpPr>
          <p:cNvPr id="71" name="Text 65"/>
          <p:cNvSpPr/>
          <p:nvPr/>
        </p:nvSpPr>
        <p:spPr>
          <a:xfrm>
            <a:off x="9203207" y="5632704"/>
            <a:ext cx="2586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7A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通用自进化底座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内存底噪 / 指令数 / 功耗 / 编译器后端等任意 Agent 优化场景即插即用</a:t>
            </a:r>
            <a:endParaRPr lang="en-US" sz="1100" dirty="0"/>
          </a:p>
        </p:txBody>
      </p:sp>
      <p:sp>
        <p:nvSpPr>
          <p:cNvPr id="72" name="Shape 66"/>
          <p:cNvSpPr/>
          <p:nvPr/>
        </p:nvSpPr>
        <p:spPr>
          <a:xfrm>
            <a:off x="292608" y="6382512"/>
            <a:ext cx="11606479" cy="310896"/>
          </a:xfrm>
          <a:prstGeom prst="roundRect">
            <a:avLst>
              <a:gd name="adj" fmla="val 14706"/>
            </a:avLst>
          </a:prstGeom>
          <a:solidFill>
            <a:srgbClr val="2B368C"/>
          </a:solidFill>
          <a:ln/>
        </p:spPr>
      </p:sp>
      <p:sp>
        <p:nvSpPr>
          <p:cNvPr id="73" name="Shape 67"/>
          <p:cNvSpPr/>
          <p:nvPr/>
        </p:nvSpPr>
        <p:spPr>
          <a:xfrm>
            <a:off x="365760" y="6432804"/>
            <a:ext cx="841248" cy="228600"/>
          </a:xfrm>
          <a:prstGeom prst="roundRect">
            <a:avLst>
              <a:gd name="adj" fmla="val 20000"/>
            </a:avLst>
          </a:prstGeom>
          <a:solidFill>
            <a:srgbClr val="0E9488"/>
          </a:solidFill>
          <a:ln/>
        </p:spPr>
      </p:sp>
      <p:sp>
        <p:nvSpPr>
          <p:cNvPr id="74" name="Text 68"/>
          <p:cNvSpPr/>
          <p:nvPr/>
        </p:nvSpPr>
        <p:spPr>
          <a:xfrm>
            <a:off x="365760" y="6432804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落地验证</a:t>
            </a:r>
            <a:endParaRPr lang="en-US" sz="850" dirty="0"/>
          </a:p>
        </p:txBody>
      </p:sp>
      <p:sp>
        <p:nvSpPr>
          <p:cNvPr id="75" name="Text 69"/>
          <p:cNvSpPr/>
          <p:nvPr/>
        </p:nvSpPr>
        <p:spPr>
          <a:xfrm>
            <a:off x="1316736" y="6382512"/>
            <a:ext cx="104726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全链路已实现、离线可复现：154 项测试 · 7 份 Schema · 5 道 CI 门 · 3 个 MCP 工具 · 6 个接入点 · 16 项机制词表 · 检索 recall@5=1.0（26 查询）· 七路分类 48/48 · 优化门 0.67→1.00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64592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E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HARMONY KERNEL INTELLIGENT OPTIMIZATION · LONG-TERM MEMORY &amp; QUALITY GOVERNANCE FOR AGENTS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292608" y="384048"/>
            <a:ext cx="8823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3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Team-Level Self-Evolving Experience Hub  </a:t>
            </a:r>
            <a:pPr indent="0" marL="0">
              <a:buNone/>
            </a:pPr>
            <a:r>
              <a:rPr lang="en-US" sz="1400" b="1" dirty="0">
                <a:solidFill>
                  <a:srgbClr val="0E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Skill Hub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92608" y="859536"/>
            <a:ext cx="8823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engines × fully automated loop — team experience as a private npm package: accumulable · verifiable · auditable · compounding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9189720" y="237744"/>
            <a:ext cx="2697480" cy="713232"/>
          </a:xfrm>
          <a:prstGeom prst="roundRect">
            <a:avLst>
              <a:gd name="adj" fmla="val 10256"/>
            </a:avLst>
          </a:prstGeom>
          <a:solidFill>
            <a:srgbClr val="2B368C"/>
          </a:solidFill>
          <a:ln/>
        </p:spPr>
      </p:sp>
      <p:sp>
        <p:nvSpPr>
          <p:cNvPr id="6" name="Text 4"/>
          <p:cNvSpPr/>
          <p:nvPr/>
        </p:nvSpPr>
        <p:spPr>
          <a:xfrm>
            <a:off x="9244584" y="237744"/>
            <a:ext cx="2587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One-Shot Capability → Compounding Assets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7CF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memory infra for optimization agents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92608" y="1088136"/>
            <a:ext cx="274320" cy="274320"/>
          </a:xfrm>
          <a:prstGeom prst="ellipse">
            <a:avLst/>
          </a:prstGeom>
          <a:solidFill>
            <a:srgbClr val="C03A3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" y="1152144"/>
            <a:ext cx="146304" cy="14630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10332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B3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&amp; Pain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scale the bottleneck is compounding experience, not one-shot wins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92608" y="1645920"/>
            <a:ext cx="2834640" cy="932688"/>
          </a:xfrm>
          <a:prstGeom prst="roundRect">
            <a:avLst>
              <a:gd name="adj" fmla="val 4902"/>
            </a:avLst>
          </a:prstGeom>
          <a:solidFill>
            <a:srgbClr val="F1F4FA"/>
          </a:solidFill>
          <a:ln w="9525">
            <a:solidFill>
              <a:srgbClr val="C9D0D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2336" y="1719072"/>
            <a:ext cx="26151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B3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silos</a:t>
            </a: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moves, known pits, hot-function fixes, unreliable validations — all trapped in one engineer's workspace; never reused across people, projects, or time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92608" y="2670048"/>
            <a:ext cx="2834640" cy="932688"/>
          </a:xfrm>
          <a:prstGeom prst="roundRect">
            <a:avLst>
              <a:gd name="adj" fmla="val 4902"/>
            </a:avLst>
          </a:prstGeom>
          <a:solidFill>
            <a:srgbClr val="F1F4FA"/>
          </a:solidFill>
          <a:ln w="9525">
            <a:solidFill>
              <a:srgbClr val="C9D0D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02336" y="2743200"/>
            <a:ext cx="26151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B3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pitfalls, no inheritance</a:t>
            </a: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re-explore the same directions and re-step into the same traps; every new member or agent restarts from zero — marginal efficiency declines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92608" y="3694176"/>
            <a:ext cx="2834640" cy="932688"/>
          </a:xfrm>
          <a:prstGeom prst="roundRect">
            <a:avLst>
              <a:gd name="adj" fmla="val 4902"/>
            </a:avLst>
          </a:prstGeom>
          <a:solidFill>
            <a:srgbClr val="FBEDED"/>
          </a:solidFill>
          <a:ln w="9525">
            <a:solidFill>
              <a:srgbClr val="E3B8B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02336" y="3767328"/>
            <a:ext cx="26151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C0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sharing = two fatal risks</a:t>
            </a:r>
            <a:endParaRPr lang="en-US" sz="1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Knowledge drift — entries contradict and decay; ② self-reinforcing feedback — averages improve, edge cases silently regress; mem0 / Zep lack team-level governance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92608" y="4736592"/>
            <a:ext cx="2834640" cy="475488"/>
          </a:xfrm>
          <a:prstGeom prst="roundRect">
            <a:avLst>
              <a:gd name="adj" fmla="val 9615"/>
            </a:avLst>
          </a:prstGeom>
          <a:solidFill>
            <a:srgbClr val="E9EDF9"/>
          </a:solidFill>
          <a:ln w="12700">
            <a:solidFill>
              <a:srgbClr val="2B368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2336" y="473659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b="1" dirty="0">
                <a:solidFill>
                  <a:srgbClr val="2B3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Needed: not another memory store — a governed, self-evolving team experience infrastructure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273552" y="1088136"/>
            <a:ext cx="274320" cy="274320"/>
          </a:xfrm>
          <a:prstGeom prst="ellipse">
            <a:avLst/>
          </a:prstGeom>
          <a:solidFill>
            <a:srgbClr val="0E9488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152144"/>
            <a:ext cx="146304" cy="14630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639312" y="1060704"/>
            <a:ext cx="8259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3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  </a:t>
            </a:r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Versioned hub × dual engines × fully automated “consume → distill → gate → release → re-consume” loop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3273552" y="1426464"/>
            <a:ext cx="8625535" cy="1042416"/>
          </a:xfrm>
          <a:prstGeom prst="roundRect">
            <a:avLst>
              <a:gd name="adj" fmla="val 5263"/>
            </a:avLst>
          </a:prstGeom>
          <a:solidFill>
            <a:srgbClr val="E9EDF9"/>
          </a:solidFill>
          <a:ln w="15875">
            <a:solidFill>
              <a:srgbClr val="2B368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01568" y="1463040"/>
            <a:ext cx="83695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3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hm-skill-hub · central team hub — semver releases + lockfile pinning · a “private npm” for experience · rollbackable · auditable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3401568" y="1737360"/>
            <a:ext cx="4160520" cy="658368"/>
          </a:xfrm>
          <a:prstGeom prst="roundRect">
            <a:avLst>
              <a:gd name="adj" fmla="val 5556"/>
            </a:avLst>
          </a:prstGeom>
          <a:solidFill>
            <a:srgbClr val="E1F2F0"/>
          </a:solidFill>
          <a:ln w="12700">
            <a:solidFill>
              <a:srgbClr val="0B7A7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493008" y="1773936"/>
            <a:ext cx="3977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0B7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(facts · lessons · bad plans)  </a:t>
            </a:r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C77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A · governed merge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+ 7-way relation classes (dup / contradiction / temporal / conditional / subsumption / drift / basis) · bitemporal tombstones, never delete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7653528" y="1737360"/>
            <a:ext cx="4114800" cy="658368"/>
          </a:xfrm>
          <a:prstGeom prst="roundRect">
            <a:avLst>
              <a:gd name="adj" fmla="val 5556"/>
            </a:avLst>
          </a:prstGeom>
          <a:solidFill>
            <a:srgbClr val="EAE8F8"/>
          </a:solidFill>
          <a:ln w="12700">
            <a:solidFill>
              <a:srgbClr val="4A44A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744968" y="1773936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4A4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(procedures · playbooks)  </a:t>
            </a:r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C77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B · competitive evolution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SkillOpt bounded edits — accepted only if strictly better with zero regression on held-out evals; Pareto frontier keeps complementary candidates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3703320" y="2468880"/>
            <a:ext cx="0" cy="493776"/>
          </a:xfrm>
          <a:prstGeom prst="line">
            <a:avLst/>
          </a:prstGeom>
          <a:noFill/>
          <a:ln w="28575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11475720" y="2962656"/>
            <a:ext cx="0" cy="-493776"/>
          </a:xfrm>
          <a:prstGeom prst="line">
            <a:avLst/>
          </a:prstGeom>
          <a:noFill/>
          <a:ln w="28575">
            <a:solidFill>
              <a:srgbClr val="C77E14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3877056" y="2606040"/>
            <a:ext cx="201168" cy="201168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30" name="Text 26"/>
          <p:cNvSpPr/>
          <p:nvPr/>
        </p:nvSpPr>
        <p:spPr>
          <a:xfrm>
            <a:off x="3877056" y="26060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4151376" y="2505456"/>
            <a:ext cx="5257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B7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&amp; feed back: nightly 7-step job → semver + scorecard → broadcast re-pins — next run carries the whole team's experience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9454896" y="256032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77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quality gates → land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3273552" y="2962656"/>
            <a:ext cx="269748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2B368C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3364992" y="3044952"/>
            <a:ext cx="219456" cy="219456"/>
          </a:xfrm>
          <a:prstGeom prst="ellipse">
            <a:avLst/>
          </a:prstGeom>
          <a:solidFill>
            <a:srgbClr val="2B368C"/>
          </a:solidFill>
          <a:ln/>
        </p:spPr>
      </p:sp>
      <p:sp>
        <p:nvSpPr>
          <p:cNvPr id="35" name="Text 31"/>
          <p:cNvSpPr/>
          <p:nvPr/>
        </p:nvSpPr>
        <p:spPr>
          <a:xfrm>
            <a:off x="3364992" y="30449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3657600" y="3035808"/>
            <a:ext cx="2221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 · auto-mount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3383280" y="3291840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Staged pipeline (research→…→test) gets per-stage “Hub context” injection; MCP-integrated · 6 touchpoints · fail-silent degradation</a:t>
            </a:r>
            <a:endParaRPr lang="en-US" sz="800" dirty="0"/>
          </a:p>
        </p:txBody>
      </p:sp>
      <p:sp>
        <p:nvSpPr>
          <p:cNvPr id="38" name="Shape 34"/>
          <p:cNvSpPr/>
          <p:nvPr/>
        </p:nvSpPr>
        <p:spPr>
          <a:xfrm>
            <a:off x="5971032" y="3383280"/>
            <a:ext cx="265176" cy="0"/>
          </a:xfrm>
          <a:prstGeom prst="line">
            <a:avLst/>
          </a:prstGeom>
          <a:noFill/>
          <a:ln w="25400">
            <a:solidFill>
              <a:srgbClr val="2B368C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6236208" y="2962656"/>
            <a:ext cx="269748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2B368C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327648" y="3044952"/>
            <a:ext cx="219456" cy="219456"/>
          </a:xfrm>
          <a:prstGeom prst="ellipse">
            <a:avLst/>
          </a:prstGeom>
          <a:solidFill>
            <a:srgbClr val="2B368C"/>
          </a:solidFill>
          <a:ln/>
        </p:spPr>
      </p:sp>
      <p:sp>
        <p:nvSpPr>
          <p:cNvPr id="41" name="Text 37"/>
          <p:cNvSpPr/>
          <p:nvPr/>
        </p:nvSpPr>
        <p:spPr>
          <a:xfrm>
            <a:off x="6327648" y="30449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8"/>
          <p:cNvSpPr/>
          <p:nvPr/>
        </p:nvSpPr>
        <p:spPr>
          <a:xfrm>
            <a:off x="6620256" y="3035808"/>
            <a:ext cx="2221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 at close-out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6345936" y="3291840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Two-stage extraction (deterministic rules + LLM salience) → schema-valid Tier-1 candidates with provenance &amp; evidence</a:t>
            </a:r>
            <a:endParaRPr lang="en-US" sz="800" dirty="0"/>
          </a:p>
        </p:txBody>
      </p:sp>
      <p:sp>
        <p:nvSpPr>
          <p:cNvPr id="44" name="Shape 40"/>
          <p:cNvSpPr/>
          <p:nvPr/>
        </p:nvSpPr>
        <p:spPr>
          <a:xfrm>
            <a:off x="8933688" y="3383280"/>
            <a:ext cx="265176" cy="0"/>
          </a:xfrm>
          <a:prstGeom prst="line">
            <a:avLst/>
          </a:prstGeom>
          <a:noFill/>
          <a:ln w="25400">
            <a:solidFill>
              <a:srgbClr val="2B368C"/>
            </a:solidFill>
            <a:prstDash val="solid"/>
            <a:tailEnd type="triangle"/>
          </a:ln>
        </p:spPr>
      </p:sp>
      <p:sp>
        <p:nvSpPr>
          <p:cNvPr id="45" name="Shape 41"/>
          <p:cNvSpPr/>
          <p:nvPr/>
        </p:nvSpPr>
        <p:spPr>
          <a:xfrm>
            <a:off x="9198864" y="2962656"/>
            <a:ext cx="269748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2B368C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290304" y="3044952"/>
            <a:ext cx="219456" cy="219456"/>
          </a:xfrm>
          <a:prstGeom prst="ellipse">
            <a:avLst/>
          </a:prstGeom>
          <a:solidFill>
            <a:srgbClr val="2B368C"/>
          </a:solidFill>
          <a:ln/>
        </p:spPr>
      </p:sp>
      <p:sp>
        <p:nvSpPr>
          <p:cNvPr id="47" name="Text 43"/>
          <p:cNvSpPr/>
          <p:nvPr/>
        </p:nvSpPr>
        <p:spPr>
          <a:xfrm>
            <a:off x="9290304" y="30449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8" name="Text 44"/>
          <p:cNvSpPr/>
          <p:nvPr/>
        </p:nvSpPr>
        <p:spPr>
          <a:xfrm>
            <a:off x="9582912" y="3035808"/>
            <a:ext cx="2221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3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· curate</a:t>
            </a:r>
            <a:endParaRPr lang="en-US" sz="1000" dirty="0"/>
          </a:p>
        </p:txBody>
      </p:sp>
      <p:sp>
        <p:nvSpPr>
          <p:cNvPr id="49" name="Text 45"/>
          <p:cNvSpPr/>
          <p:nvPr/>
        </p:nvSpPr>
        <p:spPr>
          <a:xfrm>
            <a:off x="9308592" y="3291840"/>
            <a:ext cx="2478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CI gates (lint · redact · dedup · eval-gate) + dual review; ≥2 independent instances auto-graduate into a technique skill</a:t>
            </a:r>
            <a:endParaRPr lang="en-US" sz="800" dirty="0"/>
          </a:p>
        </p:txBody>
      </p:sp>
      <p:sp>
        <p:nvSpPr>
          <p:cNvPr id="50" name="Shape 46"/>
          <p:cNvSpPr/>
          <p:nvPr/>
        </p:nvSpPr>
        <p:spPr>
          <a:xfrm>
            <a:off x="3273552" y="3922776"/>
            <a:ext cx="219456" cy="219456"/>
          </a:xfrm>
          <a:prstGeom prst="ellipse">
            <a:avLst/>
          </a:prstGeom>
          <a:solidFill>
            <a:srgbClr val="C77E14"/>
          </a:solidFill>
          <a:ln/>
        </p:spPr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844" y="3973068"/>
            <a:ext cx="118872" cy="118872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3584448" y="3895344"/>
            <a:ext cx="8314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Innovations &amp; Differentiation</a:t>
            </a:r>
            <a:endParaRPr lang="en-US" sz="1250" dirty="0"/>
          </a:p>
        </p:txBody>
      </p:sp>
      <p:sp>
        <p:nvSpPr>
          <p:cNvPr id="53" name="Shape 48"/>
          <p:cNvSpPr/>
          <p:nvPr/>
        </p:nvSpPr>
        <p:spPr>
          <a:xfrm>
            <a:off x="3273552" y="4206240"/>
            <a:ext cx="2060372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D0DE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3364992" y="4270248"/>
            <a:ext cx="18774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0E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asset · dual engine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5B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and skills strictly separated, each with its own governance engine — the team-governance layer mem0 / Zep lack</a:t>
            </a:r>
            <a:endParaRPr lang="en-US" sz="1100" dirty="0"/>
          </a:p>
        </p:txBody>
      </p:sp>
      <p:sp>
        <p:nvSpPr>
          <p:cNvPr id="55" name="Shape 50"/>
          <p:cNvSpPr/>
          <p:nvPr/>
        </p:nvSpPr>
        <p:spPr>
          <a:xfrm>
            <a:off x="5461940" y="4206240"/>
            <a:ext cx="2060372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D0DE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5553380" y="4270248"/>
            <a:ext cx="18774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0E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7-way classes × bitemporal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5B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 resolution never deletes history: superseded tombstones + validity windows; 48-case benchmark: 100% accuracy, 0 false-deletes</a:t>
            </a:r>
            <a:endParaRPr lang="en-US" sz="1100" dirty="0"/>
          </a:p>
        </p:txBody>
      </p:sp>
      <p:sp>
        <p:nvSpPr>
          <p:cNvPr id="57" name="Shape 52"/>
          <p:cNvSpPr/>
          <p:nvPr/>
        </p:nvSpPr>
        <p:spPr>
          <a:xfrm>
            <a:off x="7650328" y="4206240"/>
            <a:ext cx="2060372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D0DE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7741768" y="4270248"/>
            <a:ext cx="18774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0E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Eval-gated feedback safety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5B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text = trainable external parameters: only strictly-better, zero-regression edits land; Pareto kills self-reinforcement</a:t>
            </a:r>
            <a:endParaRPr lang="en-US" sz="1100" dirty="0"/>
          </a:p>
        </p:txBody>
      </p:sp>
      <p:sp>
        <p:nvSpPr>
          <p:cNvPr id="59" name="Shape 54"/>
          <p:cNvSpPr/>
          <p:nvPr/>
        </p:nvSpPr>
        <p:spPr>
          <a:xfrm>
            <a:off x="9838715" y="4206240"/>
            <a:ext cx="2060372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D0DE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9930155" y="4270248"/>
            <a:ext cx="18774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0E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automated loop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5B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Close-out distill → CI gates → nightly 7 steps → semver release → re-pin, all automated; humans keep promotion approval</a:t>
            </a:r>
            <a:endParaRPr lang="en-US" sz="1100" dirty="0"/>
          </a:p>
        </p:txBody>
      </p:sp>
      <p:sp>
        <p:nvSpPr>
          <p:cNvPr id="61" name="Shape 56"/>
          <p:cNvSpPr/>
          <p:nvPr/>
        </p:nvSpPr>
        <p:spPr>
          <a:xfrm>
            <a:off x="292608" y="5294376"/>
            <a:ext cx="219456" cy="219456"/>
          </a:xfrm>
          <a:prstGeom prst="ellipse">
            <a:avLst/>
          </a:prstGeom>
          <a:solidFill>
            <a:srgbClr val="2B368C"/>
          </a:solidFill>
          <a:ln/>
        </p:spPr>
      </p:sp>
      <p:pic>
        <p:nvPicPr>
          <p:cNvPr id="6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5344668"/>
            <a:ext cx="118872" cy="118872"/>
          </a:xfrm>
          <a:prstGeom prst="rect">
            <a:avLst/>
          </a:prstGeom>
        </p:spPr>
      </p:pic>
      <p:sp>
        <p:nvSpPr>
          <p:cNvPr id="63" name="Text 57"/>
          <p:cNvSpPr/>
          <p:nvPr/>
        </p:nvSpPr>
        <p:spPr>
          <a:xfrm>
            <a:off x="603504" y="526694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3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Impact   </a:t>
            </a:r>
            <a:pPr indent="0" marL="0">
              <a:buNone/>
            </a:pPr>
            <a:r>
              <a:rPr lang="en-US" sz="900" dirty="0">
                <a:solidFill>
                  <a:srgbClr val="5B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Experience: from personal consumable to compounding team asset</a:t>
            </a:r>
            <a:endParaRPr lang="en-US" sz="1250" dirty="0"/>
          </a:p>
        </p:txBody>
      </p:sp>
      <p:sp>
        <p:nvSpPr>
          <p:cNvPr id="64" name="Shape 58"/>
          <p:cNvSpPr/>
          <p:nvPr/>
        </p:nvSpPr>
        <p:spPr>
          <a:xfrm>
            <a:off x="292608" y="5577840"/>
            <a:ext cx="2805608" cy="694944"/>
          </a:xfrm>
          <a:prstGeom prst="roundRect">
            <a:avLst>
              <a:gd name="adj" fmla="val 6579"/>
            </a:avLst>
          </a:prstGeom>
          <a:solidFill>
            <a:srgbClr val="F1F4FA"/>
          </a:solidFill>
          <a:ln w="9525">
            <a:solidFill>
              <a:srgbClr val="C9D0DE"/>
            </a:solidFill>
            <a:prstDash val="solid"/>
          </a:ln>
        </p:spPr>
      </p:sp>
      <p:sp>
        <p:nvSpPr>
          <p:cNvPr id="65" name="Text 59"/>
          <p:cNvSpPr/>
          <p:nvPr/>
        </p:nvSpPr>
        <p:spPr>
          <a:xfrm>
            <a:off x="402336" y="5632704"/>
            <a:ext cx="2586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7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Day-one mastery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members &amp; agents deploy with the whole team's experience — far less re-exploration</a:t>
            </a:r>
            <a:endParaRPr lang="en-US" sz="1100" dirty="0"/>
          </a:p>
        </p:txBody>
      </p:sp>
      <p:sp>
        <p:nvSpPr>
          <p:cNvPr id="66" name="Shape 60"/>
          <p:cNvSpPr/>
          <p:nvPr/>
        </p:nvSpPr>
        <p:spPr>
          <a:xfrm>
            <a:off x="3226232" y="5577840"/>
            <a:ext cx="2805608" cy="694944"/>
          </a:xfrm>
          <a:prstGeom prst="roundRect">
            <a:avLst>
              <a:gd name="adj" fmla="val 6579"/>
            </a:avLst>
          </a:prstGeom>
          <a:solidFill>
            <a:srgbClr val="F1F4FA"/>
          </a:solidFill>
          <a:ln w="9525">
            <a:solidFill>
              <a:srgbClr val="C9D0DE"/>
            </a:solidFill>
            <a:prstDash val="solid"/>
          </a:ln>
        </p:spPr>
      </p:sp>
      <p:sp>
        <p:nvSpPr>
          <p:cNvPr id="67" name="Text 61"/>
          <p:cNvSpPr/>
          <p:nvPr/>
        </p:nvSpPr>
        <p:spPr>
          <a:xfrm>
            <a:off x="3335960" y="5632704"/>
            <a:ext cx="2586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7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Experts → assets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know-how becomes gate-protected team assets that survive turnover</a:t>
            </a:r>
            <a:endParaRPr lang="en-US" sz="1100" dirty="0"/>
          </a:p>
        </p:txBody>
      </p:sp>
      <p:sp>
        <p:nvSpPr>
          <p:cNvPr id="68" name="Shape 62"/>
          <p:cNvSpPr/>
          <p:nvPr/>
        </p:nvSpPr>
        <p:spPr>
          <a:xfrm>
            <a:off x="6159856" y="5577840"/>
            <a:ext cx="2805608" cy="694944"/>
          </a:xfrm>
          <a:prstGeom prst="roundRect">
            <a:avLst>
              <a:gd name="adj" fmla="val 6579"/>
            </a:avLst>
          </a:prstGeom>
          <a:solidFill>
            <a:srgbClr val="F1F4FA"/>
          </a:solidFill>
          <a:ln w="9525">
            <a:solidFill>
              <a:srgbClr val="C9D0DE"/>
            </a:solidFill>
            <a:prstDash val="solid"/>
          </a:ln>
        </p:spPr>
      </p:sp>
      <p:sp>
        <p:nvSpPr>
          <p:cNvPr id="69" name="Text 63"/>
          <p:cNvSpPr/>
          <p:nvPr/>
        </p:nvSpPr>
        <p:spPr>
          <a:xfrm>
            <a:off x="6269584" y="5632704"/>
            <a:ext cx="2586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7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Compounding gains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 and hit-rate keep rising as experience accrues across members &amp; iterations</a:t>
            </a:r>
            <a:endParaRPr lang="en-US" sz="1100" dirty="0"/>
          </a:p>
        </p:txBody>
      </p:sp>
      <p:sp>
        <p:nvSpPr>
          <p:cNvPr id="70" name="Shape 64"/>
          <p:cNvSpPr/>
          <p:nvPr/>
        </p:nvSpPr>
        <p:spPr>
          <a:xfrm>
            <a:off x="9093479" y="5577840"/>
            <a:ext cx="2805608" cy="694944"/>
          </a:xfrm>
          <a:prstGeom prst="roundRect">
            <a:avLst>
              <a:gd name="adj" fmla="val 6579"/>
            </a:avLst>
          </a:prstGeom>
          <a:solidFill>
            <a:srgbClr val="F1F4FA"/>
          </a:solidFill>
          <a:ln w="9525">
            <a:solidFill>
              <a:srgbClr val="C9D0DE"/>
            </a:solidFill>
            <a:prstDash val="solid"/>
          </a:ln>
        </p:spPr>
      </p:sp>
      <p:sp>
        <p:nvSpPr>
          <p:cNvPr id="71" name="Text 65"/>
          <p:cNvSpPr/>
          <p:nvPr/>
        </p:nvSpPr>
        <p:spPr>
          <a:xfrm>
            <a:off x="9203207" y="5632704"/>
            <a:ext cx="25861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7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memory base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Plug-in for any agent-driven optimization: memory noise floor / instructions / power / compiler backends</a:t>
            </a:r>
            <a:endParaRPr lang="en-US" sz="1100" dirty="0"/>
          </a:p>
        </p:txBody>
      </p:sp>
      <p:sp>
        <p:nvSpPr>
          <p:cNvPr id="72" name="Shape 66"/>
          <p:cNvSpPr/>
          <p:nvPr/>
        </p:nvSpPr>
        <p:spPr>
          <a:xfrm>
            <a:off x="292608" y="6382512"/>
            <a:ext cx="11606479" cy="310896"/>
          </a:xfrm>
          <a:prstGeom prst="roundRect">
            <a:avLst>
              <a:gd name="adj" fmla="val 14706"/>
            </a:avLst>
          </a:prstGeom>
          <a:solidFill>
            <a:srgbClr val="2B368C"/>
          </a:solidFill>
          <a:ln/>
        </p:spPr>
      </p:sp>
      <p:sp>
        <p:nvSpPr>
          <p:cNvPr id="73" name="Shape 67"/>
          <p:cNvSpPr/>
          <p:nvPr/>
        </p:nvSpPr>
        <p:spPr>
          <a:xfrm>
            <a:off x="365760" y="6432804"/>
            <a:ext cx="841248" cy="228600"/>
          </a:xfrm>
          <a:prstGeom prst="roundRect">
            <a:avLst>
              <a:gd name="adj" fmla="val 20000"/>
            </a:avLst>
          </a:prstGeom>
          <a:solidFill>
            <a:srgbClr val="0E9488"/>
          </a:solidFill>
          <a:ln/>
        </p:spPr>
      </p:sp>
      <p:sp>
        <p:nvSpPr>
          <p:cNvPr id="74" name="Text 68"/>
          <p:cNvSpPr/>
          <p:nvPr/>
        </p:nvSpPr>
        <p:spPr>
          <a:xfrm>
            <a:off x="365760" y="6432804"/>
            <a:ext cx="841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850" dirty="0"/>
          </a:p>
        </p:txBody>
      </p:sp>
      <p:sp>
        <p:nvSpPr>
          <p:cNvPr id="75" name="Text 69"/>
          <p:cNvSpPr/>
          <p:nvPr/>
        </p:nvSpPr>
        <p:spPr>
          <a:xfrm>
            <a:off x="1316736" y="6382512"/>
            <a:ext cx="104726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&amp; reproducible offline: 154 tests · 7 schemas · 5 CI gates · 3 MCP tools · 6 touchpoints · 16-mechanism vocab · retrieval recall@5 = 1.0 (26 queries) · classifier 48/48 · skill-opt 0.67 → 1.00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2026-07-23T19:29:46Z</dcterms:created>
  <dcterms:modified xsi:type="dcterms:W3CDTF">2026-07-23T19:29:46Z</dcterms:modified>
</cp:coreProperties>
</file>
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9b5a341a574b85" /><Relationship Type="http://schemas.openxmlformats.org/officeDocument/2006/relationships/extended-properties" Target="/docProps/app.xml" Id="Refbac47484af41c9" /><Relationship Type="http://schemas.openxmlformats.org/officeDocument/2006/relationships/officeDocument" Target="/ppt/presentation.xml" Id="R4367b9c8de6e4179" /></Relationships>
</file>

<file path=ppt/presentation.xml><?xml version="1.0" encoding="utf-8"?>
<p:presentation xmlns:p="http://schemas.openxmlformats.org/presentationml/2006/main">
  <p:sldMasterIdLst>
    <p:sldMasterId xmlns:r="http://schemas.openxmlformats.org/officeDocument/2006/relationships" id="2147483648" r:id="R2236c198c65e47ce"/>
  </p:sldMasterIdLst>
  <p:notesMasterIdLst>
    <p:notesMasterId xmlns:r="http://schemas.openxmlformats.org/officeDocument/2006/relationships" r:id="R9386aef726964750"/>
  </p:notesMasterIdLst>
  <p:sldIdLst>
    <p:sldId xmlns:r="http://schemas.openxmlformats.org/officeDocument/2006/relationships" id="256" r:id="R4e593a8482564e33"/>
    <p:sldId xmlns:r="http://schemas.openxmlformats.org/officeDocument/2006/relationships" id="257" r:id="R1f6a78f4f4d94ca4"/>
    <p:sldId xmlns:r="http://schemas.openxmlformats.org/officeDocument/2006/relationships" id="258" r:id="Reda0d94165714af4"/>
    <p:sldId xmlns:r="http://schemas.openxmlformats.org/officeDocument/2006/relationships" id="259" r:id="R2213e33de8a6426a"/>
    <p:sldId xmlns:r="http://schemas.openxmlformats.org/officeDocument/2006/relationships" id="260" r:id="R03b0ac5aaf0a400a"/>
    <p:sldId xmlns:r="http://schemas.openxmlformats.org/officeDocument/2006/relationships" id="261" r:id="Rdb686e24070c437c"/>
    <p:sldId xmlns:r="http://schemas.openxmlformats.org/officeDocument/2006/relationships" id="262" r:id="R48c1a267e7414de5"/>
    <p:sldId xmlns:r="http://schemas.openxmlformats.org/officeDocument/2006/relationships" id="263" r:id="Rd6ee91dbfad04737"/>
    <p:sldId xmlns:r="http://schemas.openxmlformats.org/officeDocument/2006/relationships" id="264" r:id="Rd343a6bdcc3745e9"/>
    <p:sldId xmlns:r="http://schemas.openxmlformats.org/officeDocument/2006/relationships" id="265" r:id="R0e77a30a6bba4f56"/>
    <p:sldId xmlns:r="http://schemas.openxmlformats.org/officeDocument/2006/relationships" id="266" r:id="R2758074140cc4c92"/>
    <p:sldId xmlns:r="http://schemas.openxmlformats.org/officeDocument/2006/relationships" id="267" r:id="Rbc8b58f772d8490c"/>
    <p:sldId xmlns:r="http://schemas.openxmlformats.org/officeDocument/2006/relationships" id="268" r:id="Re616b12d5be54ac2"/>
    <p:sldId xmlns:r="http://schemas.openxmlformats.org/officeDocument/2006/relationships" id="269" r:id="Rc070c800cc5a46a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2b954e246a74836" /><Relationship Type="http://schemas.openxmlformats.org/officeDocument/2006/relationships/slideMaster" Target="/ppt/slideMasters/slideMaster1.xml" Id="R2236c198c65e47ce" /><Relationship Type="http://schemas.openxmlformats.org/officeDocument/2006/relationships/notesMaster" Target="/ppt/notesMasters/notesMaster1.xml" Id="R9386aef726964750" /><Relationship Type="http://schemas.openxmlformats.org/officeDocument/2006/relationships/presProps" Target="/ppt/presProps.xml" Id="R120f09f2348e4082" /><Relationship Type="http://schemas.openxmlformats.org/officeDocument/2006/relationships/viewProps" Target="/ppt/viewProps.xml" Id="R181011e9479f483a" /><Relationship Type="http://schemas.openxmlformats.org/officeDocument/2006/relationships/tableStyles" Target="/ppt/tableStyles.xml" Id="Rb76c0f2d4cef447c" /><Relationship Type="http://schemas.openxmlformats.org/officeDocument/2006/relationships/slide" Target="/ppt/slides/slide1.xml" Id="R4e593a8482564e33" /><Relationship Type="http://schemas.openxmlformats.org/officeDocument/2006/relationships/slide" Target="/ppt/slides/slide2.xml" Id="R1f6a78f4f4d94ca4" /><Relationship Type="http://schemas.openxmlformats.org/officeDocument/2006/relationships/slide" Target="/ppt/slides/slide3.xml" Id="Reda0d94165714af4" /><Relationship Type="http://schemas.openxmlformats.org/officeDocument/2006/relationships/slide" Target="/ppt/slides/slide4.xml" Id="R2213e33de8a6426a" /><Relationship Type="http://schemas.openxmlformats.org/officeDocument/2006/relationships/slide" Target="/ppt/slides/slide5.xml" Id="R03b0ac5aaf0a400a" /><Relationship Type="http://schemas.openxmlformats.org/officeDocument/2006/relationships/slide" Target="/ppt/slides/slide6.xml" Id="Rdb686e24070c437c" /><Relationship Type="http://schemas.openxmlformats.org/officeDocument/2006/relationships/slide" Target="/ppt/slides/slide7.xml" Id="R48c1a267e7414de5" /><Relationship Type="http://schemas.openxmlformats.org/officeDocument/2006/relationships/slide" Target="/ppt/slides/slide8.xml" Id="Rd6ee91dbfad04737" /><Relationship Type="http://schemas.openxmlformats.org/officeDocument/2006/relationships/slide" Target="/ppt/slides/slide9.xml" Id="Rd343a6bdcc3745e9" /><Relationship Type="http://schemas.openxmlformats.org/officeDocument/2006/relationships/slide" Target="/ppt/slides/slide10.xml" Id="R0e77a30a6bba4f56" /><Relationship Type="http://schemas.openxmlformats.org/officeDocument/2006/relationships/slide" Target="/ppt/slides/slide11.xml" Id="R2758074140cc4c92" /><Relationship Type="http://schemas.openxmlformats.org/officeDocument/2006/relationships/slide" Target="/ppt/slides/slide12.xml" Id="Rbc8b58f772d8490c" /><Relationship Type="http://schemas.openxmlformats.org/officeDocument/2006/relationships/slide" Target="/ppt/slides/slide13.xml" Id="Re616b12d5be54ac2" /><Relationship Type="http://schemas.openxmlformats.org/officeDocument/2006/relationships/slide" Target="/ppt/slides/slide14.xml" Id="Rc070c800cc5a46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712198bab046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c96e3dbd9c4f7e" /><Relationship Type="http://schemas.openxmlformats.org/officeDocument/2006/relationships/notesMaster" Target="/ppt/notesMasters/notesMaster1.xml" Id="Rac8047ecb3a544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5b180cb5e44a5d" /><Relationship Type="http://schemas.openxmlformats.org/officeDocument/2006/relationships/notesMaster" Target="/ppt/notesMasters/notesMaster1.xml" Id="Raa7cd2d00e0242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6c6500751e412a" /><Relationship Type="http://schemas.openxmlformats.org/officeDocument/2006/relationships/notesMaster" Target="/ppt/notesMasters/notesMaster1.xml" Id="R30dddaa76f4e48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03eb76764b4029" /><Relationship Type="http://schemas.openxmlformats.org/officeDocument/2006/relationships/notesMaster" Target="/ppt/notesMasters/notesMaster1.xml" Id="Rd93fb82312f44d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f52ddd3f0c49b7" /><Relationship Type="http://schemas.openxmlformats.org/officeDocument/2006/relationships/notesMaster" Target="/ppt/notesMasters/notesMaster1.xml" Id="R61f64b7a356e4f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30c99415644f13" /><Relationship Type="http://schemas.openxmlformats.org/officeDocument/2006/relationships/notesMaster" Target="/ppt/notesMasters/notesMaster1.xml" Id="Rf33b0f114ab145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f8a5f11a2a40a6" /><Relationship Type="http://schemas.openxmlformats.org/officeDocument/2006/relationships/notesMaster" Target="/ppt/notesMasters/notesMaster1.xml" Id="R46c2c312016248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c7d33f2df9469b" /><Relationship Type="http://schemas.openxmlformats.org/officeDocument/2006/relationships/notesMaster" Target="/ppt/notesMasters/notesMaster1.xml" Id="R1bf08304b61b42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c9bfec48db462d" /><Relationship Type="http://schemas.openxmlformats.org/officeDocument/2006/relationships/notesMaster" Target="/ppt/notesMasters/notesMaster1.xml" Id="R6af338119cc245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d604050b8a48d2" /><Relationship Type="http://schemas.openxmlformats.org/officeDocument/2006/relationships/notesMaster" Target="/ppt/notesMasters/notesMaster1.xml" Id="Rcfc69844abb843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56370fbecf46a3" /><Relationship Type="http://schemas.openxmlformats.org/officeDocument/2006/relationships/notesMaster" Target="/ppt/notesMasters/notesMaster1.xml" Id="Ra4378544a0aa43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275239907c42aa" /><Relationship Type="http://schemas.openxmlformats.org/officeDocument/2006/relationships/notesMaster" Target="/ppt/notesMasters/notesMaster1.xml" Id="R0b75165eebf244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9fe30b3a90435d" /><Relationship Type="http://schemas.openxmlformats.org/officeDocument/2006/relationships/notesMaster" Target="/ppt/notesMasters/notesMaster1.xml" Id="R0ea632d631394f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a5328e62e14362" /><Relationship Type="http://schemas.openxmlformats.org/officeDocument/2006/relationships/notesMaster" Target="/ppt/notesMasters/notesMaster1.xml" Id="R82ebbee34f2542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this as both a usage walkthrough and an implementation review. The key message is that .opencode is not a single prompt; it is a staged harness with ownership, gates, validation, state, and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the harness exists before describing the mechanics. A single free-running agent is attractive but unreliable for kernel work. The harness turns common failure modes into structural rules: stage ownership, gates, disk-backed state, and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separate the platform from the harness. hmopt gives us indexing, storage, APIs, and profiling. MCP servers are the tool bridge. .opencode is the agent-control layer that decides what to do and enforces the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important part is not just the order but the gates. Plan review blocks coding until the instruction-count thesis is credible. Code review blocks acceptance and decides whether tester validation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usage model. The full pipeline is for end-to-end land-it runs. The human-in-loop route is for building durable research and planning with expert feedback. The function route is a scoped explainer that can unblock the other two.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manager is the only hub. Specialists, reviewers, coder, and tester do not spawn other agents. This prevents hidden work, makes stage transitions inspectable, and means the manager can route failures to the right upstream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of the strongest implementation points. OpenCode may compact the conversation, so the manager does not rely on what it remembers. It reads current_task.json at the start of every turn, reloads gate rules when needed, and writes state before delegation.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why the loop is self-correcting rather than just repetitive. Every failure has one back-edge target and a cap. A build failure goes to the coder. A measured regression goes back to research because the thesis is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A/B rule concrete. The tester builds and signs the feature image, flashes stock, tests stock, flashes feature, tests feature with the baseline report, then compares aggregate and per-function evidence. One side alone is not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separation. Skills are reusable instructions and policy. MCP servers are the tool layer for thinking, indexing, building, flashing, testing, and Git inspection. The command file wires the right skill packs into a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 is not hidden in chat. Each stage writes to a predictable folder. Memory is separate from artifacts: docs and bench hold run-specific detail, while target memory, subsystem memory, global lessons, human decisions, and idea ledgers carry reusable information forward.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command as the user's mental model. The profile chooses specialist hints and skill packs. The target names the subsystem or file. Auto-Iterate controls how many clean passes the manager should run on the same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the implementation section by showing the folder map. The important point for the team is inspectability. We can review the manager prompt, gates, skills, current state, plans, reviews, validation reports, memory, and patches as normal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reinforcing the core takeaway: the system is designed to make AI optimization reviewable, measurable, and recoverable. A good next step for the team is a live demo that launches one command and then inspects the state file and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64fb2939a547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08597d0e92413a" /><Relationship Type="http://schemas.openxmlformats.org/officeDocument/2006/relationships/slideLayout" Target="/ppt/slideLayouts/slideLayout1.xml" Id="R046d53e17e8346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6d53e17e8346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7af86bb7bd4cd8" /><Relationship Type="http://schemas.openxmlformats.org/officeDocument/2006/relationships/notesSlide" Target="/ppt/notesSlides/notesSlide1.xml" Id="Ref9bf61c880643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0b52ebf0eef43f3" /><Relationship Type="http://schemas.openxmlformats.org/officeDocument/2006/relationships/notesSlide" Target="/ppt/notesSlides/notesSlide2.xml" Id="Ra6a9bc8a8a4a44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b800dd870e4c42" /><Relationship Type="http://schemas.openxmlformats.org/officeDocument/2006/relationships/notesSlide" Target="/ppt/notesSlides/notesSlide3.xml" Id="R759b213887f74a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2b5d5b3b094f2e" /><Relationship Type="http://schemas.openxmlformats.org/officeDocument/2006/relationships/notesSlide" Target="/ppt/notesSlides/notesSlide4.xml" Id="R2f7b1b6a2a4a45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16875b74ed43ab" /><Relationship Type="http://schemas.openxmlformats.org/officeDocument/2006/relationships/notesSlide" Target="/ppt/notesSlides/notesSlide5.xml" Id="R271b19e95f3045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08eaa836684383" /><Relationship Type="http://schemas.openxmlformats.org/officeDocument/2006/relationships/notesSlide" Target="/ppt/notesSlides/notesSlide6.xml" Id="R26488abfc05542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10f1c72b8d4d35" /><Relationship Type="http://schemas.openxmlformats.org/officeDocument/2006/relationships/notesSlide" Target="/ppt/notesSlides/notesSlide7.xml" Id="R5be27268a4874f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313f82aaa243d1" /><Relationship Type="http://schemas.openxmlformats.org/officeDocument/2006/relationships/notesSlide" Target="/ppt/notesSlides/notesSlide8.xml" Id="R057f269de16e48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4e4cd7439346e7" /><Relationship Type="http://schemas.openxmlformats.org/officeDocument/2006/relationships/notesSlide" Target="/ppt/notesSlides/notesSlide9.xml" Id="R84f15e18812c47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1f5a9ec3a324456" /><Relationship Type="http://schemas.openxmlformats.org/officeDocument/2006/relationships/notesSlide" Target="/ppt/notesSlides/notesSlide10.xml" Id="R949f894633014f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36868cc728b47a1" /><Relationship Type="http://schemas.openxmlformats.org/officeDocument/2006/relationships/notesSlide" Target="/ppt/notesSlides/notesSlide11.xml" Id="R3998aea4de2645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affc3ef52234ed2" /><Relationship Type="http://schemas.openxmlformats.org/officeDocument/2006/relationships/notesSlide" Target="/ppt/notesSlides/notesSlide12.xml" Id="Rb91ddbe8cecf49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d3b3ec1996f4b3c" /><Relationship Type="http://schemas.openxmlformats.org/officeDocument/2006/relationships/notesSlide" Target="/ppt/notesSlides/notesSlide13.xml" Id="Rafc531fb2454453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42e874f33914c74" /><Relationship Type="http://schemas.openxmlformats.org/officeDocument/2006/relationships/notesSlide" Target="/ppt/notesSlides/notesSlide14.xml" Id="Rc98fea0de80e445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5629E291-61D6-470F-B58D-91914244F5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02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88B0DAD-3D19-4D11-BD60-E98DBE00836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33139A8-F1DE-4C1B-87F2-5744FDFDB6E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D98B21"/>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BBF6F77-4F9D-4D4C-9C04-17F42B1C0DE6}"/>
              </a:ext>
            </a:extLst>
          </p:cNvPr>
          <p:cNvSpPr>
            <a:spLocks xmlns:a="http://schemas.openxmlformats.org/drawingml/2006/main" noGrp="1"/>
          </p:cNvSpPr>
          <p:nvPr/>
        </p:nvSpPr>
        <p:spPr>
          <a:xfrm xmlns:a="http://schemas.openxmlformats.org/drawingml/2006/main">
            <a:off x="685800" y="685800"/>
            <a:ext cx="685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C9D4DE"/>
                </a:solidFill>
                <a:latin typeface="Aptos"/>
                <a:ea typeface="Aptos"/>
                <a:cs typeface="Aptos"/>
              </a:defRPr>
            </a:pPr>
            <a:r>
              <a:rPr sz="1050" b="1">
                <a:solidFill>
                  <a:srgbClr val="C9D4DE"/>
                </a:solidFill>
                <a:latin typeface="Aptos"/>
                <a:ea typeface="Aptos"/>
                <a:cs typeface="Aptos"/>
              </a:rPr>
              <a:t>HM-VERIF KERNEL OPTIMIZATION PLATFORM</a:t>
            </a:r>
          </a:p>
        </p:txBody>
      </p:sp>
      <p:sp>
        <p:nvSpPr>
          <p:cNvPr id="5" name="">
            <a:extLst xmlns:a="http://schemas.openxmlformats.org/drawingml/2006/main">
              <a:ext uri="{FF2B5EF4-FFF2-40B4-BE49-F238E27FC236}">
                <a16:creationId xmlns:a16="http://schemas.microsoft.com/office/drawing/2014/main" id="{148656BC-D689-4FE4-8A67-462B889E8189}"/>
              </a:ext>
            </a:extLst>
          </p:cNvPr>
          <p:cNvSpPr>
            <a:spLocks xmlns:a="http://schemas.openxmlformats.org/drawingml/2006/main" noGrp="1"/>
          </p:cNvSpPr>
          <p:nvPr/>
        </p:nvSpPr>
        <p:spPr>
          <a:xfrm xmlns:a="http://schemas.openxmlformats.org/drawingml/2006/main">
            <a:off x="685800" y="1657350"/>
            <a:ext cx="85725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F7F4EE"/>
                </a:solidFill>
                <a:latin typeface="Aptos Display"/>
                <a:ea typeface="Aptos Display"/>
                <a:cs typeface="Aptos Display"/>
              </a:defRPr>
            </a:pPr>
            <a:r>
              <a:rPr sz="3600" b="1">
                <a:solidFill>
                  <a:srgbClr val="F7F4EE"/>
                </a:solidFill>
                <a:latin typeface="Aptos Display"/>
                <a:ea typeface="Aptos Display"/>
                <a:cs typeface="Aptos Display"/>
              </a:rPr>
              <a:t>The .opencode Multi-Agent Harness</a:t>
            </a:r>
          </a:p>
        </p:txBody>
      </p:sp>
      <p:sp>
        <p:nvSpPr>
          <p:cNvPr id="6" name="">
            <a:extLst xmlns:a="http://schemas.openxmlformats.org/drawingml/2006/main">
              <a:ext uri="{FF2B5EF4-FFF2-40B4-BE49-F238E27FC236}">
                <a16:creationId xmlns:a16="http://schemas.microsoft.com/office/drawing/2014/main" id="{D62948E1-CE82-4580-8327-622394B6ED32}"/>
              </a:ext>
            </a:extLst>
          </p:cNvPr>
          <p:cNvSpPr>
            <a:spLocks xmlns:a="http://schemas.openxmlformats.org/drawingml/2006/main" noGrp="1"/>
          </p:cNvSpPr>
          <p:nvPr/>
        </p:nvSpPr>
        <p:spPr>
          <a:xfrm xmlns:a="http://schemas.openxmlformats.org/drawingml/2006/main">
            <a:off x="704850" y="2952750"/>
            <a:ext cx="8763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D7DED7"/>
                </a:solidFill>
                <a:latin typeface="Aptos"/>
                <a:ea typeface="Aptos"/>
                <a:cs typeface="Aptos"/>
              </a:defRPr>
            </a:pPr>
            <a:r>
              <a:rPr sz="1575" b="0">
                <a:solidFill>
                  <a:srgbClr val="D7DED7"/>
                </a:solidFill>
                <a:latin typeface="Aptos"/>
                <a:ea typeface="Aptos"/>
                <a:cs typeface="Aptos"/>
              </a:rPr>
              <a:t>A staged, gated, self-correcting engineering system for proposing kernel patches, reviewing them, validating stock vs feature, and learning across runs.</a:t>
            </a:r>
          </a:p>
        </p:txBody>
      </p:sp>
      <p:sp>
        <p:nvSpPr>
          <p:cNvPr id="7" name="">
            <a:extLst xmlns:a="http://schemas.openxmlformats.org/drawingml/2006/main">
              <a:ext uri="{FF2B5EF4-FFF2-40B4-BE49-F238E27FC236}">
                <a16:creationId xmlns:a16="http://schemas.microsoft.com/office/drawing/2014/main" id="{AF1D2396-B6AE-441F-889B-C17856A03013}"/>
              </a:ext>
            </a:extLst>
          </p:cNvPr>
          <p:cNvSpPr>
            <a:spLocks xmlns:a="http://schemas.openxmlformats.org/drawingml/2006/main" noGrp="1"/>
          </p:cNvSpPr>
          <p:nvPr/>
        </p:nvSpPr>
        <p:spPr>
          <a:xfrm xmlns:a="http://schemas.openxmlformats.org/drawingml/2006/main">
            <a:off x="704850" y="4438650"/>
            <a:ext cx="1409700" cy="4572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9E635D1E-360E-4521-B41A-453E602BAA4A}"/>
              </a:ext>
            </a:extLst>
          </p:cNvPr>
          <p:cNvSpPr>
            <a:spLocks xmlns:a="http://schemas.openxmlformats.org/drawingml/2006/main" noGrp="1"/>
          </p:cNvSpPr>
          <p:nvPr/>
        </p:nvSpPr>
        <p:spPr>
          <a:xfrm xmlns:a="http://schemas.openxmlformats.org/drawingml/2006/main">
            <a:off x="704850" y="4572000"/>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research</a:t>
            </a:r>
          </a:p>
        </p:txBody>
      </p:sp>
      <p:sp>
        <p:nvSpPr>
          <p:cNvPr id="9" name="">
            <a:extLst xmlns:a="http://schemas.openxmlformats.org/drawingml/2006/main">
              <a:ext uri="{FF2B5EF4-FFF2-40B4-BE49-F238E27FC236}">
                <a16:creationId xmlns:a16="http://schemas.microsoft.com/office/drawing/2014/main" id="{08EE2C1E-225C-41C7-971A-EE1B96DF8E52}"/>
              </a:ext>
            </a:extLst>
          </p:cNvPr>
          <p:cNvSpPr>
            <a:spLocks xmlns:a="http://schemas.openxmlformats.org/drawingml/2006/main" noGrp="1"/>
          </p:cNvSpPr>
          <p:nvPr/>
        </p:nvSpPr>
        <p:spPr>
          <a:xfrm xmlns:a="http://schemas.openxmlformats.org/drawingml/2006/main">
            <a:off x="2171700" y="4543425"/>
            <a:ext cx="228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C9D4DE"/>
                </a:solidFill>
                <a:latin typeface="Aptos"/>
                <a:ea typeface="Aptos"/>
                <a:cs typeface="Aptos"/>
              </a:defRPr>
            </a:pPr>
            <a:r>
              <a:rPr sz="1350" b="1">
                <a:solidFill>
                  <a:srgbClr val="C9D4DE"/>
                </a:solidFill>
                <a:latin typeface="Aptos"/>
                <a:ea typeface="Aptos"/>
                <a:cs typeface="Aptos"/>
              </a:rPr>
              <a:t>&gt;</a:t>
            </a:r>
          </a:p>
        </p:txBody>
      </p:sp>
      <p:sp>
        <p:nvSpPr>
          <p:cNvPr id="10" name="">
            <a:extLst xmlns:a="http://schemas.openxmlformats.org/drawingml/2006/main">
              <a:ext uri="{FF2B5EF4-FFF2-40B4-BE49-F238E27FC236}">
                <a16:creationId xmlns:a16="http://schemas.microsoft.com/office/drawing/2014/main" id="{5580A1A6-E1B1-437D-B6B6-2D19365C6C43}"/>
              </a:ext>
            </a:extLst>
          </p:cNvPr>
          <p:cNvSpPr>
            <a:spLocks xmlns:a="http://schemas.openxmlformats.org/drawingml/2006/main" noGrp="1"/>
          </p:cNvSpPr>
          <p:nvPr/>
        </p:nvSpPr>
        <p:spPr>
          <a:xfrm xmlns:a="http://schemas.openxmlformats.org/drawingml/2006/main">
            <a:off x="2438400" y="4438650"/>
            <a:ext cx="1409700" cy="457200"/>
          </a:xfrm>
          <a:prstGeom xmlns:a="http://schemas.openxmlformats.org/drawingml/2006/main" prst="rect">
            <a:avLst/>
          </a:prstGeom>
          <a:solidFill xmlns:a="http://schemas.openxmlformats.org/drawingml/2006/main">
            <a:srgbClr val="D98B21"/>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EE663BA-4706-4429-865D-2CAA763D3E42}"/>
              </a:ext>
            </a:extLst>
          </p:cNvPr>
          <p:cNvSpPr>
            <a:spLocks xmlns:a="http://schemas.openxmlformats.org/drawingml/2006/main" noGrp="1"/>
          </p:cNvSpPr>
          <p:nvPr/>
        </p:nvSpPr>
        <p:spPr>
          <a:xfrm xmlns:a="http://schemas.openxmlformats.org/drawingml/2006/main">
            <a:off x="2438400" y="4572000"/>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plan gate</a:t>
            </a:r>
          </a:p>
        </p:txBody>
      </p:sp>
      <p:sp>
        <p:nvSpPr>
          <p:cNvPr id="12" name="">
            <a:extLst xmlns:a="http://schemas.openxmlformats.org/drawingml/2006/main">
              <a:ext uri="{FF2B5EF4-FFF2-40B4-BE49-F238E27FC236}">
                <a16:creationId xmlns:a16="http://schemas.microsoft.com/office/drawing/2014/main" id="{EAAFB37A-580B-42F6-B449-69C5FCF86CE7}"/>
              </a:ext>
            </a:extLst>
          </p:cNvPr>
          <p:cNvSpPr>
            <a:spLocks xmlns:a="http://schemas.openxmlformats.org/drawingml/2006/main" noGrp="1"/>
          </p:cNvSpPr>
          <p:nvPr/>
        </p:nvSpPr>
        <p:spPr>
          <a:xfrm xmlns:a="http://schemas.openxmlformats.org/drawingml/2006/main">
            <a:off x="3905250" y="4543425"/>
            <a:ext cx="228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C9D4DE"/>
                </a:solidFill>
                <a:latin typeface="Aptos"/>
                <a:ea typeface="Aptos"/>
                <a:cs typeface="Aptos"/>
              </a:defRPr>
            </a:pPr>
            <a:r>
              <a:rPr sz="1350" b="1">
                <a:solidFill>
                  <a:srgbClr val="C9D4DE"/>
                </a:solidFill>
                <a:latin typeface="Aptos"/>
                <a:ea typeface="Aptos"/>
                <a:cs typeface="Aptos"/>
              </a:rPr>
              <a:t>&gt;</a:t>
            </a:r>
          </a:p>
        </p:txBody>
      </p:sp>
      <p:sp>
        <p:nvSpPr>
          <p:cNvPr id="13" name="">
            <a:extLst xmlns:a="http://schemas.openxmlformats.org/drawingml/2006/main">
              <a:ext uri="{FF2B5EF4-FFF2-40B4-BE49-F238E27FC236}">
                <a16:creationId xmlns:a16="http://schemas.microsoft.com/office/drawing/2014/main" id="{88AB9592-05F7-43BB-82A4-4CC9D2219DC6}"/>
              </a:ext>
            </a:extLst>
          </p:cNvPr>
          <p:cNvSpPr>
            <a:spLocks xmlns:a="http://schemas.openxmlformats.org/drawingml/2006/main" noGrp="1"/>
          </p:cNvSpPr>
          <p:nvPr/>
        </p:nvSpPr>
        <p:spPr>
          <a:xfrm xmlns:a="http://schemas.openxmlformats.org/drawingml/2006/main">
            <a:off x="4171950" y="4438650"/>
            <a:ext cx="1409700" cy="457200"/>
          </a:xfrm>
          <a:prstGeom xmlns:a="http://schemas.openxmlformats.org/drawingml/2006/main" prst="rect">
            <a:avLst/>
          </a:prstGeom>
          <a:solidFill xmlns:a="http://schemas.openxmlformats.org/drawingml/2006/main">
            <a:srgbClr val="3B4AA4"/>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626BD6BA-247E-47FE-A031-5DA1162E52CC}"/>
              </a:ext>
            </a:extLst>
          </p:cNvPr>
          <p:cNvSpPr>
            <a:spLocks xmlns:a="http://schemas.openxmlformats.org/drawingml/2006/main" noGrp="1"/>
          </p:cNvSpPr>
          <p:nvPr/>
        </p:nvSpPr>
        <p:spPr>
          <a:xfrm xmlns:a="http://schemas.openxmlformats.org/drawingml/2006/main">
            <a:off x="4171950" y="4572000"/>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code</a:t>
            </a:r>
          </a:p>
        </p:txBody>
      </p:sp>
      <p:sp>
        <p:nvSpPr>
          <p:cNvPr id="15" name="">
            <a:extLst xmlns:a="http://schemas.openxmlformats.org/drawingml/2006/main">
              <a:ext uri="{FF2B5EF4-FFF2-40B4-BE49-F238E27FC236}">
                <a16:creationId xmlns:a16="http://schemas.microsoft.com/office/drawing/2014/main" id="{F617B870-607E-4444-B319-4C0ADA79C767}"/>
              </a:ext>
            </a:extLst>
          </p:cNvPr>
          <p:cNvSpPr>
            <a:spLocks xmlns:a="http://schemas.openxmlformats.org/drawingml/2006/main" noGrp="1"/>
          </p:cNvSpPr>
          <p:nvPr/>
        </p:nvSpPr>
        <p:spPr>
          <a:xfrm xmlns:a="http://schemas.openxmlformats.org/drawingml/2006/main">
            <a:off x="5638800" y="4543425"/>
            <a:ext cx="228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C9D4DE"/>
                </a:solidFill>
                <a:latin typeface="Aptos"/>
                <a:ea typeface="Aptos"/>
                <a:cs typeface="Aptos"/>
              </a:defRPr>
            </a:pPr>
            <a:r>
              <a:rPr sz="1350" b="1">
                <a:solidFill>
                  <a:srgbClr val="C9D4DE"/>
                </a:solidFill>
                <a:latin typeface="Aptos"/>
                <a:ea typeface="Aptos"/>
                <a:cs typeface="Aptos"/>
              </a:rPr>
              <a:t>&gt;</a:t>
            </a:r>
          </a:p>
        </p:txBody>
      </p:sp>
      <p:sp>
        <p:nvSpPr>
          <p:cNvPr id="16" name="">
            <a:extLst xmlns:a="http://schemas.openxmlformats.org/drawingml/2006/main">
              <a:ext uri="{FF2B5EF4-FFF2-40B4-BE49-F238E27FC236}">
                <a16:creationId xmlns:a16="http://schemas.microsoft.com/office/drawing/2014/main" id="{A94D66DD-B36B-4C47-90C2-1DA3899B5382}"/>
              </a:ext>
            </a:extLst>
          </p:cNvPr>
          <p:cNvSpPr>
            <a:spLocks xmlns:a="http://schemas.openxmlformats.org/drawingml/2006/main" noGrp="1"/>
          </p:cNvSpPr>
          <p:nvPr/>
        </p:nvSpPr>
        <p:spPr>
          <a:xfrm xmlns:a="http://schemas.openxmlformats.org/drawingml/2006/main">
            <a:off x="5905500" y="4438650"/>
            <a:ext cx="1409700" cy="457200"/>
          </a:xfrm>
          <a:prstGeom xmlns:a="http://schemas.openxmlformats.org/drawingml/2006/main" prst="rect">
            <a:avLst/>
          </a:prstGeom>
          <a:solidFill xmlns:a="http://schemas.openxmlformats.org/drawingml/2006/main">
            <a:srgbClr val="D98B21"/>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1D331435-E77D-4D9C-8325-5DBBDA63B846}"/>
              </a:ext>
            </a:extLst>
          </p:cNvPr>
          <p:cNvSpPr>
            <a:spLocks xmlns:a="http://schemas.openxmlformats.org/drawingml/2006/main" noGrp="1"/>
          </p:cNvSpPr>
          <p:nvPr/>
        </p:nvSpPr>
        <p:spPr>
          <a:xfrm xmlns:a="http://schemas.openxmlformats.org/drawingml/2006/main">
            <a:off x="5905500" y="4572000"/>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review gate</a:t>
            </a:r>
          </a:p>
        </p:txBody>
      </p:sp>
      <p:sp>
        <p:nvSpPr>
          <p:cNvPr id="18" name="">
            <a:extLst xmlns:a="http://schemas.openxmlformats.org/drawingml/2006/main">
              <a:ext uri="{FF2B5EF4-FFF2-40B4-BE49-F238E27FC236}">
                <a16:creationId xmlns:a16="http://schemas.microsoft.com/office/drawing/2014/main" id="{530811DA-A606-4251-BF6E-69F779D06393}"/>
              </a:ext>
            </a:extLst>
          </p:cNvPr>
          <p:cNvSpPr>
            <a:spLocks xmlns:a="http://schemas.openxmlformats.org/drawingml/2006/main" noGrp="1"/>
          </p:cNvSpPr>
          <p:nvPr/>
        </p:nvSpPr>
        <p:spPr>
          <a:xfrm xmlns:a="http://schemas.openxmlformats.org/drawingml/2006/main">
            <a:off x="7372350" y="4543425"/>
            <a:ext cx="228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C9D4DE"/>
                </a:solidFill>
                <a:latin typeface="Aptos"/>
                <a:ea typeface="Aptos"/>
                <a:cs typeface="Aptos"/>
              </a:defRPr>
            </a:pPr>
            <a:r>
              <a:rPr sz="1350" b="1">
                <a:solidFill>
                  <a:srgbClr val="C9D4DE"/>
                </a:solidFill>
                <a:latin typeface="Aptos"/>
                <a:ea typeface="Aptos"/>
                <a:cs typeface="Aptos"/>
              </a:rPr>
              <a:t>&gt;</a:t>
            </a:r>
          </a:p>
        </p:txBody>
      </p:sp>
      <p:sp>
        <p:nvSpPr>
          <p:cNvPr id="19" name="">
            <a:extLst xmlns:a="http://schemas.openxmlformats.org/drawingml/2006/main">
              <a:ext uri="{FF2B5EF4-FFF2-40B4-BE49-F238E27FC236}">
                <a16:creationId xmlns:a16="http://schemas.microsoft.com/office/drawing/2014/main" id="{2B9125BD-6B44-4747-94A6-5DC36949D6A5}"/>
              </a:ext>
            </a:extLst>
          </p:cNvPr>
          <p:cNvSpPr>
            <a:spLocks xmlns:a="http://schemas.openxmlformats.org/drawingml/2006/main" noGrp="1"/>
          </p:cNvSpPr>
          <p:nvPr/>
        </p:nvSpPr>
        <p:spPr>
          <a:xfrm xmlns:a="http://schemas.openxmlformats.org/drawingml/2006/main">
            <a:off x="7639050" y="4438650"/>
            <a:ext cx="1409700" cy="457200"/>
          </a:xfrm>
          <a:prstGeom xmlns:a="http://schemas.openxmlformats.org/drawingml/2006/main" prst="rect">
            <a:avLst/>
          </a:prstGeom>
          <a:solidFill xmlns:a="http://schemas.openxmlformats.org/drawingml/2006/main">
            <a:srgbClr val="5E7E35"/>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6E0C15D3-ED26-4009-BAB9-661106F61F5A}"/>
              </a:ext>
            </a:extLst>
          </p:cNvPr>
          <p:cNvSpPr>
            <a:spLocks xmlns:a="http://schemas.openxmlformats.org/drawingml/2006/main" noGrp="1"/>
          </p:cNvSpPr>
          <p:nvPr/>
        </p:nvSpPr>
        <p:spPr>
          <a:xfrm xmlns:a="http://schemas.openxmlformats.org/drawingml/2006/main">
            <a:off x="7639050" y="4572000"/>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A/B validate</a:t>
            </a:r>
          </a:p>
        </p:txBody>
      </p:sp>
      <p:sp>
        <p:nvSpPr>
          <p:cNvPr id="21" name="">
            <a:extLst xmlns:a="http://schemas.openxmlformats.org/drawingml/2006/main">
              <a:ext uri="{FF2B5EF4-FFF2-40B4-BE49-F238E27FC236}">
                <a16:creationId xmlns:a16="http://schemas.microsoft.com/office/drawing/2014/main" id="{E116188D-9BB6-493E-B380-098C5C0C0381}"/>
              </a:ext>
            </a:extLst>
          </p:cNvPr>
          <p:cNvSpPr>
            <a:spLocks xmlns:a="http://schemas.openxmlformats.org/drawingml/2006/main" noGrp="1"/>
          </p:cNvSpPr>
          <p:nvPr/>
        </p:nvSpPr>
        <p:spPr>
          <a:xfrm xmlns:a="http://schemas.openxmlformats.org/drawingml/2006/main">
            <a:off x="9105900" y="4543425"/>
            <a:ext cx="228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C9D4DE"/>
                </a:solidFill>
                <a:latin typeface="Aptos"/>
                <a:ea typeface="Aptos"/>
                <a:cs typeface="Aptos"/>
              </a:defRPr>
            </a:pPr>
            <a:r>
              <a:rPr sz="1350" b="1">
                <a:solidFill>
                  <a:srgbClr val="C9D4DE"/>
                </a:solidFill>
                <a:latin typeface="Aptos"/>
                <a:ea typeface="Aptos"/>
                <a:cs typeface="Aptos"/>
              </a:rPr>
              <a:t>&gt;</a:t>
            </a:r>
          </a:p>
        </p:txBody>
      </p:sp>
      <p:sp>
        <p:nvSpPr>
          <p:cNvPr id="22" name="">
            <a:extLst xmlns:a="http://schemas.openxmlformats.org/drawingml/2006/main">
              <a:ext uri="{FF2B5EF4-FFF2-40B4-BE49-F238E27FC236}">
                <a16:creationId xmlns:a16="http://schemas.microsoft.com/office/drawing/2014/main" id="{2EC65CE5-08B7-46ED-8013-8989E17D4088}"/>
              </a:ext>
            </a:extLst>
          </p:cNvPr>
          <p:cNvSpPr>
            <a:spLocks xmlns:a="http://schemas.openxmlformats.org/drawingml/2006/main" noGrp="1"/>
          </p:cNvSpPr>
          <p:nvPr/>
        </p:nvSpPr>
        <p:spPr>
          <a:xfrm xmlns:a="http://schemas.openxmlformats.org/drawingml/2006/main">
            <a:off x="9372600" y="4438650"/>
            <a:ext cx="1409700" cy="457200"/>
          </a:xfrm>
          <a:prstGeom xmlns:a="http://schemas.openxmlformats.org/drawingml/2006/main" prst="rect">
            <a:avLst/>
          </a:prstGeom>
          <a:solidFill xmlns:a="http://schemas.openxmlformats.org/drawingml/2006/main">
            <a:srgbClr val="C84D3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BE0E418B-7428-41A5-B314-B826C86E961B}"/>
              </a:ext>
            </a:extLst>
          </p:cNvPr>
          <p:cNvSpPr>
            <a:spLocks xmlns:a="http://schemas.openxmlformats.org/drawingml/2006/main" noGrp="1"/>
          </p:cNvSpPr>
          <p:nvPr/>
        </p:nvSpPr>
        <p:spPr>
          <a:xfrm xmlns:a="http://schemas.openxmlformats.org/drawingml/2006/main">
            <a:off x="9372600" y="4572000"/>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memory</a:t>
            </a:r>
          </a:p>
        </p:txBody>
      </p:sp>
      <p:sp>
        <p:nvSpPr>
          <p:cNvPr id="24" name="">
            <a:extLst xmlns:a="http://schemas.openxmlformats.org/drawingml/2006/main">
              <a:ext uri="{FF2B5EF4-FFF2-40B4-BE49-F238E27FC236}">
                <a16:creationId xmlns:a16="http://schemas.microsoft.com/office/drawing/2014/main" id="{4BAD74D9-1CA5-4774-BB8E-6BC3026FD47D}"/>
              </a:ext>
            </a:extLst>
          </p:cNvPr>
          <p:cNvSpPr>
            <a:spLocks xmlns:a="http://schemas.openxmlformats.org/drawingml/2006/main" noGrp="1"/>
          </p:cNvSpPr>
          <p:nvPr/>
        </p:nvSpPr>
        <p:spPr>
          <a:xfrm xmlns:a="http://schemas.openxmlformats.org/drawingml/2006/main">
            <a:off x="704850" y="6019800"/>
            <a:ext cx="685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C9D4DE"/>
                </a:solidFill>
                <a:latin typeface="Aptos"/>
                <a:ea typeface="Aptos"/>
                <a:cs typeface="Aptos"/>
              </a:defRPr>
            </a:pPr>
            <a:r>
              <a:rPr sz="1050" b="0">
                <a:solidFill>
                  <a:srgbClr val="C9D4DE"/>
                </a:solidFill>
                <a:latin typeface="Aptos"/>
                <a:ea typeface="Aptos"/>
                <a:cs typeface="Aptos"/>
              </a:rPr>
              <a:t>Team walkthrough: pipeline usage + implementation</a:t>
            </a:r>
          </a:p>
        </p:txBody>
      </p:sp>
      <p:sp>
        <p:nvSpPr>
          <p:cNvPr id="25" name="">
            <a:extLst xmlns:a="http://schemas.openxmlformats.org/drawingml/2006/main">
              <a:ext uri="{FF2B5EF4-FFF2-40B4-BE49-F238E27FC236}">
                <a16:creationId xmlns:a16="http://schemas.microsoft.com/office/drawing/2014/main" id="{22CFC542-744E-45E3-9D1D-261B9EB48E49}"/>
              </a:ext>
            </a:extLst>
          </p:cNvPr>
          <p:cNvSpPr>
            <a:spLocks xmlns:a="http://schemas.openxmlformats.org/drawingml/2006/main" noGrp="1"/>
          </p:cNvSpPr>
          <p:nvPr/>
        </p:nvSpPr>
        <p:spPr>
          <a:xfrm xmlns:a="http://schemas.openxmlformats.org/drawingml/2006/main">
            <a:off x="9334500" y="601980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9BA7B1"/>
                </a:solidFill>
                <a:latin typeface="Aptos"/>
                <a:ea typeface="Aptos"/>
                <a:cs typeface="Aptos"/>
              </a:defRPr>
            </a:pPr>
            <a:r>
              <a:rPr sz="750" b="0">
                <a:solidFill>
                  <a:srgbClr val="9BA7B1"/>
                </a:solidFill>
                <a:latin typeface="Aptos"/>
                <a:ea typeface="Aptos"/>
                <a:cs typeface="Aptos"/>
              </a:rPr>
              <a:t>sources: .opencode/ and docs/</a:t>
            </a:r>
          </a:p>
        </p:txBody>
      </p:sp>
    </p:spTree>
    <p:extLst>
      <p:ext uri="{BB962C8B-B14F-4D97-AF65-F5344CB8AC3E}">
        <p14:creationId xmlns:p14="http://schemas.microsoft.com/office/powerpoint/2010/main" val="68984965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63A740CF-EF93-4A64-A977-F430AD527AF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79BFDE28-FF2D-437F-9A54-471D172CBBC2}"/>
              </a:ext>
            </a:extLst>
          </p:cNvPr>
          <p:cNvSpPr>
            <a:spLocks xmlns:a="http://schemas.openxmlformats.org/drawingml/2006/main" noGrp="1"/>
          </p:cNvSpPr>
          <p:nvPr/>
        </p:nvSpPr>
        <p:spPr>
          <a:xfrm xmlns:a="http://schemas.openxmlformats.org/drawingml/2006/main">
            <a:off x="495300" y="419100"/>
            <a:ext cx="304800" cy="381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93193AEC-52E0-47A3-814F-9491438C8843}"/>
              </a:ext>
            </a:extLst>
          </p:cNvPr>
          <p:cNvSpPr>
            <a:spLocks xmlns:a="http://schemas.openxmlformats.org/drawingml/2006/main" noGrp="1"/>
          </p:cNvSpPr>
          <p:nvPr/>
        </p:nvSpPr>
        <p:spPr>
          <a:xfrm xmlns:a="http://schemas.openxmlformats.org/drawingml/2006/main">
            <a:off x="895350" y="285750"/>
            <a:ext cx="495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E7C7B"/>
                </a:solidFill>
                <a:latin typeface="Aptos"/>
                <a:ea typeface="Aptos"/>
                <a:cs typeface="Aptos"/>
              </a:defRPr>
            </a:pPr>
            <a:r>
              <a:rPr sz="975" b="1">
                <a:solidFill>
                  <a:srgbClr val="0E7C7B"/>
                </a:solidFill>
                <a:latin typeface="Aptos"/>
                <a:ea typeface="Aptos"/>
                <a:cs typeface="Aptos"/>
              </a:rPr>
              <a:t>WHY IT EXISTS</a:t>
            </a:r>
          </a:p>
        </p:txBody>
      </p:sp>
      <p:sp>
        <p:nvSpPr>
          <p:cNvPr id="4" name="">
            <a:extLst xmlns:a="http://schemas.openxmlformats.org/drawingml/2006/main">
              <a:ext uri="{FF2B5EF4-FFF2-40B4-BE49-F238E27FC236}">
                <a16:creationId xmlns:a16="http://schemas.microsoft.com/office/drawing/2014/main" id="{C6BBC9F6-D6CF-4677-B671-BA6DD3D8CBAC}"/>
              </a:ext>
            </a:extLst>
          </p:cNvPr>
          <p:cNvSpPr>
            <a:spLocks xmlns:a="http://schemas.openxmlformats.org/drawingml/2006/main" noGrp="1"/>
          </p:cNvSpPr>
          <p:nvPr/>
        </p:nvSpPr>
        <p:spPr>
          <a:xfrm xmlns:a="http://schemas.openxmlformats.org/drawingml/2006/main">
            <a:off x="495300" y="666750"/>
            <a:ext cx="8382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The harness fixes the predictable failure modes of one big agent.</a:t>
            </a:r>
          </a:p>
        </p:txBody>
      </p:sp>
      <p:sp>
        <p:nvSpPr>
          <p:cNvPr id="5" name="">
            <a:extLst xmlns:a="http://schemas.openxmlformats.org/drawingml/2006/main">
              <a:ext uri="{FF2B5EF4-FFF2-40B4-BE49-F238E27FC236}">
                <a16:creationId xmlns:a16="http://schemas.microsoft.com/office/drawing/2014/main" id="{5CAB2A8D-B249-4CE0-B5EB-404420A0551C}"/>
              </a:ext>
            </a:extLst>
          </p:cNvPr>
          <p:cNvSpPr>
            <a:spLocks xmlns:a="http://schemas.openxmlformats.org/drawingml/2006/main" noGrp="1"/>
          </p:cNvSpPr>
          <p:nvPr/>
        </p:nvSpPr>
        <p:spPr>
          <a:xfrm xmlns:a="http://schemas.openxmlformats.org/drawingml/2006/main">
            <a:off x="495300" y="1447800"/>
            <a:ext cx="11201400" cy="14288"/>
          </a:xfrm>
          <a:prstGeom xmlns:a="http://schemas.openxmlformats.org/drawingml/2006/main" prst="rect">
            <a:avLst/>
          </a:prstGeom>
          <a:solidFill xmlns:a="http://schemas.openxmlformats.org/drawingml/2006/main">
            <a:srgbClr val="C9C2B4"/>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738288D-9A1F-4C70-B4B9-A84C4EFE9F1F}"/>
              </a:ext>
            </a:extLst>
          </p:cNvPr>
          <p:cNvSpPr>
            <a:spLocks xmlns:a="http://schemas.openxmlformats.org/drawingml/2006/main" noGrp="1"/>
          </p:cNvSpPr>
          <p:nvPr/>
        </p:nvSpPr>
        <p:spPr>
          <a:xfrm xmlns:a="http://schemas.openxmlformats.org/drawingml/2006/main">
            <a:off x="495300" y="6496050"/>
            <a:ext cx="800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.opencode/docs/harness_engineer_system.md; .opencode/skills/stage_gate_enforcement.md</a:t>
            </a:r>
          </a:p>
        </p:txBody>
      </p:sp>
      <p:sp>
        <p:nvSpPr>
          <p:cNvPr id="7" name="">
            <a:extLst xmlns:a="http://schemas.openxmlformats.org/drawingml/2006/main">
              <a:ext uri="{FF2B5EF4-FFF2-40B4-BE49-F238E27FC236}">
                <a16:creationId xmlns:a16="http://schemas.microsoft.com/office/drawing/2014/main" id="{41EF2042-1997-402A-8C85-458BF894F5F9}"/>
              </a:ext>
            </a:extLst>
          </p:cNvPr>
          <p:cNvSpPr>
            <a:spLocks xmlns:a="http://schemas.openxmlformats.org/drawingml/2006/main" noGrp="1"/>
          </p:cNvSpPr>
          <p:nvPr/>
        </p:nvSpPr>
        <p:spPr>
          <a:xfrm xmlns:a="http://schemas.openxmlformats.org/drawingml/2006/main">
            <a:off x="723900" y="1866900"/>
            <a:ext cx="4819650" cy="1333500"/>
          </a:xfrm>
          <a:prstGeom xmlns:a="http://schemas.openxmlformats.org/drawingml/2006/main" prst="rect">
            <a:avLst/>
          </a:prstGeom>
          <a:solidFill xmlns:a="http://schemas.openxmlformats.org/drawingml/2006/main">
            <a:srgbClr val="F1DAD4"/>
          </a:solidFill>
          <a:ln xmlns:a="http://schemas.openxmlformats.org/drawingml/2006/main" w="9525">
            <a:solidFill>
              <a:srgbClr val="C9C2B4"/>
            </a:solidFill>
            <a:prstDash val="solid"/>
          </a:ln>
        </p:spPr>
      </p:sp>
      <p:sp>
        <p:nvSpPr>
          <p:cNvPr id="8" name="">
            <a:extLst xmlns:a="http://schemas.openxmlformats.org/drawingml/2006/main">
              <a:ext uri="{FF2B5EF4-FFF2-40B4-BE49-F238E27FC236}">
                <a16:creationId xmlns:a16="http://schemas.microsoft.com/office/drawing/2014/main" id="{998C3915-09A9-4FA9-A6B8-B5F3025A8505}"/>
              </a:ext>
            </a:extLst>
          </p:cNvPr>
          <p:cNvSpPr>
            <a:spLocks xmlns:a="http://schemas.openxmlformats.org/drawingml/2006/main" noGrp="1"/>
          </p:cNvSpPr>
          <p:nvPr/>
        </p:nvSpPr>
        <p:spPr>
          <a:xfrm xmlns:a="http://schemas.openxmlformats.org/drawingml/2006/main">
            <a:off x="723900" y="1866900"/>
            <a:ext cx="4819650" cy="304800"/>
          </a:xfrm>
          <a:prstGeom xmlns:a="http://schemas.openxmlformats.org/drawingml/2006/main" prst="rect">
            <a:avLst/>
          </a:prstGeom>
          <a:solidFill xmlns:a="http://schemas.openxmlformats.org/drawingml/2006/main">
            <a:srgbClr val="C84D3A"/>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8160064-DF0C-48DE-827F-F46131F9321A}"/>
              </a:ext>
            </a:extLst>
          </p:cNvPr>
          <p:cNvSpPr>
            <a:spLocks xmlns:a="http://schemas.openxmlformats.org/drawingml/2006/main" noGrp="1"/>
          </p:cNvSpPr>
          <p:nvPr/>
        </p:nvSpPr>
        <p:spPr>
          <a:xfrm xmlns:a="http://schemas.openxmlformats.org/drawingml/2006/main">
            <a:off x="857250" y="1914525"/>
            <a:ext cx="4552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Drift</a:t>
            </a:r>
          </a:p>
        </p:txBody>
      </p:sp>
      <p:sp>
        <p:nvSpPr>
          <p:cNvPr id="10" name="">
            <a:extLst xmlns:a="http://schemas.openxmlformats.org/drawingml/2006/main">
              <a:ext uri="{FF2B5EF4-FFF2-40B4-BE49-F238E27FC236}">
                <a16:creationId xmlns:a16="http://schemas.microsoft.com/office/drawing/2014/main" id="{FFC99C09-03A8-4FFE-9404-53F89E9BC286}"/>
              </a:ext>
            </a:extLst>
          </p:cNvPr>
          <p:cNvSpPr>
            <a:spLocks xmlns:a="http://schemas.openxmlformats.org/drawingml/2006/main" noGrp="1"/>
          </p:cNvSpPr>
          <p:nvPr/>
        </p:nvSpPr>
        <p:spPr>
          <a:xfrm xmlns:a="http://schemas.openxmlformats.org/drawingml/2006/main">
            <a:off x="895350" y="2324100"/>
            <a:ext cx="666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C84D3A"/>
                </a:solidFill>
                <a:latin typeface="Aptos"/>
                <a:ea typeface="Aptos"/>
                <a:cs typeface="Aptos"/>
              </a:defRPr>
            </a:pPr>
            <a:r>
              <a:rPr sz="900" b="1">
                <a:solidFill>
                  <a:srgbClr val="C84D3A"/>
                </a:solidFill>
                <a:latin typeface="Aptos"/>
                <a:ea typeface="Aptos"/>
                <a:cs typeface="Aptos"/>
              </a:rPr>
              <a:t>Risk</a:t>
            </a:r>
          </a:p>
        </p:txBody>
      </p:sp>
      <p:sp>
        <p:nvSpPr>
          <p:cNvPr id="11" name="">
            <a:extLst xmlns:a="http://schemas.openxmlformats.org/drawingml/2006/main">
              <a:ext uri="{FF2B5EF4-FFF2-40B4-BE49-F238E27FC236}">
                <a16:creationId xmlns:a16="http://schemas.microsoft.com/office/drawing/2014/main" id="{F12CBD4A-D541-4FF7-954A-57958C081EAA}"/>
              </a:ext>
            </a:extLst>
          </p:cNvPr>
          <p:cNvSpPr>
            <a:spLocks xmlns:a="http://schemas.openxmlformats.org/drawingml/2006/main" noGrp="1"/>
          </p:cNvSpPr>
          <p:nvPr/>
        </p:nvSpPr>
        <p:spPr>
          <a:xfrm xmlns:a="http://schemas.openxmlformats.org/drawingml/2006/main">
            <a:off x="1581150" y="2295525"/>
            <a:ext cx="3619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A"/>
                </a:solidFill>
                <a:latin typeface="Aptos"/>
                <a:ea typeface="Aptos"/>
                <a:cs typeface="Aptos"/>
              </a:defRPr>
            </a:pPr>
            <a:r>
              <a:rPr sz="1125" b="0">
                <a:solidFill>
                  <a:srgbClr val="17202A"/>
                </a:solidFill>
                <a:latin typeface="Aptos"/>
                <a:ea typeface="Aptos"/>
                <a:cs typeface="Aptos"/>
              </a:rPr>
              <a:t>Research agents start coding; coding agents grade their own work.</a:t>
            </a:r>
          </a:p>
        </p:txBody>
      </p:sp>
      <p:sp>
        <p:nvSpPr>
          <p:cNvPr id="12" name="">
            <a:extLst xmlns:a="http://schemas.openxmlformats.org/drawingml/2006/main">
              <a:ext uri="{FF2B5EF4-FFF2-40B4-BE49-F238E27FC236}">
                <a16:creationId xmlns:a16="http://schemas.microsoft.com/office/drawing/2014/main" id="{45B6C47C-DAF2-45FE-8C98-D777D1D2F6FE}"/>
              </a:ext>
            </a:extLst>
          </p:cNvPr>
          <p:cNvSpPr>
            <a:spLocks xmlns:a="http://schemas.openxmlformats.org/drawingml/2006/main" noGrp="1"/>
          </p:cNvSpPr>
          <p:nvPr/>
        </p:nvSpPr>
        <p:spPr>
          <a:xfrm xmlns:a="http://schemas.openxmlformats.org/drawingml/2006/main">
            <a:off x="895350" y="2743200"/>
            <a:ext cx="666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C84D3A"/>
                </a:solidFill>
                <a:latin typeface="Aptos"/>
                <a:ea typeface="Aptos"/>
                <a:cs typeface="Aptos"/>
              </a:defRPr>
            </a:pPr>
            <a:r>
              <a:rPr sz="900" b="1">
                <a:solidFill>
                  <a:srgbClr val="C84D3A"/>
                </a:solidFill>
                <a:latin typeface="Aptos"/>
                <a:ea typeface="Aptos"/>
                <a:cs typeface="Aptos"/>
              </a:rPr>
              <a:t>Fix</a:t>
            </a:r>
          </a:p>
        </p:txBody>
      </p:sp>
      <p:sp>
        <p:nvSpPr>
          <p:cNvPr id="13" name="">
            <a:extLst xmlns:a="http://schemas.openxmlformats.org/drawingml/2006/main">
              <a:ext uri="{FF2B5EF4-FFF2-40B4-BE49-F238E27FC236}">
                <a16:creationId xmlns:a16="http://schemas.microsoft.com/office/drawing/2014/main" id="{DAA3B9DF-D343-4678-8206-194652DA10A8}"/>
              </a:ext>
            </a:extLst>
          </p:cNvPr>
          <p:cNvSpPr>
            <a:spLocks xmlns:a="http://schemas.openxmlformats.org/drawingml/2006/main" noGrp="1"/>
          </p:cNvSpPr>
          <p:nvPr/>
        </p:nvSpPr>
        <p:spPr>
          <a:xfrm xmlns:a="http://schemas.openxmlformats.org/drawingml/2006/main">
            <a:off x="1581150" y="2705100"/>
            <a:ext cx="3619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A"/>
                </a:solidFill>
                <a:latin typeface="Aptos"/>
                <a:ea typeface="Aptos"/>
                <a:cs typeface="Aptos"/>
              </a:defRPr>
            </a:pPr>
            <a:r>
              <a:rPr sz="1125" b="0">
                <a:solidFill>
                  <a:srgbClr val="17202A"/>
                </a:solidFill>
                <a:latin typeface="Aptos"/>
                <a:ea typeface="Aptos"/>
                <a:cs typeface="Aptos"/>
              </a:rPr>
              <a:t>One owner per stage; sub-agents return to the manager.</a:t>
            </a:r>
          </a:p>
        </p:txBody>
      </p:sp>
      <p:sp>
        <p:nvSpPr>
          <p:cNvPr id="14" name="">
            <a:extLst xmlns:a="http://schemas.openxmlformats.org/drawingml/2006/main">
              <a:ext uri="{FF2B5EF4-FFF2-40B4-BE49-F238E27FC236}">
                <a16:creationId xmlns:a16="http://schemas.microsoft.com/office/drawing/2014/main" id="{727EB85F-EA08-465E-92F1-48F8605DEA32}"/>
              </a:ext>
            </a:extLst>
          </p:cNvPr>
          <p:cNvSpPr>
            <a:spLocks xmlns:a="http://schemas.openxmlformats.org/drawingml/2006/main" noGrp="1"/>
          </p:cNvSpPr>
          <p:nvPr/>
        </p:nvSpPr>
        <p:spPr>
          <a:xfrm xmlns:a="http://schemas.openxmlformats.org/drawingml/2006/main">
            <a:off x="6115050" y="1866900"/>
            <a:ext cx="4819650" cy="1333500"/>
          </a:xfrm>
          <a:prstGeom xmlns:a="http://schemas.openxmlformats.org/drawingml/2006/main" prst="rect">
            <a:avLst/>
          </a:prstGeom>
          <a:solidFill xmlns:a="http://schemas.openxmlformats.org/drawingml/2006/main">
            <a:srgbClr val="F5E5C8"/>
          </a:solidFill>
          <a:ln xmlns:a="http://schemas.openxmlformats.org/drawingml/2006/main" w="9525">
            <a:solidFill>
              <a:srgbClr val="C9C2B4"/>
            </a:solidFill>
            <a:prstDash val="solid"/>
          </a:ln>
        </p:spPr>
      </p:sp>
      <p:sp>
        <p:nvSpPr>
          <p:cNvPr id="15" name="">
            <a:extLst xmlns:a="http://schemas.openxmlformats.org/drawingml/2006/main">
              <a:ext uri="{FF2B5EF4-FFF2-40B4-BE49-F238E27FC236}">
                <a16:creationId xmlns:a16="http://schemas.microsoft.com/office/drawing/2014/main" id="{3A8D1817-D68D-4F1A-873F-BD2D5E6D4AAF}"/>
              </a:ext>
            </a:extLst>
          </p:cNvPr>
          <p:cNvSpPr>
            <a:spLocks xmlns:a="http://schemas.openxmlformats.org/drawingml/2006/main" noGrp="1"/>
          </p:cNvSpPr>
          <p:nvPr/>
        </p:nvSpPr>
        <p:spPr>
          <a:xfrm xmlns:a="http://schemas.openxmlformats.org/drawingml/2006/main">
            <a:off x="6115050" y="1866900"/>
            <a:ext cx="4819650" cy="304800"/>
          </a:xfrm>
          <a:prstGeom xmlns:a="http://schemas.openxmlformats.org/drawingml/2006/main" prst="rect">
            <a:avLst/>
          </a:prstGeom>
          <a:solidFill xmlns:a="http://schemas.openxmlformats.org/drawingml/2006/main">
            <a:srgbClr val="D98B21"/>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25D3109D-2DEA-4776-B1DE-8A8BE09FD7D4}"/>
              </a:ext>
            </a:extLst>
          </p:cNvPr>
          <p:cNvSpPr>
            <a:spLocks xmlns:a="http://schemas.openxmlformats.org/drawingml/2006/main" noGrp="1"/>
          </p:cNvSpPr>
          <p:nvPr/>
        </p:nvSpPr>
        <p:spPr>
          <a:xfrm xmlns:a="http://schemas.openxmlformats.org/drawingml/2006/main">
            <a:off x="6248400" y="1914525"/>
            <a:ext cx="4552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Skipped proof</a:t>
            </a:r>
          </a:p>
        </p:txBody>
      </p:sp>
      <p:sp>
        <p:nvSpPr>
          <p:cNvPr id="17" name="">
            <a:extLst xmlns:a="http://schemas.openxmlformats.org/drawingml/2006/main">
              <a:ext uri="{FF2B5EF4-FFF2-40B4-BE49-F238E27FC236}">
                <a16:creationId xmlns:a16="http://schemas.microsoft.com/office/drawing/2014/main" id="{1AC33B34-3964-4314-861B-5CC44B63F481}"/>
              </a:ext>
            </a:extLst>
          </p:cNvPr>
          <p:cNvSpPr>
            <a:spLocks xmlns:a="http://schemas.openxmlformats.org/drawingml/2006/main" noGrp="1"/>
          </p:cNvSpPr>
          <p:nvPr/>
        </p:nvSpPr>
        <p:spPr>
          <a:xfrm xmlns:a="http://schemas.openxmlformats.org/drawingml/2006/main">
            <a:off x="6286500" y="2324100"/>
            <a:ext cx="666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D98B21"/>
                </a:solidFill>
                <a:latin typeface="Aptos"/>
                <a:ea typeface="Aptos"/>
                <a:cs typeface="Aptos"/>
              </a:defRPr>
            </a:pPr>
            <a:r>
              <a:rPr sz="900" b="1">
                <a:solidFill>
                  <a:srgbClr val="D98B21"/>
                </a:solidFill>
                <a:latin typeface="Aptos"/>
                <a:ea typeface="Aptos"/>
                <a:cs typeface="Aptos"/>
              </a:rPr>
              <a:t>Risk</a:t>
            </a:r>
          </a:p>
        </p:txBody>
      </p:sp>
      <p:sp>
        <p:nvSpPr>
          <p:cNvPr id="18" name="">
            <a:extLst xmlns:a="http://schemas.openxmlformats.org/drawingml/2006/main">
              <a:ext uri="{FF2B5EF4-FFF2-40B4-BE49-F238E27FC236}">
                <a16:creationId xmlns:a16="http://schemas.microsoft.com/office/drawing/2014/main" id="{79614704-025C-4AF6-BF74-A204ACC22B1C}"/>
              </a:ext>
            </a:extLst>
          </p:cNvPr>
          <p:cNvSpPr>
            <a:spLocks xmlns:a="http://schemas.openxmlformats.org/drawingml/2006/main" noGrp="1"/>
          </p:cNvSpPr>
          <p:nvPr/>
        </p:nvSpPr>
        <p:spPr>
          <a:xfrm xmlns:a="http://schemas.openxmlformats.org/drawingml/2006/main">
            <a:off x="6972300" y="2295525"/>
            <a:ext cx="3619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A"/>
                </a:solidFill>
                <a:latin typeface="Aptos"/>
                <a:ea typeface="Aptos"/>
                <a:cs typeface="Aptos"/>
              </a:defRPr>
            </a:pPr>
            <a:r>
              <a:rPr sz="1125" b="0">
                <a:solidFill>
                  <a:srgbClr val="17202A"/>
                </a:solidFill>
                <a:latin typeface="Aptos"/>
                <a:ea typeface="Aptos"/>
                <a:cs typeface="Aptos"/>
              </a:rPr>
              <a:t>A plausible patch gets treated as a win without a baseline.</a:t>
            </a:r>
          </a:p>
        </p:txBody>
      </p:sp>
      <p:sp>
        <p:nvSpPr>
          <p:cNvPr id="19" name="">
            <a:extLst xmlns:a="http://schemas.openxmlformats.org/drawingml/2006/main">
              <a:ext uri="{FF2B5EF4-FFF2-40B4-BE49-F238E27FC236}">
                <a16:creationId xmlns:a16="http://schemas.microsoft.com/office/drawing/2014/main" id="{30F5F440-0094-4EF3-B18F-4E1C7D811344}"/>
              </a:ext>
            </a:extLst>
          </p:cNvPr>
          <p:cNvSpPr>
            <a:spLocks xmlns:a="http://schemas.openxmlformats.org/drawingml/2006/main" noGrp="1"/>
          </p:cNvSpPr>
          <p:nvPr/>
        </p:nvSpPr>
        <p:spPr>
          <a:xfrm xmlns:a="http://schemas.openxmlformats.org/drawingml/2006/main">
            <a:off x="6286500" y="2743200"/>
            <a:ext cx="666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D98B21"/>
                </a:solidFill>
                <a:latin typeface="Aptos"/>
                <a:ea typeface="Aptos"/>
                <a:cs typeface="Aptos"/>
              </a:defRPr>
            </a:pPr>
            <a:r>
              <a:rPr sz="900" b="1">
                <a:solidFill>
                  <a:srgbClr val="D98B21"/>
                </a:solidFill>
                <a:latin typeface="Aptos"/>
                <a:ea typeface="Aptos"/>
                <a:cs typeface="Aptos"/>
              </a:rPr>
              <a:t>Fix</a:t>
            </a:r>
          </a:p>
        </p:txBody>
      </p:sp>
      <p:sp>
        <p:nvSpPr>
          <p:cNvPr id="20" name="">
            <a:extLst xmlns:a="http://schemas.openxmlformats.org/drawingml/2006/main">
              <a:ext uri="{FF2B5EF4-FFF2-40B4-BE49-F238E27FC236}">
                <a16:creationId xmlns:a16="http://schemas.microsoft.com/office/drawing/2014/main" id="{2452F16E-A47D-4444-AAA4-74DA9E9BC746}"/>
              </a:ext>
            </a:extLst>
          </p:cNvPr>
          <p:cNvSpPr>
            <a:spLocks xmlns:a="http://schemas.openxmlformats.org/drawingml/2006/main" noGrp="1"/>
          </p:cNvSpPr>
          <p:nvPr/>
        </p:nvSpPr>
        <p:spPr>
          <a:xfrm xmlns:a="http://schemas.openxmlformats.org/drawingml/2006/main">
            <a:off x="6972300" y="2705100"/>
            <a:ext cx="3619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A"/>
                </a:solidFill>
                <a:latin typeface="Aptos"/>
                <a:ea typeface="Aptos"/>
                <a:cs typeface="Aptos"/>
              </a:defRPr>
            </a:pPr>
            <a:r>
              <a:rPr sz="1125" b="0">
                <a:solidFill>
                  <a:srgbClr val="17202A"/>
                </a:solidFill>
                <a:latin typeface="Aptos"/>
                <a:ea typeface="Aptos"/>
                <a:cs typeface="Aptos"/>
              </a:rPr>
              <a:t>Plan gate, code-review gate, and stock-vs-feature A/B.</a:t>
            </a:r>
          </a:p>
        </p:txBody>
      </p:sp>
      <p:sp>
        <p:nvSpPr>
          <p:cNvPr id="21" name="">
            <a:extLst xmlns:a="http://schemas.openxmlformats.org/drawingml/2006/main">
              <a:ext uri="{FF2B5EF4-FFF2-40B4-BE49-F238E27FC236}">
                <a16:creationId xmlns:a16="http://schemas.microsoft.com/office/drawing/2014/main" id="{85942F57-2E95-4A1C-8F17-A5BD4733BD30}"/>
              </a:ext>
            </a:extLst>
          </p:cNvPr>
          <p:cNvSpPr>
            <a:spLocks xmlns:a="http://schemas.openxmlformats.org/drawingml/2006/main" noGrp="1"/>
          </p:cNvSpPr>
          <p:nvPr/>
        </p:nvSpPr>
        <p:spPr>
          <a:xfrm xmlns:a="http://schemas.openxmlformats.org/drawingml/2006/main">
            <a:off x="723900" y="3676650"/>
            <a:ext cx="4819650" cy="1333500"/>
          </a:xfrm>
          <a:prstGeom xmlns:a="http://schemas.openxmlformats.org/drawingml/2006/main" prst="rect">
            <a:avLst/>
          </a:prstGeom>
          <a:solidFill xmlns:a="http://schemas.openxmlformats.org/drawingml/2006/main">
            <a:srgbClr val="E3E5F6"/>
          </a:solidFill>
          <a:ln xmlns:a="http://schemas.openxmlformats.org/drawingml/2006/main" w="9525">
            <a:solidFill>
              <a:srgbClr val="C9C2B4"/>
            </a:solidFill>
            <a:prstDash val="solid"/>
          </a:ln>
        </p:spPr>
      </p:sp>
      <p:sp>
        <p:nvSpPr>
          <p:cNvPr id="22" name="">
            <a:extLst xmlns:a="http://schemas.openxmlformats.org/drawingml/2006/main">
              <a:ext uri="{FF2B5EF4-FFF2-40B4-BE49-F238E27FC236}">
                <a16:creationId xmlns:a16="http://schemas.microsoft.com/office/drawing/2014/main" id="{51E1CABF-129A-4540-A82A-1EF1A5441ACD}"/>
              </a:ext>
            </a:extLst>
          </p:cNvPr>
          <p:cNvSpPr>
            <a:spLocks xmlns:a="http://schemas.openxmlformats.org/drawingml/2006/main" noGrp="1"/>
          </p:cNvSpPr>
          <p:nvPr/>
        </p:nvSpPr>
        <p:spPr>
          <a:xfrm xmlns:a="http://schemas.openxmlformats.org/drawingml/2006/main">
            <a:off x="723900" y="3676650"/>
            <a:ext cx="4819650" cy="304800"/>
          </a:xfrm>
          <a:prstGeom xmlns:a="http://schemas.openxmlformats.org/drawingml/2006/main" prst="rect">
            <a:avLst/>
          </a:prstGeom>
          <a:solidFill xmlns:a="http://schemas.openxmlformats.org/drawingml/2006/main">
            <a:srgbClr val="3B4AA4"/>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9C22429C-F52F-474F-94A8-D66B79ED37FA}"/>
              </a:ext>
            </a:extLst>
          </p:cNvPr>
          <p:cNvSpPr>
            <a:spLocks xmlns:a="http://schemas.openxmlformats.org/drawingml/2006/main" noGrp="1"/>
          </p:cNvSpPr>
          <p:nvPr/>
        </p:nvSpPr>
        <p:spPr>
          <a:xfrm xmlns:a="http://schemas.openxmlformats.org/drawingml/2006/main">
            <a:off x="857250" y="3724275"/>
            <a:ext cx="4552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Lost context</a:t>
            </a:r>
          </a:p>
        </p:txBody>
      </p:sp>
      <p:sp>
        <p:nvSpPr>
          <p:cNvPr id="24" name="">
            <a:extLst xmlns:a="http://schemas.openxmlformats.org/drawingml/2006/main">
              <a:ext uri="{FF2B5EF4-FFF2-40B4-BE49-F238E27FC236}">
                <a16:creationId xmlns:a16="http://schemas.microsoft.com/office/drawing/2014/main" id="{588B8945-E271-4428-A219-5B678917259C}"/>
              </a:ext>
            </a:extLst>
          </p:cNvPr>
          <p:cNvSpPr>
            <a:spLocks xmlns:a="http://schemas.openxmlformats.org/drawingml/2006/main" noGrp="1"/>
          </p:cNvSpPr>
          <p:nvPr/>
        </p:nvSpPr>
        <p:spPr>
          <a:xfrm xmlns:a="http://schemas.openxmlformats.org/drawingml/2006/main">
            <a:off x="895350" y="4133850"/>
            <a:ext cx="666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3B4AA4"/>
                </a:solidFill>
                <a:latin typeface="Aptos"/>
                <a:ea typeface="Aptos"/>
                <a:cs typeface="Aptos"/>
              </a:defRPr>
            </a:pPr>
            <a:r>
              <a:rPr sz="900" b="1">
                <a:solidFill>
                  <a:srgbClr val="3B4AA4"/>
                </a:solidFill>
                <a:latin typeface="Aptos"/>
                <a:ea typeface="Aptos"/>
                <a:cs typeface="Aptos"/>
              </a:rPr>
              <a:t>Risk</a:t>
            </a:r>
          </a:p>
        </p:txBody>
      </p:sp>
      <p:sp>
        <p:nvSpPr>
          <p:cNvPr id="25" name="">
            <a:extLst xmlns:a="http://schemas.openxmlformats.org/drawingml/2006/main">
              <a:ext uri="{FF2B5EF4-FFF2-40B4-BE49-F238E27FC236}">
                <a16:creationId xmlns:a16="http://schemas.microsoft.com/office/drawing/2014/main" id="{B4D83D30-BA45-4F96-A8E6-6AC57DB34267}"/>
              </a:ext>
            </a:extLst>
          </p:cNvPr>
          <p:cNvSpPr>
            <a:spLocks xmlns:a="http://schemas.openxmlformats.org/drawingml/2006/main" noGrp="1"/>
          </p:cNvSpPr>
          <p:nvPr/>
        </p:nvSpPr>
        <p:spPr>
          <a:xfrm xmlns:a="http://schemas.openxmlformats.org/drawingml/2006/main">
            <a:off x="1581150" y="4105275"/>
            <a:ext cx="3619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A"/>
                </a:solidFill>
                <a:latin typeface="Aptos"/>
                <a:ea typeface="Aptos"/>
                <a:cs typeface="Aptos"/>
              </a:defRPr>
            </a:pPr>
            <a:r>
              <a:rPr sz="1125" b="0">
                <a:solidFill>
                  <a:srgbClr val="17202A"/>
                </a:solidFill>
                <a:latin typeface="Aptos"/>
                <a:ea typeface="Aptos"/>
                <a:cs typeface="Aptos"/>
              </a:rPr>
              <a:t>Long runs compact and the agent guesses what happened.</a:t>
            </a:r>
          </a:p>
        </p:txBody>
      </p:sp>
      <p:sp>
        <p:nvSpPr>
          <p:cNvPr id="26" name="">
            <a:extLst xmlns:a="http://schemas.openxmlformats.org/drawingml/2006/main">
              <a:ext uri="{FF2B5EF4-FFF2-40B4-BE49-F238E27FC236}">
                <a16:creationId xmlns:a16="http://schemas.microsoft.com/office/drawing/2014/main" id="{855DEB5F-FDCF-46CA-8C48-4DC0EF3A00B9}"/>
              </a:ext>
            </a:extLst>
          </p:cNvPr>
          <p:cNvSpPr>
            <a:spLocks xmlns:a="http://schemas.openxmlformats.org/drawingml/2006/main" noGrp="1"/>
          </p:cNvSpPr>
          <p:nvPr/>
        </p:nvSpPr>
        <p:spPr>
          <a:xfrm xmlns:a="http://schemas.openxmlformats.org/drawingml/2006/main">
            <a:off x="895350" y="4552950"/>
            <a:ext cx="666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3B4AA4"/>
                </a:solidFill>
                <a:latin typeface="Aptos"/>
                <a:ea typeface="Aptos"/>
                <a:cs typeface="Aptos"/>
              </a:defRPr>
            </a:pPr>
            <a:r>
              <a:rPr sz="900" b="1">
                <a:solidFill>
                  <a:srgbClr val="3B4AA4"/>
                </a:solidFill>
                <a:latin typeface="Aptos"/>
                <a:ea typeface="Aptos"/>
                <a:cs typeface="Aptos"/>
              </a:rPr>
              <a:t>Fix</a:t>
            </a:r>
          </a:p>
        </p:txBody>
      </p:sp>
      <p:sp>
        <p:nvSpPr>
          <p:cNvPr id="27" name="">
            <a:extLst xmlns:a="http://schemas.openxmlformats.org/drawingml/2006/main">
              <a:ext uri="{FF2B5EF4-FFF2-40B4-BE49-F238E27FC236}">
                <a16:creationId xmlns:a16="http://schemas.microsoft.com/office/drawing/2014/main" id="{EC558D7B-3142-4C15-93C0-17610B898891}"/>
              </a:ext>
            </a:extLst>
          </p:cNvPr>
          <p:cNvSpPr>
            <a:spLocks xmlns:a="http://schemas.openxmlformats.org/drawingml/2006/main" noGrp="1"/>
          </p:cNvSpPr>
          <p:nvPr/>
        </p:nvSpPr>
        <p:spPr>
          <a:xfrm xmlns:a="http://schemas.openxmlformats.org/drawingml/2006/main">
            <a:off x="1581150" y="4514850"/>
            <a:ext cx="3619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A"/>
                </a:solidFill>
                <a:latin typeface="Aptos"/>
                <a:ea typeface="Aptos"/>
                <a:cs typeface="Aptos"/>
              </a:defRPr>
            </a:pPr>
            <a:r>
              <a:rPr sz="1125" b="0">
                <a:solidFill>
                  <a:srgbClr val="17202A"/>
                </a:solidFill>
                <a:latin typeface="Aptos"/>
                <a:ea typeface="Aptos"/>
                <a:cs typeface="Aptos"/>
              </a:rPr>
              <a:t>State is rebuilt from disk at the start of every manager turn.</a:t>
            </a:r>
          </a:p>
        </p:txBody>
      </p:sp>
      <p:sp>
        <p:nvSpPr>
          <p:cNvPr id="28" name="">
            <a:extLst xmlns:a="http://schemas.openxmlformats.org/drawingml/2006/main">
              <a:ext uri="{FF2B5EF4-FFF2-40B4-BE49-F238E27FC236}">
                <a16:creationId xmlns:a16="http://schemas.microsoft.com/office/drawing/2014/main" id="{3060A696-E036-4320-A997-4C433113C713}"/>
              </a:ext>
            </a:extLst>
          </p:cNvPr>
          <p:cNvSpPr>
            <a:spLocks xmlns:a="http://schemas.openxmlformats.org/drawingml/2006/main" noGrp="1"/>
          </p:cNvSpPr>
          <p:nvPr/>
        </p:nvSpPr>
        <p:spPr>
          <a:xfrm xmlns:a="http://schemas.openxmlformats.org/drawingml/2006/main">
            <a:off x="6115050" y="3676650"/>
            <a:ext cx="4819650" cy="1333500"/>
          </a:xfrm>
          <a:prstGeom xmlns:a="http://schemas.openxmlformats.org/drawingml/2006/main" prst="rect">
            <a:avLst/>
          </a:prstGeom>
          <a:solidFill xmlns:a="http://schemas.openxmlformats.org/drawingml/2006/main">
            <a:srgbClr val="E3EBD8"/>
          </a:solidFill>
          <a:ln xmlns:a="http://schemas.openxmlformats.org/drawingml/2006/main" w="9525">
            <a:solidFill>
              <a:srgbClr val="C9C2B4"/>
            </a:solidFill>
            <a:prstDash val="solid"/>
          </a:ln>
        </p:spPr>
      </p:sp>
      <p:sp>
        <p:nvSpPr>
          <p:cNvPr id="29" name="">
            <a:extLst xmlns:a="http://schemas.openxmlformats.org/drawingml/2006/main">
              <a:ext uri="{FF2B5EF4-FFF2-40B4-BE49-F238E27FC236}">
                <a16:creationId xmlns:a16="http://schemas.microsoft.com/office/drawing/2014/main" id="{D9D697DE-E6AE-4121-8FF6-77DD37C513A3}"/>
              </a:ext>
            </a:extLst>
          </p:cNvPr>
          <p:cNvSpPr>
            <a:spLocks xmlns:a="http://schemas.openxmlformats.org/drawingml/2006/main" noGrp="1"/>
          </p:cNvSpPr>
          <p:nvPr/>
        </p:nvSpPr>
        <p:spPr>
          <a:xfrm xmlns:a="http://schemas.openxmlformats.org/drawingml/2006/main">
            <a:off x="6115050" y="3676650"/>
            <a:ext cx="4819650" cy="304800"/>
          </a:xfrm>
          <a:prstGeom xmlns:a="http://schemas.openxmlformats.org/drawingml/2006/main" prst="rect">
            <a:avLst/>
          </a:prstGeom>
          <a:solidFill xmlns:a="http://schemas.openxmlformats.org/drawingml/2006/main">
            <a:srgbClr val="5E7E35"/>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2F39B8BD-FD0C-4690-AAFB-9CDE37C3D912}"/>
              </a:ext>
            </a:extLst>
          </p:cNvPr>
          <p:cNvSpPr>
            <a:spLocks xmlns:a="http://schemas.openxmlformats.org/drawingml/2006/main" noGrp="1"/>
          </p:cNvSpPr>
          <p:nvPr/>
        </p:nvSpPr>
        <p:spPr>
          <a:xfrm xmlns:a="http://schemas.openxmlformats.org/drawingml/2006/main">
            <a:off x="6248400" y="3724275"/>
            <a:ext cx="4552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Repeated ideas</a:t>
            </a:r>
          </a:p>
        </p:txBody>
      </p:sp>
      <p:sp>
        <p:nvSpPr>
          <p:cNvPr id="31" name="">
            <a:extLst xmlns:a="http://schemas.openxmlformats.org/drawingml/2006/main">
              <a:ext uri="{FF2B5EF4-FFF2-40B4-BE49-F238E27FC236}">
                <a16:creationId xmlns:a16="http://schemas.microsoft.com/office/drawing/2014/main" id="{664E21D5-9D9B-4A4F-9145-3D8D9BCE81E0}"/>
              </a:ext>
            </a:extLst>
          </p:cNvPr>
          <p:cNvSpPr>
            <a:spLocks xmlns:a="http://schemas.openxmlformats.org/drawingml/2006/main" noGrp="1"/>
          </p:cNvSpPr>
          <p:nvPr/>
        </p:nvSpPr>
        <p:spPr>
          <a:xfrm xmlns:a="http://schemas.openxmlformats.org/drawingml/2006/main">
            <a:off x="6286500" y="4133850"/>
            <a:ext cx="666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5E7E35"/>
                </a:solidFill>
                <a:latin typeface="Aptos"/>
                <a:ea typeface="Aptos"/>
                <a:cs typeface="Aptos"/>
              </a:defRPr>
            </a:pPr>
            <a:r>
              <a:rPr sz="900" b="1">
                <a:solidFill>
                  <a:srgbClr val="5E7E35"/>
                </a:solidFill>
                <a:latin typeface="Aptos"/>
                <a:ea typeface="Aptos"/>
                <a:cs typeface="Aptos"/>
              </a:rPr>
              <a:t>Risk</a:t>
            </a:r>
          </a:p>
        </p:txBody>
      </p:sp>
      <p:sp>
        <p:nvSpPr>
          <p:cNvPr id="32" name="">
            <a:extLst xmlns:a="http://schemas.openxmlformats.org/drawingml/2006/main">
              <a:ext uri="{FF2B5EF4-FFF2-40B4-BE49-F238E27FC236}">
                <a16:creationId xmlns:a16="http://schemas.microsoft.com/office/drawing/2014/main" id="{F96C642A-4B47-49F9-8E21-16C046206BBC}"/>
              </a:ext>
            </a:extLst>
          </p:cNvPr>
          <p:cNvSpPr>
            <a:spLocks xmlns:a="http://schemas.openxmlformats.org/drawingml/2006/main" noGrp="1"/>
          </p:cNvSpPr>
          <p:nvPr/>
        </p:nvSpPr>
        <p:spPr>
          <a:xfrm xmlns:a="http://schemas.openxmlformats.org/drawingml/2006/main">
            <a:off x="6972300" y="4105275"/>
            <a:ext cx="3619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A"/>
                </a:solidFill>
                <a:latin typeface="Aptos"/>
                <a:ea typeface="Aptos"/>
                <a:cs typeface="Aptos"/>
              </a:defRPr>
            </a:pPr>
            <a:r>
              <a:rPr sz="1125" b="0">
                <a:solidFill>
                  <a:srgbClr val="17202A"/>
                </a:solidFill>
                <a:latin typeface="Aptos"/>
                <a:ea typeface="Aptos"/>
                <a:cs typeface="Aptos"/>
              </a:rPr>
              <a:t>The same failed mechanism reappears under a new name.</a:t>
            </a:r>
          </a:p>
        </p:txBody>
      </p:sp>
      <p:sp>
        <p:nvSpPr>
          <p:cNvPr id="33" name="">
            <a:extLst xmlns:a="http://schemas.openxmlformats.org/drawingml/2006/main">
              <a:ext uri="{FF2B5EF4-FFF2-40B4-BE49-F238E27FC236}">
                <a16:creationId xmlns:a16="http://schemas.microsoft.com/office/drawing/2014/main" id="{5B73693A-925F-469B-92C8-495B99BD6397}"/>
              </a:ext>
            </a:extLst>
          </p:cNvPr>
          <p:cNvSpPr>
            <a:spLocks xmlns:a="http://schemas.openxmlformats.org/drawingml/2006/main" noGrp="1"/>
          </p:cNvSpPr>
          <p:nvPr/>
        </p:nvSpPr>
        <p:spPr>
          <a:xfrm xmlns:a="http://schemas.openxmlformats.org/drawingml/2006/main">
            <a:off x="6286500" y="4552950"/>
            <a:ext cx="666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5E7E35"/>
                </a:solidFill>
                <a:latin typeface="Aptos"/>
                <a:ea typeface="Aptos"/>
                <a:cs typeface="Aptos"/>
              </a:defRPr>
            </a:pPr>
            <a:r>
              <a:rPr sz="900" b="1">
                <a:solidFill>
                  <a:srgbClr val="5E7E35"/>
                </a:solidFill>
                <a:latin typeface="Aptos"/>
                <a:ea typeface="Aptos"/>
                <a:cs typeface="Aptos"/>
              </a:rPr>
              <a:t>Fix</a:t>
            </a:r>
          </a:p>
        </p:txBody>
      </p:sp>
      <p:sp>
        <p:nvSpPr>
          <p:cNvPr id="34" name="">
            <a:extLst xmlns:a="http://schemas.openxmlformats.org/drawingml/2006/main">
              <a:ext uri="{FF2B5EF4-FFF2-40B4-BE49-F238E27FC236}">
                <a16:creationId xmlns:a16="http://schemas.microsoft.com/office/drawing/2014/main" id="{9F67D187-8A82-41FB-9A1B-6F44C7960EDC}"/>
              </a:ext>
            </a:extLst>
          </p:cNvPr>
          <p:cNvSpPr>
            <a:spLocks xmlns:a="http://schemas.openxmlformats.org/drawingml/2006/main" noGrp="1"/>
          </p:cNvSpPr>
          <p:nvPr/>
        </p:nvSpPr>
        <p:spPr>
          <a:xfrm xmlns:a="http://schemas.openxmlformats.org/drawingml/2006/main">
            <a:off x="6972300" y="4514850"/>
            <a:ext cx="3619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A"/>
                </a:solidFill>
                <a:latin typeface="Aptos"/>
                <a:ea typeface="Aptos"/>
                <a:cs typeface="Aptos"/>
              </a:defRPr>
            </a:pPr>
            <a:r>
              <a:rPr sz="1125" b="0">
                <a:solidFill>
                  <a:srgbClr val="17202A"/>
                </a:solidFill>
                <a:latin typeface="Aptos"/>
                <a:ea typeface="Aptos"/>
                <a:cs typeface="Aptos"/>
              </a:rPr>
              <a:t>Bad-plan memory, idea ledger, prior-iteration dedup.</a:t>
            </a:r>
          </a:p>
        </p:txBody>
      </p:sp>
      <p:sp>
        <p:nvSpPr>
          <p:cNvPr id="35" name="">
            <a:extLst xmlns:a="http://schemas.openxmlformats.org/drawingml/2006/main">
              <a:ext uri="{FF2B5EF4-FFF2-40B4-BE49-F238E27FC236}">
                <a16:creationId xmlns:a16="http://schemas.microsoft.com/office/drawing/2014/main" id="{57A39CF5-F064-4C81-ADA0-E8EE41C54B16}"/>
              </a:ext>
            </a:extLst>
          </p:cNvPr>
          <p:cNvSpPr>
            <a:spLocks xmlns:a="http://schemas.openxmlformats.org/drawingml/2006/main" noGrp="1"/>
          </p:cNvSpPr>
          <p:nvPr/>
        </p:nvSpPr>
        <p:spPr>
          <a:xfrm xmlns:a="http://schemas.openxmlformats.org/drawingml/2006/main">
            <a:off x="723900" y="5753100"/>
            <a:ext cx="8096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Design principle: make the failure path explicit before it happens.</a:t>
            </a:r>
          </a:p>
        </p:txBody>
      </p:sp>
      <p:sp>
        <p:nvSpPr>
          <p:cNvPr id="36" name="">
            <a:extLst xmlns:a="http://schemas.openxmlformats.org/drawingml/2006/main">
              <a:ext uri="{FF2B5EF4-FFF2-40B4-BE49-F238E27FC236}">
                <a16:creationId xmlns:a16="http://schemas.microsoft.com/office/drawing/2014/main" id="{86C5F3B1-ECF0-4132-B23E-248D14769779}"/>
              </a:ext>
            </a:extLst>
          </p:cNvPr>
          <p:cNvSpPr>
            <a:spLocks xmlns:a="http://schemas.openxmlformats.org/drawingml/2006/main" noGrp="1"/>
          </p:cNvSpPr>
          <p:nvPr/>
        </p:nvSpPr>
        <p:spPr>
          <a:xfrm xmlns:a="http://schemas.openxmlformats.org/drawingml/2006/main">
            <a:off x="495300" y="6705600"/>
            <a:ext cx="457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 multi-agent harness</a:t>
            </a:r>
          </a:p>
        </p:txBody>
      </p:sp>
      <p:sp>
        <p:nvSpPr>
          <p:cNvPr id="37" name="">
            <a:extLst xmlns:a="http://schemas.openxmlformats.org/drawingml/2006/main">
              <a:ext uri="{FF2B5EF4-FFF2-40B4-BE49-F238E27FC236}">
                <a16:creationId xmlns:a16="http://schemas.microsoft.com/office/drawing/2014/main" id="{FD1F1050-0082-4D17-81F7-E8D3B4BCED14}"/>
              </a:ext>
            </a:extLst>
          </p:cNvPr>
          <p:cNvSpPr>
            <a:spLocks xmlns:a="http://schemas.openxmlformats.org/drawingml/2006/main" noGrp="1"/>
          </p:cNvSpPr>
          <p:nvPr/>
        </p:nvSpPr>
        <p:spPr>
          <a:xfrm xmlns:a="http://schemas.openxmlformats.org/drawingml/2006/main">
            <a:off x="10706100" y="6705600"/>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8707E"/>
                </a:solidFill>
                <a:latin typeface="Aptos"/>
                <a:ea typeface="Aptos"/>
                <a:cs typeface="Aptos"/>
              </a:defRPr>
            </a:pPr>
            <a:r>
              <a:rPr sz="713" b="0">
                <a:solidFill>
                  <a:srgbClr val="68707E"/>
                </a:solidFill>
                <a:latin typeface="Aptos"/>
                <a:ea typeface="Aptos"/>
                <a:cs typeface="Aptos"/>
              </a:rPr>
              <a:t>2 / 14</a:t>
            </a:r>
          </a:p>
        </p:txBody>
      </p:sp>
    </p:spTree>
    <p:extLst>
      <p:ext uri="{BB962C8B-B14F-4D97-AF65-F5344CB8AC3E}">
        <p14:creationId xmlns:p14="http://schemas.microsoft.com/office/powerpoint/2010/main" val="20138488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3C0CEFCF-2DF9-48DE-B048-45F717794D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90C4025E-2C85-468F-9501-223E9A4143D2}"/>
              </a:ext>
            </a:extLst>
          </p:cNvPr>
          <p:cNvSpPr>
            <a:spLocks xmlns:a="http://schemas.openxmlformats.org/drawingml/2006/main" noGrp="1"/>
          </p:cNvSpPr>
          <p:nvPr/>
        </p:nvSpPr>
        <p:spPr>
          <a:xfrm xmlns:a="http://schemas.openxmlformats.org/drawingml/2006/main">
            <a:off x="495300" y="419100"/>
            <a:ext cx="304800" cy="381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D5A3492D-C037-4FA0-A77A-5C8F23BA110C}"/>
              </a:ext>
            </a:extLst>
          </p:cNvPr>
          <p:cNvSpPr>
            <a:spLocks xmlns:a="http://schemas.openxmlformats.org/drawingml/2006/main" noGrp="1"/>
          </p:cNvSpPr>
          <p:nvPr/>
        </p:nvSpPr>
        <p:spPr>
          <a:xfrm xmlns:a="http://schemas.openxmlformats.org/drawingml/2006/main">
            <a:off x="895350" y="285750"/>
            <a:ext cx="495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E7C7B"/>
                </a:solidFill>
                <a:latin typeface="Aptos"/>
                <a:ea typeface="Aptos"/>
                <a:cs typeface="Aptos"/>
              </a:defRPr>
            </a:pPr>
            <a:r>
              <a:rPr sz="975" b="1">
                <a:solidFill>
                  <a:srgbClr val="0E7C7B"/>
                </a:solidFill>
                <a:latin typeface="Aptos"/>
                <a:ea typeface="Aptos"/>
                <a:cs typeface="Aptos"/>
              </a:rPr>
              <a:t>SYSTEM CONTEXT</a:t>
            </a:r>
          </a:p>
        </p:txBody>
      </p:sp>
      <p:sp>
        <p:nvSpPr>
          <p:cNvPr id="4" name="">
            <a:extLst xmlns:a="http://schemas.openxmlformats.org/drawingml/2006/main">
              <a:ext uri="{FF2B5EF4-FFF2-40B4-BE49-F238E27FC236}">
                <a16:creationId xmlns:a16="http://schemas.microsoft.com/office/drawing/2014/main" id="{CEB4FE89-213D-4F25-ACFF-C9479687A9D5}"/>
              </a:ext>
            </a:extLst>
          </p:cNvPr>
          <p:cNvSpPr>
            <a:spLocks xmlns:a="http://schemas.openxmlformats.org/drawingml/2006/main" noGrp="1"/>
          </p:cNvSpPr>
          <p:nvPr/>
        </p:nvSpPr>
        <p:spPr>
          <a:xfrm xmlns:a="http://schemas.openxmlformats.org/drawingml/2006/main">
            <a:off x="495300" y="666750"/>
            <a:ext cx="8382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.opencode is the agentic control plane above hmopt and MCP tools.</a:t>
            </a:r>
          </a:p>
        </p:txBody>
      </p:sp>
      <p:sp>
        <p:nvSpPr>
          <p:cNvPr id="5" name="">
            <a:extLst xmlns:a="http://schemas.openxmlformats.org/drawingml/2006/main">
              <a:ext uri="{FF2B5EF4-FFF2-40B4-BE49-F238E27FC236}">
                <a16:creationId xmlns:a16="http://schemas.microsoft.com/office/drawing/2014/main" id="{0471D047-18AC-4FE0-8DD2-3C1B088794C3}"/>
              </a:ext>
            </a:extLst>
          </p:cNvPr>
          <p:cNvSpPr>
            <a:spLocks xmlns:a="http://schemas.openxmlformats.org/drawingml/2006/main" noGrp="1"/>
          </p:cNvSpPr>
          <p:nvPr/>
        </p:nvSpPr>
        <p:spPr>
          <a:xfrm xmlns:a="http://schemas.openxmlformats.org/drawingml/2006/main">
            <a:off x="495300" y="1447800"/>
            <a:ext cx="11201400" cy="14288"/>
          </a:xfrm>
          <a:prstGeom xmlns:a="http://schemas.openxmlformats.org/drawingml/2006/main" prst="rect">
            <a:avLst/>
          </a:prstGeom>
          <a:solidFill xmlns:a="http://schemas.openxmlformats.org/drawingml/2006/main">
            <a:srgbClr val="C9C2B4"/>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49A7666-6CF1-42E6-9BC6-7E14276CB139}"/>
              </a:ext>
            </a:extLst>
          </p:cNvPr>
          <p:cNvSpPr>
            <a:spLocks xmlns:a="http://schemas.openxmlformats.org/drawingml/2006/main" noGrp="1"/>
          </p:cNvSpPr>
          <p:nvPr/>
        </p:nvSpPr>
        <p:spPr>
          <a:xfrm xmlns:a="http://schemas.openxmlformats.org/drawingml/2006/main">
            <a:off x="495300" y="6496050"/>
            <a:ext cx="800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.opencode/README.md; docs/architecture.md</a:t>
            </a:r>
          </a:p>
        </p:txBody>
      </p:sp>
      <p:sp>
        <p:nvSpPr>
          <p:cNvPr id="7" name="">
            <a:extLst xmlns:a="http://schemas.openxmlformats.org/drawingml/2006/main">
              <a:ext uri="{FF2B5EF4-FFF2-40B4-BE49-F238E27FC236}">
                <a16:creationId xmlns:a16="http://schemas.microsoft.com/office/drawing/2014/main" id="{22BB339C-37B1-48FA-BA1D-4D4E39471E2F}"/>
              </a:ext>
            </a:extLst>
          </p:cNvPr>
          <p:cNvSpPr>
            <a:spLocks xmlns:a="http://schemas.openxmlformats.org/drawingml/2006/main" noGrp="1"/>
          </p:cNvSpPr>
          <p:nvPr/>
        </p:nvSpPr>
        <p:spPr>
          <a:xfrm xmlns:a="http://schemas.openxmlformats.org/drawingml/2006/main">
            <a:off x="914400" y="1752600"/>
            <a:ext cx="10363200" cy="685800"/>
          </a:xfrm>
          <a:prstGeom xmlns:a="http://schemas.openxmlformats.org/drawingml/2006/main" prst="rect">
            <a:avLst/>
          </a:prstGeom>
          <a:solidFill xmlns:a="http://schemas.openxmlformats.org/drawingml/2006/main">
            <a:srgbClr val="E3E5F6"/>
          </a:solidFill>
          <a:ln xmlns:a="http://schemas.openxmlformats.org/drawingml/2006/main" w="14288">
            <a:solidFill>
              <a:srgbClr val="3B4AA4"/>
            </a:solidFill>
            <a:prstDash val="solid"/>
          </a:ln>
        </p:spPr>
      </p:sp>
      <p:sp>
        <p:nvSpPr>
          <p:cNvPr id="8" name="">
            <a:extLst xmlns:a="http://schemas.openxmlformats.org/drawingml/2006/main">
              <a:ext uri="{FF2B5EF4-FFF2-40B4-BE49-F238E27FC236}">
                <a16:creationId xmlns:a16="http://schemas.microsoft.com/office/drawing/2014/main" id="{2C9F35B2-8F70-4ACB-80AE-BE75A17314BC}"/>
              </a:ext>
            </a:extLst>
          </p:cNvPr>
          <p:cNvSpPr>
            <a:spLocks xmlns:a="http://schemas.openxmlformats.org/drawingml/2006/main" noGrp="1"/>
          </p:cNvSpPr>
          <p:nvPr/>
        </p:nvSpPr>
        <p:spPr>
          <a:xfrm xmlns:a="http://schemas.openxmlformats.org/drawingml/2006/main">
            <a:off x="914400" y="1752600"/>
            <a:ext cx="1752600" cy="685800"/>
          </a:xfrm>
          <a:prstGeom xmlns:a="http://schemas.openxmlformats.org/drawingml/2006/main" prst="rect">
            <a:avLst/>
          </a:prstGeom>
          <a:solidFill xmlns:a="http://schemas.openxmlformats.org/drawingml/2006/main">
            <a:srgbClr val="3B4AA4"/>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DA02EF0-EF2C-47B3-B7B9-6F6BC492F969}"/>
              </a:ext>
            </a:extLst>
          </p:cNvPr>
          <p:cNvSpPr>
            <a:spLocks xmlns:a="http://schemas.openxmlformats.org/drawingml/2006/main" noGrp="1"/>
          </p:cNvSpPr>
          <p:nvPr/>
        </p:nvSpPr>
        <p:spPr>
          <a:xfrm xmlns:a="http://schemas.openxmlformats.org/drawingml/2006/main">
            <a:off x="1066800" y="1905000"/>
            <a:ext cx="14478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.opencode harness</a:t>
            </a:r>
          </a:p>
        </p:txBody>
      </p:sp>
      <p:sp>
        <p:nvSpPr>
          <p:cNvPr id="10" name="">
            <a:extLst xmlns:a="http://schemas.openxmlformats.org/drawingml/2006/main">
              <a:ext uri="{FF2B5EF4-FFF2-40B4-BE49-F238E27FC236}">
                <a16:creationId xmlns:a16="http://schemas.microsoft.com/office/drawing/2014/main" id="{3ABB6618-2EB5-4B04-A9E9-83DF2718C80E}"/>
              </a:ext>
            </a:extLst>
          </p:cNvPr>
          <p:cNvSpPr>
            <a:spLocks xmlns:a="http://schemas.openxmlformats.org/drawingml/2006/main" noGrp="1"/>
          </p:cNvSpPr>
          <p:nvPr/>
        </p:nvSpPr>
        <p:spPr>
          <a:xfrm xmlns:a="http://schemas.openxmlformats.org/drawingml/2006/main">
            <a:off x="2914650" y="1943100"/>
            <a:ext cx="7905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os-opt-manager, specialist agents, gates, skills, memory, artifacts</a:t>
            </a:r>
          </a:p>
        </p:txBody>
      </p:sp>
      <p:sp>
        <p:nvSpPr>
          <p:cNvPr id="11" name="">
            <a:extLst xmlns:a="http://schemas.openxmlformats.org/drawingml/2006/main">
              <a:ext uri="{FF2B5EF4-FFF2-40B4-BE49-F238E27FC236}">
                <a16:creationId xmlns:a16="http://schemas.microsoft.com/office/drawing/2014/main" id="{B1F817CA-4C84-4E5E-9702-26ABF3803E9C}"/>
              </a:ext>
            </a:extLst>
          </p:cNvPr>
          <p:cNvSpPr>
            <a:spLocks xmlns:a="http://schemas.openxmlformats.org/drawingml/2006/main" noGrp="1"/>
          </p:cNvSpPr>
          <p:nvPr/>
        </p:nvSpPr>
        <p:spPr>
          <a:xfrm xmlns:a="http://schemas.openxmlformats.org/drawingml/2006/main">
            <a:off x="4838700" y="2495550"/>
            <a:ext cx="2476500" cy="247650"/>
          </a:xfrm>
          <a:prstGeom xmlns:a="http://schemas.openxmlformats.org/drawingml/2006/main" prst="rect">
            <a:avLst/>
          </a:prstGeom>
          <a:solidFill xmlns:a="http://schemas.openxmlformats.org/drawingml/2006/main">
            <a:srgbClr val="ECE7DC"/>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C622D49D-A760-4AE0-ADEC-19D88E86CFA6}"/>
              </a:ext>
            </a:extLst>
          </p:cNvPr>
          <p:cNvSpPr>
            <a:spLocks xmlns:a="http://schemas.openxmlformats.org/drawingml/2006/main" noGrp="1"/>
          </p:cNvSpPr>
          <p:nvPr/>
        </p:nvSpPr>
        <p:spPr>
          <a:xfrm xmlns:a="http://schemas.openxmlformats.org/drawingml/2006/main">
            <a:off x="4914900" y="2543175"/>
            <a:ext cx="2324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788" b="1">
                <a:solidFill>
                  <a:srgbClr val="68707E"/>
                </a:solidFill>
                <a:latin typeface="Aptos"/>
                <a:ea typeface="Aptos"/>
                <a:cs typeface="Aptos"/>
              </a:defRPr>
            </a:pPr>
            <a:r>
              <a:rPr sz="788" b="1">
                <a:solidFill>
                  <a:srgbClr val="68707E"/>
                </a:solidFill>
                <a:latin typeface="Aptos"/>
                <a:ea typeface="Aptos"/>
                <a:cs typeface="Aptos"/>
              </a:rPr>
              <a:t>calls / produces context for</a:t>
            </a:r>
          </a:p>
        </p:txBody>
      </p:sp>
      <p:sp>
        <p:nvSpPr>
          <p:cNvPr id="13" name="">
            <a:extLst xmlns:a="http://schemas.openxmlformats.org/drawingml/2006/main">
              <a:ext uri="{FF2B5EF4-FFF2-40B4-BE49-F238E27FC236}">
                <a16:creationId xmlns:a16="http://schemas.microsoft.com/office/drawing/2014/main" id="{5B80AC8B-A4DF-42DA-AF35-26DA8F666125}"/>
              </a:ext>
            </a:extLst>
          </p:cNvPr>
          <p:cNvSpPr>
            <a:spLocks xmlns:a="http://schemas.openxmlformats.org/drawingml/2006/main" noGrp="1"/>
          </p:cNvSpPr>
          <p:nvPr/>
        </p:nvSpPr>
        <p:spPr>
          <a:xfrm xmlns:a="http://schemas.openxmlformats.org/drawingml/2006/main">
            <a:off x="914400" y="2752725"/>
            <a:ext cx="10363200" cy="685800"/>
          </a:xfrm>
          <a:prstGeom xmlns:a="http://schemas.openxmlformats.org/drawingml/2006/main" prst="rect">
            <a:avLst/>
          </a:prstGeom>
          <a:solidFill xmlns:a="http://schemas.openxmlformats.org/drawingml/2006/main">
            <a:srgbClr val="DCEEEB"/>
          </a:solidFill>
          <a:ln xmlns:a="http://schemas.openxmlformats.org/drawingml/2006/main" w="14288">
            <a:solidFill>
              <a:srgbClr val="0E7C7B"/>
            </a:solidFill>
            <a:prstDash val="solid"/>
          </a:ln>
        </p:spPr>
      </p:sp>
      <p:sp>
        <p:nvSpPr>
          <p:cNvPr id="14" name="">
            <a:extLst xmlns:a="http://schemas.openxmlformats.org/drawingml/2006/main">
              <a:ext uri="{FF2B5EF4-FFF2-40B4-BE49-F238E27FC236}">
                <a16:creationId xmlns:a16="http://schemas.microsoft.com/office/drawing/2014/main" id="{AA990444-7D1C-4FA1-BE6A-8F7FB5AA4640}"/>
              </a:ext>
            </a:extLst>
          </p:cNvPr>
          <p:cNvSpPr>
            <a:spLocks xmlns:a="http://schemas.openxmlformats.org/drawingml/2006/main" noGrp="1"/>
          </p:cNvSpPr>
          <p:nvPr/>
        </p:nvSpPr>
        <p:spPr>
          <a:xfrm xmlns:a="http://schemas.openxmlformats.org/drawingml/2006/main">
            <a:off x="914400" y="2752725"/>
            <a:ext cx="1752600" cy="6858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97B32DCF-18AA-47B5-841A-6A6B1B22D4B7}"/>
              </a:ext>
            </a:extLst>
          </p:cNvPr>
          <p:cNvSpPr>
            <a:spLocks xmlns:a="http://schemas.openxmlformats.org/drawingml/2006/main" noGrp="1"/>
          </p:cNvSpPr>
          <p:nvPr/>
        </p:nvSpPr>
        <p:spPr>
          <a:xfrm xmlns:a="http://schemas.openxmlformats.org/drawingml/2006/main">
            <a:off x="1066800" y="2905125"/>
            <a:ext cx="14478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MCP bridge</a:t>
            </a:r>
          </a:p>
        </p:txBody>
      </p:sp>
      <p:sp>
        <p:nvSpPr>
          <p:cNvPr id="16" name="">
            <a:extLst xmlns:a="http://schemas.openxmlformats.org/drawingml/2006/main">
              <a:ext uri="{FF2B5EF4-FFF2-40B4-BE49-F238E27FC236}">
                <a16:creationId xmlns:a16="http://schemas.microsoft.com/office/drawing/2014/main" id="{BBEEE3D7-6101-4DD0-9465-DE77D852FEB7}"/>
              </a:ext>
            </a:extLst>
          </p:cNvPr>
          <p:cNvSpPr>
            <a:spLocks xmlns:a="http://schemas.openxmlformats.org/drawingml/2006/main" noGrp="1"/>
          </p:cNvSpPr>
          <p:nvPr/>
        </p:nvSpPr>
        <p:spPr>
          <a:xfrm xmlns:a="http://schemas.openxmlformats.org/drawingml/2006/main">
            <a:off x="2914650" y="2943225"/>
            <a:ext cx="7905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Sequential Thinking, Kernel Index, Build, Flash, Auto-Test, Git</a:t>
            </a:r>
          </a:p>
        </p:txBody>
      </p:sp>
      <p:sp>
        <p:nvSpPr>
          <p:cNvPr id="17" name="">
            <a:extLst xmlns:a="http://schemas.openxmlformats.org/drawingml/2006/main">
              <a:ext uri="{FF2B5EF4-FFF2-40B4-BE49-F238E27FC236}">
                <a16:creationId xmlns:a16="http://schemas.microsoft.com/office/drawing/2014/main" id="{E989AD54-B482-473A-8894-4CA092DE3ADB}"/>
              </a:ext>
            </a:extLst>
          </p:cNvPr>
          <p:cNvSpPr>
            <a:spLocks xmlns:a="http://schemas.openxmlformats.org/drawingml/2006/main" noGrp="1"/>
          </p:cNvSpPr>
          <p:nvPr/>
        </p:nvSpPr>
        <p:spPr>
          <a:xfrm xmlns:a="http://schemas.openxmlformats.org/drawingml/2006/main">
            <a:off x="4838700" y="3495675"/>
            <a:ext cx="2476500" cy="247650"/>
          </a:xfrm>
          <a:prstGeom xmlns:a="http://schemas.openxmlformats.org/drawingml/2006/main" prst="rect">
            <a:avLst/>
          </a:prstGeom>
          <a:solidFill xmlns:a="http://schemas.openxmlformats.org/drawingml/2006/main">
            <a:srgbClr val="ECE7DC"/>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EAD8108-F86C-4584-9EA3-4A9F9E2BD24B}"/>
              </a:ext>
            </a:extLst>
          </p:cNvPr>
          <p:cNvSpPr>
            <a:spLocks xmlns:a="http://schemas.openxmlformats.org/drawingml/2006/main" noGrp="1"/>
          </p:cNvSpPr>
          <p:nvPr/>
        </p:nvSpPr>
        <p:spPr>
          <a:xfrm xmlns:a="http://schemas.openxmlformats.org/drawingml/2006/main">
            <a:off x="4914900" y="3543300"/>
            <a:ext cx="2324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788" b="1">
                <a:solidFill>
                  <a:srgbClr val="68707E"/>
                </a:solidFill>
                <a:latin typeface="Aptos"/>
                <a:ea typeface="Aptos"/>
                <a:cs typeface="Aptos"/>
              </a:defRPr>
            </a:pPr>
            <a:r>
              <a:rPr sz="788" b="1">
                <a:solidFill>
                  <a:srgbClr val="68707E"/>
                </a:solidFill>
                <a:latin typeface="Aptos"/>
                <a:ea typeface="Aptos"/>
                <a:cs typeface="Aptos"/>
              </a:rPr>
              <a:t>calls / produces context for</a:t>
            </a:r>
          </a:p>
        </p:txBody>
      </p:sp>
      <p:sp>
        <p:nvSpPr>
          <p:cNvPr id="19" name="">
            <a:extLst xmlns:a="http://schemas.openxmlformats.org/drawingml/2006/main">
              <a:ext uri="{FF2B5EF4-FFF2-40B4-BE49-F238E27FC236}">
                <a16:creationId xmlns:a16="http://schemas.microsoft.com/office/drawing/2014/main" id="{C3EF286A-AFE3-4C03-B0AC-F10D409B6645}"/>
              </a:ext>
            </a:extLst>
          </p:cNvPr>
          <p:cNvSpPr>
            <a:spLocks xmlns:a="http://schemas.openxmlformats.org/drawingml/2006/main" noGrp="1"/>
          </p:cNvSpPr>
          <p:nvPr/>
        </p:nvSpPr>
        <p:spPr>
          <a:xfrm xmlns:a="http://schemas.openxmlformats.org/drawingml/2006/main">
            <a:off x="914400" y="3752850"/>
            <a:ext cx="10363200" cy="685800"/>
          </a:xfrm>
          <a:prstGeom xmlns:a="http://schemas.openxmlformats.org/drawingml/2006/main" prst="rect">
            <a:avLst/>
          </a:prstGeom>
          <a:solidFill xmlns:a="http://schemas.openxmlformats.org/drawingml/2006/main">
            <a:srgbClr val="E3EBD8"/>
          </a:solidFill>
          <a:ln xmlns:a="http://schemas.openxmlformats.org/drawingml/2006/main" w="14288">
            <a:solidFill>
              <a:srgbClr val="5E7E35"/>
            </a:solidFill>
            <a:prstDash val="solid"/>
          </a:ln>
        </p:spPr>
      </p:sp>
      <p:sp>
        <p:nvSpPr>
          <p:cNvPr id="20" name="">
            <a:extLst xmlns:a="http://schemas.openxmlformats.org/drawingml/2006/main">
              <a:ext uri="{FF2B5EF4-FFF2-40B4-BE49-F238E27FC236}">
                <a16:creationId xmlns:a16="http://schemas.microsoft.com/office/drawing/2014/main" id="{68A198E0-E585-41FA-BEFF-F2082D181D67}"/>
              </a:ext>
            </a:extLst>
          </p:cNvPr>
          <p:cNvSpPr>
            <a:spLocks xmlns:a="http://schemas.openxmlformats.org/drawingml/2006/main" noGrp="1"/>
          </p:cNvSpPr>
          <p:nvPr/>
        </p:nvSpPr>
        <p:spPr>
          <a:xfrm xmlns:a="http://schemas.openxmlformats.org/drawingml/2006/main">
            <a:off x="914400" y="3752850"/>
            <a:ext cx="1752600" cy="685800"/>
          </a:xfrm>
          <a:prstGeom xmlns:a="http://schemas.openxmlformats.org/drawingml/2006/main" prst="rect">
            <a:avLst/>
          </a:prstGeom>
          <a:solidFill xmlns:a="http://schemas.openxmlformats.org/drawingml/2006/main">
            <a:srgbClr val="5E7E35"/>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1B6298CD-1B80-443E-82E9-D2389A59DAC1}"/>
              </a:ext>
            </a:extLst>
          </p:cNvPr>
          <p:cNvSpPr>
            <a:spLocks xmlns:a="http://schemas.openxmlformats.org/drawingml/2006/main" noGrp="1"/>
          </p:cNvSpPr>
          <p:nvPr/>
        </p:nvSpPr>
        <p:spPr>
          <a:xfrm xmlns:a="http://schemas.openxmlformats.org/drawingml/2006/main">
            <a:off x="1066800" y="3905250"/>
            <a:ext cx="14478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hmopt platform</a:t>
            </a:r>
          </a:p>
        </p:txBody>
      </p:sp>
      <p:sp>
        <p:nvSpPr>
          <p:cNvPr id="22" name="">
            <a:extLst xmlns:a="http://schemas.openxmlformats.org/drawingml/2006/main">
              <a:ext uri="{FF2B5EF4-FFF2-40B4-BE49-F238E27FC236}">
                <a16:creationId xmlns:a16="http://schemas.microsoft.com/office/drawing/2014/main" id="{394E3139-AF90-4E38-9277-F487A88AF4B1}"/>
              </a:ext>
            </a:extLst>
          </p:cNvPr>
          <p:cNvSpPr>
            <a:spLocks xmlns:a="http://schemas.openxmlformats.org/drawingml/2006/main" noGrp="1"/>
          </p:cNvSpPr>
          <p:nvPr/>
        </p:nvSpPr>
        <p:spPr>
          <a:xfrm xmlns:a="http://schemas.openxmlformats.org/drawingml/2006/main">
            <a:off x="2914650" y="3943350"/>
            <a:ext cx="7905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CLI, static/runtime indexes, artifact parsing, SQLite runs, REST API</a:t>
            </a:r>
          </a:p>
        </p:txBody>
      </p:sp>
      <p:sp>
        <p:nvSpPr>
          <p:cNvPr id="23" name="">
            <a:extLst xmlns:a="http://schemas.openxmlformats.org/drawingml/2006/main">
              <a:ext uri="{FF2B5EF4-FFF2-40B4-BE49-F238E27FC236}">
                <a16:creationId xmlns:a16="http://schemas.microsoft.com/office/drawing/2014/main" id="{2D32BD96-21FC-4D4C-A598-6FC980380BE2}"/>
              </a:ext>
            </a:extLst>
          </p:cNvPr>
          <p:cNvSpPr>
            <a:spLocks xmlns:a="http://schemas.openxmlformats.org/drawingml/2006/main" noGrp="1"/>
          </p:cNvSpPr>
          <p:nvPr/>
        </p:nvSpPr>
        <p:spPr>
          <a:xfrm xmlns:a="http://schemas.openxmlformats.org/drawingml/2006/main">
            <a:off x="4838700" y="4495800"/>
            <a:ext cx="2476500" cy="247650"/>
          </a:xfrm>
          <a:prstGeom xmlns:a="http://schemas.openxmlformats.org/drawingml/2006/main" prst="rect">
            <a:avLst/>
          </a:prstGeom>
          <a:solidFill xmlns:a="http://schemas.openxmlformats.org/drawingml/2006/main">
            <a:srgbClr val="ECE7DC"/>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2C751B8C-7A7B-4CC0-9684-4CDB1CE08709}"/>
              </a:ext>
            </a:extLst>
          </p:cNvPr>
          <p:cNvSpPr>
            <a:spLocks xmlns:a="http://schemas.openxmlformats.org/drawingml/2006/main" noGrp="1"/>
          </p:cNvSpPr>
          <p:nvPr/>
        </p:nvSpPr>
        <p:spPr>
          <a:xfrm xmlns:a="http://schemas.openxmlformats.org/drawingml/2006/main">
            <a:off x="4914900" y="4543425"/>
            <a:ext cx="2324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788" b="1">
                <a:solidFill>
                  <a:srgbClr val="68707E"/>
                </a:solidFill>
                <a:latin typeface="Aptos"/>
                <a:ea typeface="Aptos"/>
                <a:cs typeface="Aptos"/>
              </a:defRPr>
            </a:pPr>
            <a:r>
              <a:rPr sz="788" b="1">
                <a:solidFill>
                  <a:srgbClr val="68707E"/>
                </a:solidFill>
                <a:latin typeface="Aptos"/>
                <a:ea typeface="Aptos"/>
                <a:cs typeface="Aptos"/>
              </a:rPr>
              <a:t>calls / produces context for</a:t>
            </a:r>
          </a:p>
        </p:txBody>
      </p:sp>
      <p:sp>
        <p:nvSpPr>
          <p:cNvPr id="25" name="">
            <a:extLst xmlns:a="http://schemas.openxmlformats.org/drawingml/2006/main">
              <a:ext uri="{FF2B5EF4-FFF2-40B4-BE49-F238E27FC236}">
                <a16:creationId xmlns:a16="http://schemas.microsoft.com/office/drawing/2014/main" id="{65B454E8-04B3-4764-99EB-ABBAF06390D6}"/>
              </a:ext>
            </a:extLst>
          </p:cNvPr>
          <p:cNvSpPr>
            <a:spLocks xmlns:a="http://schemas.openxmlformats.org/drawingml/2006/main" noGrp="1"/>
          </p:cNvSpPr>
          <p:nvPr/>
        </p:nvSpPr>
        <p:spPr>
          <a:xfrm xmlns:a="http://schemas.openxmlformats.org/drawingml/2006/main">
            <a:off x="914400" y="4752975"/>
            <a:ext cx="10363200" cy="685800"/>
          </a:xfrm>
          <a:prstGeom xmlns:a="http://schemas.openxmlformats.org/drawingml/2006/main" prst="rect">
            <a:avLst/>
          </a:prstGeom>
          <a:solidFill xmlns:a="http://schemas.openxmlformats.org/drawingml/2006/main">
            <a:srgbClr val="F5E5C8"/>
          </a:solidFill>
          <a:ln xmlns:a="http://schemas.openxmlformats.org/drawingml/2006/main" w="14288">
            <a:solidFill>
              <a:srgbClr val="D98B21"/>
            </a:solidFill>
            <a:prstDash val="solid"/>
          </a:ln>
        </p:spPr>
      </p:sp>
      <p:sp>
        <p:nvSpPr>
          <p:cNvPr id="26" name="">
            <a:extLst xmlns:a="http://schemas.openxmlformats.org/drawingml/2006/main">
              <a:ext uri="{FF2B5EF4-FFF2-40B4-BE49-F238E27FC236}">
                <a16:creationId xmlns:a16="http://schemas.microsoft.com/office/drawing/2014/main" id="{C303BC79-B994-48A1-A6A4-3507B6E98DE6}"/>
              </a:ext>
            </a:extLst>
          </p:cNvPr>
          <p:cNvSpPr>
            <a:spLocks xmlns:a="http://schemas.openxmlformats.org/drawingml/2006/main" noGrp="1"/>
          </p:cNvSpPr>
          <p:nvPr/>
        </p:nvSpPr>
        <p:spPr>
          <a:xfrm xmlns:a="http://schemas.openxmlformats.org/drawingml/2006/main">
            <a:off x="914400" y="4752975"/>
            <a:ext cx="1752600" cy="685800"/>
          </a:xfrm>
          <a:prstGeom xmlns:a="http://schemas.openxmlformats.org/drawingml/2006/main" prst="rect">
            <a:avLst/>
          </a:prstGeom>
          <a:solidFill xmlns:a="http://schemas.openxmlformats.org/drawingml/2006/main">
            <a:srgbClr val="D98B21"/>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E06EA93A-DD9F-42B6-97CD-AE13E18F9D91}"/>
              </a:ext>
            </a:extLst>
          </p:cNvPr>
          <p:cNvSpPr>
            <a:spLocks xmlns:a="http://schemas.openxmlformats.org/drawingml/2006/main" noGrp="1"/>
          </p:cNvSpPr>
          <p:nvPr/>
        </p:nvSpPr>
        <p:spPr>
          <a:xfrm xmlns:a="http://schemas.openxmlformats.org/drawingml/2006/main">
            <a:off x="1066800" y="4905375"/>
            <a:ext cx="14478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Target system</a:t>
            </a:r>
          </a:p>
        </p:txBody>
      </p:sp>
      <p:sp>
        <p:nvSpPr>
          <p:cNvPr id="28" name="">
            <a:extLst xmlns:a="http://schemas.openxmlformats.org/drawingml/2006/main">
              <a:ext uri="{FF2B5EF4-FFF2-40B4-BE49-F238E27FC236}">
                <a16:creationId xmlns:a16="http://schemas.microsoft.com/office/drawing/2014/main" id="{F1C2A78D-89A3-4477-93DC-96A9E0639CFA}"/>
              </a:ext>
            </a:extLst>
          </p:cNvPr>
          <p:cNvSpPr>
            <a:spLocks xmlns:a="http://schemas.openxmlformats.org/drawingml/2006/main" noGrp="1"/>
          </p:cNvSpPr>
          <p:nvPr/>
        </p:nvSpPr>
        <p:spPr>
          <a:xfrm xmlns:a="http://schemas.openxmlformats.org/drawingml/2006/main">
            <a:off x="2914650" y="4943475"/>
            <a:ext cx="7905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hm-verif-kernel source tree plus real device for flash/test</a:t>
            </a:r>
          </a:p>
        </p:txBody>
      </p:sp>
      <p:sp>
        <p:nvSpPr>
          <p:cNvPr id="29" name="">
            <a:extLst xmlns:a="http://schemas.openxmlformats.org/drawingml/2006/main">
              <a:ext uri="{FF2B5EF4-FFF2-40B4-BE49-F238E27FC236}">
                <a16:creationId xmlns:a16="http://schemas.microsoft.com/office/drawing/2014/main" id="{77CF4CB8-E7DA-4FA2-8EEE-9174AAECDAB1}"/>
              </a:ext>
            </a:extLst>
          </p:cNvPr>
          <p:cNvSpPr>
            <a:spLocks xmlns:a="http://schemas.openxmlformats.org/drawingml/2006/main" noGrp="1"/>
          </p:cNvSpPr>
          <p:nvPr/>
        </p:nvSpPr>
        <p:spPr>
          <a:xfrm xmlns:a="http://schemas.openxmlformats.org/drawingml/2006/main">
            <a:off x="1143000" y="5962650"/>
            <a:ext cx="933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7202A"/>
                </a:solidFill>
                <a:latin typeface="Aptos"/>
                <a:ea typeface="Aptos"/>
                <a:cs typeface="Aptos"/>
              </a:defRPr>
            </a:pPr>
            <a:r>
              <a:rPr sz="1350" b="1">
                <a:solidFill>
                  <a:srgbClr val="17202A"/>
                </a:solidFill>
                <a:latin typeface="Aptos"/>
                <a:ea typeface="Aptos"/>
                <a:cs typeface="Aptos"/>
              </a:rPr>
              <a:t>The talk focuses on the top band: how .opencode decides, delegates, validates, and records work.</a:t>
            </a:r>
          </a:p>
        </p:txBody>
      </p:sp>
      <p:sp>
        <p:nvSpPr>
          <p:cNvPr id="30" name="">
            <a:extLst xmlns:a="http://schemas.openxmlformats.org/drawingml/2006/main">
              <a:ext uri="{FF2B5EF4-FFF2-40B4-BE49-F238E27FC236}">
                <a16:creationId xmlns:a16="http://schemas.microsoft.com/office/drawing/2014/main" id="{1FC939C8-0F38-479E-BF7E-1C6433763DF6}"/>
              </a:ext>
            </a:extLst>
          </p:cNvPr>
          <p:cNvSpPr>
            <a:spLocks xmlns:a="http://schemas.openxmlformats.org/drawingml/2006/main" noGrp="1"/>
          </p:cNvSpPr>
          <p:nvPr/>
        </p:nvSpPr>
        <p:spPr>
          <a:xfrm xmlns:a="http://schemas.openxmlformats.org/drawingml/2006/main">
            <a:off x="495300" y="6705600"/>
            <a:ext cx="457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 multi-agent harness</a:t>
            </a:r>
          </a:p>
        </p:txBody>
      </p:sp>
      <p:sp>
        <p:nvSpPr>
          <p:cNvPr id="31" name="">
            <a:extLst xmlns:a="http://schemas.openxmlformats.org/drawingml/2006/main">
              <a:ext uri="{FF2B5EF4-FFF2-40B4-BE49-F238E27FC236}">
                <a16:creationId xmlns:a16="http://schemas.microsoft.com/office/drawing/2014/main" id="{A84F14DD-0AAF-4C28-9222-BD8526C84167}"/>
              </a:ext>
            </a:extLst>
          </p:cNvPr>
          <p:cNvSpPr>
            <a:spLocks xmlns:a="http://schemas.openxmlformats.org/drawingml/2006/main" noGrp="1"/>
          </p:cNvSpPr>
          <p:nvPr/>
        </p:nvSpPr>
        <p:spPr>
          <a:xfrm xmlns:a="http://schemas.openxmlformats.org/drawingml/2006/main">
            <a:off x="10706100" y="6705600"/>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8707E"/>
                </a:solidFill>
                <a:latin typeface="Aptos"/>
                <a:ea typeface="Aptos"/>
                <a:cs typeface="Aptos"/>
              </a:defRPr>
            </a:pPr>
            <a:r>
              <a:rPr sz="713" b="0">
                <a:solidFill>
                  <a:srgbClr val="68707E"/>
                </a:solidFill>
                <a:latin typeface="Aptos"/>
                <a:ea typeface="Aptos"/>
                <a:cs typeface="Aptos"/>
              </a:rPr>
              <a:t>3 / 14</a:t>
            </a:r>
          </a:p>
        </p:txBody>
      </p:sp>
    </p:spTree>
    <p:extLst>
      <p:ext uri="{BB962C8B-B14F-4D97-AF65-F5344CB8AC3E}">
        <p14:creationId xmlns:p14="http://schemas.microsoft.com/office/powerpoint/2010/main" val="10808258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18C420F3-14D3-42A3-8CE7-AFDDA4684B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EDBB463B-EC35-4905-AAB5-9A4865B7125B}"/>
              </a:ext>
            </a:extLst>
          </p:cNvPr>
          <p:cNvSpPr>
            <a:spLocks xmlns:a="http://schemas.openxmlformats.org/drawingml/2006/main" noGrp="1"/>
          </p:cNvSpPr>
          <p:nvPr/>
        </p:nvSpPr>
        <p:spPr>
          <a:xfrm xmlns:a="http://schemas.openxmlformats.org/drawingml/2006/main">
            <a:off x="495300" y="419100"/>
            <a:ext cx="304800" cy="381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3B9B4057-3027-49C5-8BE6-EBCE5414C6B1}"/>
              </a:ext>
            </a:extLst>
          </p:cNvPr>
          <p:cNvSpPr>
            <a:spLocks xmlns:a="http://schemas.openxmlformats.org/drawingml/2006/main" noGrp="1"/>
          </p:cNvSpPr>
          <p:nvPr/>
        </p:nvSpPr>
        <p:spPr>
          <a:xfrm xmlns:a="http://schemas.openxmlformats.org/drawingml/2006/main">
            <a:off x="895350" y="285750"/>
            <a:ext cx="495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E7C7B"/>
                </a:solidFill>
                <a:latin typeface="Aptos"/>
                <a:ea typeface="Aptos"/>
                <a:cs typeface="Aptos"/>
              </a:defRPr>
            </a:pPr>
            <a:r>
              <a:rPr sz="975" b="1">
                <a:solidFill>
                  <a:srgbClr val="0E7C7B"/>
                </a:solidFill>
                <a:latin typeface="Aptos"/>
                <a:ea typeface="Aptos"/>
                <a:cs typeface="Aptos"/>
              </a:rPr>
              <a:t>PIPELINE SPINE</a:t>
            </a:r>
          </a:p>
        </p:txBody>
      </p:sp>
      <p:sp>
        <p:nvSpPr>
          <p:cNvPr id="4" name="">
            <a:extLst xmlns:a="http://schemas.openxmlformats.org/drawingml/2006/main">
              <a:ext uri="{FF2B5EF4-FFF2-40B4-BE49-F238E27FC236}">
                <a16:creationId xmlns:a16="http://schemas.microsoft.com/office/drawing/2014/main" id="{35FAD41B-9536-43A3-9B34-DF61F7F3EFFE}"/>
              </a:ext>
            </a:extLst>
          </p:cNvPr>
          <p:cNvSpPr>
            <a:spLocks xmlns:a="http://schemas.openxmlformats.org/drawingml/2006/main" noGrp="1"/>
          </p:cNvSpPr>
          <p:nvPr/>
        </p:nvSpPr>
        <p:spPr>
          <a:xfrm xmlns:a="http://schemas.openxmlformats.org/drawingml/2006/main">
            <a:off x="495300" y="666750"/>
            <a:ext cx="8382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The canonical run is a 7-stage gated workflow.</a:t>
            </a:r>
          </a:p>
        </p:txBody>
      </p:sp>
      <p:sp>
        <p:nvSpPr>
          <p:cNvPr id="5" name="">
            <a:extLst xmlns:a="http://schemas.openxmlformats.org/drawingml/2006/main">
              <a:ext uri="{FF2B5EF4-FFF2-40B4-BE49-F238E27FC236}">
                <a16:creationId xmlns:a16="http://schemas.microsoft.com/office/drawing/2014/main" id="{695B39EF-E630-4FC1-9A1A-701547ACDC6B}"/>
              </a:ext>
            </a:extLst>
          </p:cNvPr>
          <p:cNvSpPr>
            <a:spLocks xmlns:a="http://schemas.openxmlformats.org/drawingml/2006/main" noGrp="1"/>
          </p:cNvSpPr>
          <p:nvPr/>
        </p:nvSpPr>
        <p:spPr>
          <a:xfrm xmlns:a="http://schemas.openxmlformats.org/drawingml/2006/main">
            <a:off x="495300" y="1447800"/>
            <a:ext cx="11201400" cy="14288"/>
          </a:xfrm>
          <a:prstGeom xmlns:a="http://schemas.openxmlformats.org/drawingml/2006/main" prst="rect">
            <a:avLst/>
          </a:prstGeom>
          <a:solidFill xmlns:a="http://schemas.openxmlformats.org/drawingml/2006/main">
            <a:srgbClr val="C9C2B4"/>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A2995D2-C81F-4186-852B-2541CA82255B}"/>
              </a:ext>
            </a:extLst>
          </p:cNvPr>
          <p:cNvSpPr>
            <a:spLocks xmlns:a="http://schemas.openxmlformats.org/drawingml/2006/main" noGrp="1"/>
          </p:cNvSpPr>
          <p:nvPr/>
        </p:nvSpPr>
        <p:spPr>
          <a:xfrm xmlns:a="http://schemas.openxmlformats.org/drawingml/2006/main">
            <a:off x="495300" y="6496050"/>
            <a:ext cx="800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.opencode/docs/harness_engineer_system.md; .opencode/skills/stage_gate_enforcement.md</a:t>
            </a:r>
          </a:p>
        </p:txBody>
      </p:sp>
      <p:sp>
        <p:nvSpPr>
          <p:cNvPr id="7" name="">
            <a:extLst xmlns:a="http://schemas.openxmlformats.org/drawingml/2006/main">
              <a:ext uri="{FF2B5EF4-FFF2-40B4-BE49-F238E27FC236}">
                <a16:creationId xmlns:a16="http://schemas.microsoft.com/office/drawing/2014/main" id="{B55A861E-747A-4F28-A7DC-10F3C3390F6C}"/>
              </a:ext>
            </a:extLst>
          </p:cNvPr>
          <p:cNvSpPr>
            <a:spLocks xmlns:a="http://schemas.openxmlformats.org/drawingml/2006/main" noGrp="1"/>
          </p:cNvSpPr>
          <p:nvPr/>
        </p:nvSpPr>
        <p:spPr>
          <a:xfrm xmlns:a="http://schemas.openxmlformats.org/drawingml/2006/main">
            <a:off x="400050" y="2266950"/>
            <a:ext cx="15240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9C2B4"/>
            </a:solidFill>
            <a:prstDash val="solid"/>
          </a:ln>
        </p:spPr>
      </p:sp>
      <p:sp>
        <p:nvSpPr>
          <p:cNvPr id="8" name="">
            <a:extLst xmlns:a="http://schemas.openxmlformats.org/drawingml/2006/main">
              <a:ext uri="{FF2B5EF4-FFF2-40B4-BE49-F238E27FC236}">
                <a16:creationId xmlns:a16="http://schemas.microsoft.com/office/drawing/2014/main" id="{3D32A2B1-BF5F-4760-9993-1927490CDB7B}"/>
              </a:ext>
            </a:extLst>
          </p:cNvPr>
          <p:cNvSpPr>
            <a:spLocks xmlns:a="http://schemas.openxmlformats.org/drawingml/2006/main" noGrp="1"/>
          </p:cNvSpPr>
          <p:nvPr/>
        </p:nvSpPr>
        <p:spPr>
          <a:xfrm xmlns:a="http://schemas.openxmlformats.org/drawingml/2006/main">
            <a:off x="400050" y="2266950"/>
            <a:ext cx="323850" cy="112395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FA260FB-A1A6-48DF-9548-1A8122199AEB}"/>
              </a:ext>
            </a:extLst>
          </p:cNvPr>
          <p:cNvSpPr>
            <a:spLocks xmlns:a="http://schemas.openxmlformats.org/drawingml/2006/main" noGrp="1"/>
          </p:cNvSpPr>
          <p:nvPr/>
        </p:nvSpPr>
        <p:spPr>
          <a:xfrm xmlns:a="http://schemas.openxmlformats.org/drawingml/2006/main">
            <a:off x="400050" y="2714625"/>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A74FF3BF-8617-45AB-8343-3DDC2EC598D2}"/>
              </a:ext>
            </a:extLst>
          </p:cNvPr>
          <p:cNvSpPr>
            <a:spLocks xmlns:a="http://schemas.openxmlformats.org/drawingml/2006/main" noGrp="1"/>
          </p:cNvSpPr>
          <p:nvPr/>
        </p:nvSpPr>
        <p:spPr>
          <a:xfrm xmlns:a="http://schemas.openxmlformats.org/drawingml/2006/main">
            <a:off x="819150" y="2400300"/>
            <a:ext cx="1009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Intake</a:t>
            </a:r>
          </a:p>
        </p:txBody>
      </p:sp>
      <p:sp>
        <p:nvSpPr>
          <p:cNvPr id="11" name="">
            <a:extLst xmlns:a="http://schemas.openxmlformats.org/drawingml/2006/main">
              <a:ext uri="{FF2B5EF4-FFF2-40B4-BE49-F238E27FC236}">
                <a16:creationId xmlns:a16="http://schemas.microsoft.com/office/drawing/2014/main" id="{17306EEE-5FC0-4A8B-951D-FE39F33FA381}"/>
              </a:ext>
            </a:extLst>
          </p:cNvPr>
          <p:cNvSpPr>
            <a:spLocks xmlns:a="http://schemas.openxmlformats.org/drawingml/2006/main" noGrp="1"/>
          </p:cNvSpPr>
          <p:nvPr/>
        </p:nvSpPr>
        <p:spPr>
          <a:xfrm xmlns:a="http://schemas.openxmlformats.org/drawingml/2006/main">
            <a:off x="819150" y="2667000"/>
            <a:ext cx="10096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8707E"/>
                </a:solidFill>
                <a:latin typeface="Aptos"/>
                <a:ea typeface="Aptos"/>
                <a:cs typeface="Aptos"/>
              </a:defRPr>
            </a:pPr>
            <a:r>
              <a:rPr sz="863" b="0">
                <a:solidFill>
                  <a:srgbClr val="68707E"/>
                </a:solidFill>
                <a:latin typeface="Aptos"/>
                <a:ea typeface="Aptos"/>
                <a:cs typeface="Aptos"/>
              </a:rPr>
              <a:t>config, language, route</a:t>
            </a:r>
          </a:p>
        </p:txBody>
      </p:sp>
      <p:sp>
        <p:nvSpPr>
          <p:cNvPr id="12" name="">
            <a:extLst xmlns:a="http://schemas.openxmlformats.org/drawingml/2006/main">
              <a:ext uri="{FF2B5EF4-FFF2-40B4-BE49-F238E27FC236}">
                <a16:creationId xmlns:a16="http://schemas.microsoft.com/office/drawing/2014/main" id="{3B86CDE7-3BCC-40AF-B361-019E53931D4A}"/>
              </a:ext>
            </a:extLst>
          </p:cNvPr>
          <p:cNvSpPr>
            <a:spLocks xmlns:a="http://schemas.openxmlformats.org/drawingml/2006/main" noGrp="1"/>
          </p:cNvSpPr>
          <p:nvPr/>
        </p:nvSpPr>
        <p:spPr>
          <a:xfrm xmlns:a="http://schemas.openxmlformats.org/drawingml/2006/main">
            <a:off x="1943100" y="2695575"/>
            <a:ext cx="114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68707E"/>
                </a:solidFill>
                <a:latin typeface="Aptos"/>
                <a:ea typeface="Aptos"/>
                <a:cs typeface="Aptos"/>
              </a:defRPr>
            </a:pPr>
            <a:r>
              <a:rPr sz="1350" b="1">
                <a:solidFill>
                  <a:srgbClr val="68707E"/>
                </a:solidFill>
                <a:latin typeface="Aptos"/>
                <a:ea typeface="Aptos"/>
                <a:cs typeface="Aptos"/>
              </a:rPr>
              <a:t>&gt;</a:t>
            </a:r>
          </a:p>
        </p:txBody>
      </p:sp>
      <p:sp>
        <p:nvSpPr>
          <p:cNvPr id="13" name="">
            <a:extLst xmlns:a="http://schemas.openxmlformats.org/drawingml/2006/main">
              <a:ext uri="{FF2B5EF4-FFF2-40B4-BE49-F238E27FC236}">
                <a16:creationId xmlns:a16="http://schemas.microsoft.com/office/drawing/2014/main" id="{F9404EF4-57F5-46BF-94F0-5BA39739C29E}"/>
              </a:ext>
            </a:extLst>
          </p:cNvPr>
          <p:cNvSpPr>
            <a:spLocks xmlns:a="http://schemas.openxmlformats.org/drawingml/2006/main" noGrp="1"/>
          </p:cNvSpPr>
          <p:nvPr/>
        </p:nvSpPr>
        <p:spPr>
          <a:xfrm xmlns:a="http://schemas.openxmlformats.org/drawingml/2006/main">
            <a:off x="2076450" y="2266950"/>
            <a:ext cx="15240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9C2B4"/>
            </a:solidFill>
            <a:prstDash val="solid"/>
          </a:ln>
        </p:spPr>
      </p:sp>
      <p:sp>
        <p:nvSpPr>
          <p:cNvPr id="14" name="">
            <a:extLst xmlns:a="http://schemas.openxmlformats.org/drawingml/2006/main">
              <a:ext uri="{FF2B5EF4-FFF2-40B4-BE49-F238E27FC236}">
                <a16:creationId xmlns:a16="http://schemas.microsoft.com/office/drawing/2014/main" id="{1898668A-1013-42A8-A34B-A5444ED1DC7B}"/>
              </a:ext>
            </a:extLst>
          </p:cNvPr>
          <p:cNvSpPr>
            <a:spLocks xmlns:a="http://schemas.openxmlformats.org/drawingml/2006/main" noGrp="1"/>
          </p:cNvSpPr>
          <p:nvPr/>
        </p:nvSpPr>
        <p:spPr>
          <a:xfrm xmlns:a="http://schemas.openxmlformats.org/drawingml/2006/main">
            <a:off x="2076450" y="2266950"/>
            <a:ext cx="323850" cy="112395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37036FCF-1638-4B19-88A8-27E47C1A00B7}"/>
              </a:ext>
            </a:extLst>
          </p:cNvPr>
          <p:cNvSpPr>
            <a:spLocks xmlns:a="http://schemas.openxmlformats.org/drawingml/2006/main" noGrp="1"/>
          </p:cNvSpPr>
          <p:nvPr/>
        </p:nvSpPr>
        <p:spPr>
          <a:xfrm xmlns:a="http://schemas.openxmlformats.org/drawingml/2006/main">
            <a:off x="2076450" y="2714625"/>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4182DAA2-1E96-45E9-B7F7-B6756D9D898B}"/>
              </a:ext>
            </a:extLst>
          </p:cNvPr>
          <p:cNvSpPr>
            <a:spLocks xmlns:a="http://schemas.openxmlformats.org/drawingml/2006/main" noGrp="1"/>
          </p:cNvSpPr>
          <p:nvPr/>
        </p:nvSpPr>
        <p:spPr>
          <a:xfrm xmlns:a="http://schemas.openxmlformats.org/drawingml/2006/main">
            <a:off x="2495550" y="2400300"/>
            <a:ext cx="1009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Research</a:t>
            </a:r>
          </a:p>
        </p:txBody>
      </p:sp>
      <p:sp>
        <p:nvSpPr>
          <p:cNvPr id="17" name="">
            <a:extLst xmlns:a="http://schemas.openxmlformats.org/drawingml/2006/main">
              <a:ext uri="{FF2B5EF4-FFF2-40B4-BE49-F238E27FC236}">
                <a16:creationId xmlns:a16="http://schemas.microsoft.com/office/drawing/2014/main" id="{7CBBE130-6770-4934-BAB1-95FDA00AA4D1}"/>
              </a:ext>
            </a:extLst>
          </p:cNvPr>
          <p:cNvSpPr>
            <a:spLocks xmlns:a="http://schemas.openxmlformats.org/drawingml/2006/main" noGrp="1"/>
          </p:cNvSpPr>
          <p:nvPr/>
        </p:nvSpPr>
        <p:spPr>
          <a:xfrm xmlns:a="http://schemas.openxmlformats.org/drawingml/2006/main">
            <a:off x="2495550" y="2667000"/>
            <a:ext cx="10096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8707E"/>
                </a:solidFill>
                <a:latin typeface="Aptos"/>
                <a:ea typeface="Aptos"/>
                <a:cs typeface="Aptos"/>
              </a:defRPr>
            </a:pPr>
            <a:r>
              <a:rPr sz="863" b="0">
                <a:solidFill>
                  <a:srgbClr val="68707E"/>
                </a:solidFill>
                <a:latin typeface="Aptos"/>
                <a:ea typeface="Aptos"/>
                <a:cs typeface="Aptos"/>
              </a:rPr>
              <a:t>hot path + thesis</a:t>
            </a:r>
          </a:p>
        </p:txBody>
      </p:sp>
      <p:sp>
        <p:nvSpPr>
          <p:cNvPr id="18" name="">
            <a:extLst xmlns:a="http://schemas.openxmlformats.org/drawingml/2006/main">
              <a:ext uri="{FF2B5EF4-FFF2-40B4-BE49-F238E27FC236}">
                <a16:creationId xmlns:a16="http://schemas.microsoft.com/office/drawing/2014/main" id="{EDC68F14-676D-4993-857A-A35140586358}"/>
              </a:ext>
            </a:extLst>
          </p:cNvPr>
          <p:cNvSpPr>
            <a:spLocks xmlns:a="http://schemas.openxmlformats.org/drawingml/2006/main" noGrp="1"/>
          </p:cNvSpPr>
          <p:nvPr/>
        </p:nvSpPr>
        <p:spPr>
          <a:xfrm xmlns:a="http://schemas.openxmlformats.org/drawingml/2006/main">
            <a:off x="3619500" y="2695575"/>
            <a:ext cx="114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68707E"/>
                </a:solidFill>
                <a:latin typeface="Aptos"/>
                <a:ea typeface="Aptos"/>
                <a:cs typeface="Aptos"/>
              </a:defRPr>
            </a:pPr>
            <a:r>
              <a:rPr sz="1350" b="1">
                <a:solidFill>
                  <a:srgbClr val="68707E"/>
                </a:solidFill>
                <a:latin typeface="Aptos"/>
                <a:ea typeface="Aptos"/>
                <a:cs typeface="Aptos"/>
              </a:rPr>
              <a:t>&gt;</a:t>
            </a:r>
          </a:p>
        </p:txBody>
      </p:sp>
      <p:sp>
        <p:nvSpPr>
          <p:cNvPr id="19" name="">
            <a:extLst xmlns:a="http://schemas.openxmlformats.org/drawingml/2006/main">
              <a:ext uri="{FF2B5EF4-FFF2-40B4-BE49-F238E27FC236}">
                <a16:creationId xmlns:a16="http://schemas.microsoft.com/office/drawing/2014/main" id="{2AEF2EF4-B001-472C-A991-9FE412532FC1}"/>
              </a:ext>
            </a:extLst>
          </p:cNvPr>
          <p:cNvSpPr>
            <a:spLocks xmlns:a="http://schemas.openxmlformats.org/drawingml/2006/main" noGrp="1"/>
          </p:cNvSpPr>
          <p:nvPr/>
        </p:nvSpPr>
        <p:spPr>
          <a:xfrm xmlns:a="http://schemas.openxmlformats.org/drawingml/2006/main">
            <a:off x="3752850" y="2266950"/>
            <a:ext cx="15240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9C2B4"/>
            </a:solidFill>
            <a:prstDash val="solid"/>
          </a:ln>
        </p:spPr>
      </p:sp>
      <p:sp>
        <p:nvSpPr>
          <p:cNvPr id="20" name="">
            <a:extLst xmlns:a="http://schemas.openxmlformats.org/drawingml/2006/main">
              <a:ext uri="{FF2B5EF4-FFF2-40B4-BE49-F238E27FC236}">
                <a16:creationId xmlns:a16="http://schemas.microsoft.com/office/drawing/2014/main" id="{61170B43-D721-4CF3-9B02-A81E0A38CFF6}"/>
              </a:ext>
            </a:extLst>
          </p:cNvPr>
          <p:cNvSpPr>
            <a:spLocks xmlns:a="http://schemas.openxmlformats.org/drawingml/2006/main" noGrp="1"/>
          </p:cNvSpPr>
          <p:nvPr/>
        </p:nvSpPr>
        <p:spPr>
          <a:xfrm xmlns:a="http://schemas.openxmlformats.org/drawingml/2006/main">
            <a:off x="3752850" y="2266950"/>
            <a:ext cx="323850" cy="1123950"/>
          </a:xfrm>
          <a:prstGeom xmlns:a="http://schemas.openxmlformats.org/drawingml/2006/main" prst="rect">
            <a:avLst/>
          </a:prstGeom>
          <a:solidFill xmlns:a="http://schemas.openxmlformats.org/drawingml/2006/main">
            <a:srgbClr val="D98B21"/>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22BA70AA-5BDB-420F-810A-016A2BD12121}"/>
              </a:ext>
            </a:extLst>
          </p:cNvPr>
          <p:cNvSpPr>
            <a:spLocks xmlns:a="http://schemas.openxmlformats.org/drawingml/2006/main" noGrp="1"/>
          </p:cNvSpPr>
          <p:nvPr/>
        </p:nvSpPr>
        <p:spPr>
          <a:xfrm xmlns:a="http://schemas.openxmlformats.org/drawingml/2006/main">
            <a:off x="3752850" y="2714625"/>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3</a:t>
            </a:r>
          </a:p>
        </p:txBody>
      </p:sp>
      <p:sp>
        <p:nvSpPr>
          <p:cNvPr id="22" name="">
            <a:extLst xmlns:a="http://schemas.openxmlformats.org/drawingml/2006/main">
              <a:ext uri="{FF2B5EF4-FFF2-40B4-BE49-F238E27FC236}">
                <a16:creationId xmlns:a16="http://schemas.microsoft.com/office/drawing/2014/main" id="{15F2A10C-8316-41CE-8915-40DC1849F695}"/>
              </a:ext>
            </a:extLst>
          </p:cNvPr>
          <p:cNvSpPr>
            <a:spLocks xmlns:a="http://schemas.openxmlformats.org/drawingml/2006/main" noGrp="1"/>
          </p:cNvSpPr>
          <p:nvPr/>
        </p:nvSpPr>
        <p:spPr>
          <a:xfrm xmlns:a="http://schemas.openxmlformats.org/drawingml/2006/main">
            <a:off x="4171950" y="2400300"/>
            <a:ext cx="1009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Plan review</a:t>
            </a:r>
          </a:p>
        </p:txBody>
      </p:sp>
      <p:sp>
        <p:nvSpPr>
          <p:cNvPr id="23" name="">
            <a:extLst xmlns:a="http://schemas.openxmlformats.org/drawingml/2006/main">
              <a:ext uri="{FF2B5EF4-FFF2-40B4-BE49-F238E27FC236}">
                <a16:creationId xmlns:a16="http://schemas.microsoft.com/office/drawing/2014/main" id="{9EDD9370-8A56-4E71-8271-15E1DBF43060}"/>
              </a:ext>
            </a:extLst>
          </p:cNvPr>
          <p:cNvSpPr>
            <a:spLocks xmlns:a="http://schemas.openxmlformats.org/drawingml/2006/main" noGrp="1"/>
          </p:cNvSpPr>
          <p:nvPr/>
        </p:nvSpPr>
        <p:spPr>
          <a:xfrm xmlns:a="http://schemas.openxmlformats.org/drawingml/2006/main">
            <a:off x="4171950" y="2667000"/>
            <a:ext cx="10096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8707E"/>
                </a:solidFill>
                <a:latin typeface="Aptos"/>
                <a:ea typeface="Aptos"/>
                <a:cs typeface="Aptos"/>
              </a:defRPr>
            </a:pPr>
            <a:r>
              <a:rPr sz="863" b="0">
                <a:solidFill>
                  <a:srgbClr val="68707E"/>
                </a:solidFill>
                <a:latin typeface="Aptos"/>
                <a:ea typeface="Aptos"/>
                <a:cs typeface="Aptos"/>
              </a:rPr>
              <a:t>approval gate</a:t>
            </a:r>
          </a:p>
        </p:txBody>
      </p:sp>
      <p:sp>
        <p:nvSpPr>
          <p:cNvPr id="24" name="">
            <a:extLst xmlns:a="http://schemas.openxmlformats.org/drawingml/2006/main">
              <a:ext uri="{FF2B5EF4-FFF2-40B4-BE49-F238E27FC236}">
                <a16:creationId xmlns:a16="http://schemas.microsoft.com/office/drawing/2014/main" id="{B1D12CA8-FCBC-4DD0-AC90-9446A078FCD4}"/>
              </a:ext>
            </a:extLst>
          </p:cNvPr>
          <p:cNvSpPr>
            <a:spLocks xmlns:a="http://schemas.openxmlformats.org/drawingml/2006/main" noGrp="1"/>
          </p:cNvSpPr>
          <p:nvPr/>
        </p:nvSpPr>
        <p:spPr>
          <a:xfrm xmlns:a="http://schemas.openxmlformats.org/drawingml/2006/main">
            <a:off x="5295900" y="2695575"/>
            <a:ext cx="114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68707E"/>
                </a:solidFill>
                <a:latin typeface="Aptos"/>
                <a:ea typeface="Aptos"/>
                <a:cs typeface="Aptos"/>
              </a:defRPr>
            </a:pPr>
            <a:r>
              <a:rPr sz="1350" b="1">
                <a:solidFill>
                  <a:srgbClr val="68707E"/>
                </a:solidFill>
                <a:latin typeface="Aptos"/>
                <a:ea typeface="Aptos"/>
                <a:cs typeface="Aptos"/>
              </a:rPr>
              <a:t>&gt;</a:t>
            </a:r>
          </a:p>
        </p:txBody>
      </p:sp>
      <p:sp>
        <p:nvSpPr>
          <p:cNvPr id="25" name="">
            <a:extLst xmlns:a="http://schemas.openxmlformats.org/drawingml/2006/main">
              <a:ext uri="{FF2B5EF4-FFF2-40B4-BE49-F238E27FC236}">
                <a16:creationId xmlns:a16="http://schemas.microsoft.com/office/drawing/2014/main" id="{A7B3E6AE-EBD2-48DC-9EC1-5631E4712343}"/>
              </a:ext>
            </a:extLst>
          </p:cNvPr>
          <p:cNvSpPr>
            <a:spLocks xmlns:a="http://schemas.openxmlformats.org/drawingml/2006/main" noGrp="1"/>
          </p:cNvSpPr>
          <p:nvPr/>
        </p:nvSpPr>
        <p:spPr>
          <a:xfrm xmlns:a="http://schemas.openxmlformats.org/drawingml/2006/main">
            <a:off x="5429250" y="2266950"/>
            <a:ext cx="15240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9C2B4"/>
            </a:solidFill>
            <a:prstDash val="solid"/>
          </a:ln>
        </p:spPr>
      </p:sp>
      <p:sp>
        <p:nvSpPr>
          <p:cNvPr id="26" name="">
            <a:extLst xmlns:a="http://schemas.openxmlformats.org/drawingml/2006/main">
              <a:ext uri="{FF2B5EF4-FFF2-40B4-BE49-F238E27FC236}">
                <a16:creationId xmlns:a16="http://schemas.microsoft.com/office/drawing/2014/main" id="{083BD7BB-1918-4748-921F-89AF4268CF0A}"/>
              </a:ext>
            </a:extLst>
          </p:cNvPr>
          <p:cNvSpPr>
            <a:spLocks xmlns:a="http://schemas.openxmlformats.org/drawingml/2006/main" noGrp="1"/>
          </p:cNvSpPr>
          <p:nvPr/>
        </p:nvSpPr>
        <p:spPr>
          <a:xfrm xmlns:a="http://schemas.openxmlformats.org/drawingml/2006/main">
            <a:off x="5429250" y="2266950"/>
            <a:ext cx="323850" cy="112395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AABFA95D-4690-4524-A532-73D6D8644E70}"/>
              </a:ext>
            </a:extLst>
          </p:cNvPr>
          <p:cNvSpPr>
            <a:spLocks xmlns:a="http://schemas.openxmlformats.org/drawingml/2006/main" noGrp="1"/>
          </p:cNvSpPr>
          <p:nvPr/>
        </p:nvSpPr>
        <p:spPr>
          <a:xfrm xmlns:a="http://schemas.openxmlformats.org/drawingml/2006/main">
            <a:off x="5429250" y="2714625"/>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4</a:t>
            </a:r>
          </a:p>
        </p:txBody>
      </p:sp>
      <p:sp>
        <p:nvSpPr>
          <p:cNvPr id="28" name="">
            <a:extLst xmlns:a="http://schemas.openxmlformats.org/drawingml/2006/main">
              <a:ext uri="{FF2B5EF4-FFF2-40B4-BE49-F238E27FC236}">
                <a16:creationId xmlns:a16="http://schemas.microsoft.com/office/drawing/2014/main" id="{32628FDC-C0A7-4225-8A55-944C3F024325}"/>
              </a:ext>
            </a:extLst>
          </p:cNvPr>
          <p:cNvSpPr>
            <a:spLocks xmlns:a="http://schemas.openxmlformats.org/drawingml/2006/main" noGrp="1"/>
          </p:cNvSpPr>
          <p:nvPr/>
        </p:nvSpPr>
        <p:spPr>
          <a:xfrm xmlns:a="http://schemas.openxmlformats.org/drawingml/2006/main">
            <a:off x="5848350" y="2400300"/>
            <a:ext cx="1009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Code</a:t>
            </a:r>
          </a:p>
        </p:txBody>
      </p:sp>
      <p:sp>
        <p:nvSpPr>
          <p:cNvPr id="29" name="">
            <a:extLst xmlns:a="http://schemas.openxmlformats.org/drawingml/2006/main">
              <a:ext uri="{FF2B5EF4-FFF2-40B4-BE49-F238E27FC236}">
                <a16:creationId xmlns:a16="http://schemas.microsoft.com/office/drawing/2014/main" id="{787B34C8-838D-451E-9966-6AEEC2167FD5}"/>
              </a:ext>
            </a:extLst>
          </p:cNvPr>
          <p:cNvSpPr>
            <a:spLocks xmlns:a="http://schemas.openxmlformats.org/drawingml/2006/main" noGrp="1"/>
          </p:cNvSpPr>
          <p:nvPr/>
        </p:nvSpPr>
        <p:spPr>
          <a:xfrm xmlns:a="http://schemas.openxmlformats.org/drawingml/2006/main">
            <a:off x="5848350" y="2667000"/>
            <a:ext cx="10096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8707E"/>
                </a:solidFill>
                <a:latin typeface="Aptos"/>
                <a:ea typeface="Aptos"/>
                <a:cs typeface="Aptos"/>
              </a:defRPr>
            </a:pPr>
            <a:r>
              <a:rPr sz="863" b="0">
                <a:solidFill>
                  <a:srgbClr val="68707E"/>
                </a:solidFill>
                <a:latin typeface="Aptos"/>
                <a:ea typeface="Aptos"/>
                <a:cs typeface="Aptos"/>
              </a:rPr>
              <a:t>minimal patch</a:t>
            </a:r>
          </a:p>
        </p:txBody>
      </p:sp>
      <p:sp>
        <p:nvSpPr>
          <p:cNvPr id="30" name="">
            <a:extLst xmlns:a="http://schemas.openxmlformats.org/drawingml/2006/main">
              <a:ext uri="{FF2B5EF4-FFF2-40B4-BE49-F238E27FC236}">
                <a16:creationId xmlns:a16="http://schemas.microsoft.com/office/drawing/2014/main" id="{E9DA4B74-9B67-4C07-AF99-284992E8F866}"/>
              </a:ext>
            </a:extLst>
          </p:cNvPr>
          <p:cNvSpPr>
            <a:spLocks xmlns:a="http://schemas.openxmlformats.org/drawingml/2006/main" noGrp="1"/>
          </p:cNvSpPr>
          <p:nvPr/>
        </p:nvSpPr>
        <p:spPr>
          <a:xfrm xmlns:a="http://schemas.openxmlformats.org/drawingml/2006/main">
            <a:off x="6972300" y="2695575"/>
            <a:ext cx="114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68707E"/>
                </a:solidFill>
                <a:latin typeface="Aptos"/>
                <a:ea typeface="Aptos"/>
                <a:cs typeface="Aptos"/>
              </a:defRPr>
            </a:pPr>
            <a:r>
              <a:rPr sz="1350" b="1">
                <a:solidFill>
                  <a:srgbClr val="68707E"/>
                </a:solidFill>
                <a:latin typeface="Aptos"/>
                <a:ea typeface="Aptos"/>
                <a:cs typeface="Aptos"/>
              </a:rPr>
              <a:t>&gt;</a:t>
            </a:r>
          </a:p>
        </p:txBody>
      </p:sp>
      <p:sp>
        <p:nvSpPr>
          <p:cNvPr id="31" name="">
            <a:extLst xmlns:a="http://schemas.openxmlformats.org/drawingml/2006/main">
              <a:ext uri="{FF2B5EF4-FFF2-40B4-BE49-F238E27FC236}">
                <a16:creationId xmlns:a16="http://schemas.microsoft.com/office/drawing/2014/main" id="{F5182346-0301-4392-B095-E0BA0DABB16B}"/>
              </a:ext>
            </a:extLst>
          </p:cNvPr>
          <p:cNvSpPr>
            <a:spLocks xmlns:a="http://schemas.openxmlformats.org/drawingml/2006/main" noGrp="1"/>
          </p:cNvSpPr>
          <p:nvPr/>
        </p:nvSpPr>
        <p:spPr>
          <a:xfrm xmlns:a="http://schemas.openxmlformats.org/drawingml/2006/main">
            <a:off x="7105650" y="2266950"/>
            <a:ext cx="15240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9C2B4"/>
            </a:solidFill>
            <a:prstDash val="solid"/>
          </a:ln>
        </p:spPr>
      </p:sp>
      <p:sp>
        <p:nvSpPr>
          <p:cNvPr id="32" name="">
            <a:extLst xmlns:a="http://schemas.openxmlformats.org/drawingml/2006/main">
              <a:ext uri="{FF2B5EF4-FFF2-40B4-BE49-F238E27FC236}">
                <a16:creationId xmlns:a16="http://schemas.microsoft.com/office/drawing/2014/main" id="{5DC04BE1-4C46-4A82-94E7-C1C0756E535A}"/>
              </a:ext>
            </a:extLst>
          </p:cNvPr>
          <p:cNvSpPr>
            <a:spLocks xmlns:a="http://schemas.openxmlformats.org/drawingml/2006/main" noGrp="1"/>
          </p:cNvSpPr>
          <p:nvPr/>
        </p:nvSpPr>
        <p:spPr>
          <a:xfrm xmlns:a="http://schemas.openxmlformats.org/drawingml/2006/main">
            <a:off x="7105650" y="2266950"/>
            <a:ext cx="323850" cy="1123950"/>
          </a:xfrm>
          <a:prstGeom xmlns:a="http://schemas.openxmlformats.org/drawingml/2006/main" prst="rect">
            <a:avLst/>
          </a:prstGeom>
          <a:solidFill xmlns:a="http://schemas.openxmlformats.org/drawingml/2006/main">
            <a:srgbClr val="D98B21"/>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EB2131E6-D78E-4B6E-8A82-3E5611598257}"/>
              </a:ext>
            </a:extLst>
          </p:cNvPr>
          <p:cNvSpPr>
            <a:spLocks xmlns:a="http://schemas.openxmlformats.org/drawingml/2006/main" noGrp="1"/>
          </p:cNvSpPr>
          <p:nvPr/>
        </p:nvSpPr>
        <p:spPr>
          <a:xfrm xmlns:a="http://schemas.openxmlformats.org/drawingml/2006/main">
            <a:off x="7105650" y="2714625"/>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5</a:t>
            </a:r>
          </a:p>
        </p:txBody>
      </p:sp>
      <p:sp>
        <p:nvSpPr>
          <p:cNvPr id="34" name="">
            <a:extLst xmlns:a="http://schemas.openxmlformats.org/drawingml/2006/main">
              <a:ext uri="{FF2B5EF4-FFF2-40B4-BE49-F238E27FC236}">
                <a16:creationId xmlns:a16="http://schemas.microsoft.com/office/drawing/2014/main" id="{51022E5A-1863-4C08-9ABF-21115590A328}"/>
              </a:ext>
            </a:extLst>
          </p:cNvPr>
          <p:cNvSpPr>
            <a:spLocks xmlns:a="http://schemas.openxmlformats.org/drawingml/2006/main" noGrp="1"/>
          </p:cNvSpPr>
          <p:nvPr/>
        </p:nvSpPr>
        <p:spPr>
          <a:xfrm xmlns:a="http://schemas.openxmlformats.org/drawingml/2006/main">
            <a:off x="7524750" y="2400300"/>
            <a:ext cx="1009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Code review</a:t>
            </a:r>
          </a:p>
        </p:txBody>
      </p:sp>
      <p:sp>
        <p:nvSpPr>
          <p:cNvPr id="35" name="">
            <a:extLst xmlns:a="http://schemas.openxmlformats.org/drawingml/2006/main">
              <a:ext uri="{FF2B5EF4-FFF2-40B4-BE49-F238E27FC236}">
                <a16:creationId xmlns:a16="http://schemas.microsoft.com/office/drawing/2014/main" id="{04156793-6198-472F-B12F-A21E44B8EB5C}"/>
              </a:ext>
            </a:extLst>
          </p:cNvPr>
          <p:cNvSpPr>
            <a:spLocks xmlns:a="http://schemas.openxmlformats.org/drawingml/2006/main" noGrp="1"/>
          </p:cNvSpPr>
          <p:nvPr/>
        </p:nvSpPr>
        <p:spPr>
          <a:xfrm xmlns:a="http://schemas.openxmlformats.org/drawingml/2006/main">
            <a:off x="7524750" y="2667000"/>
            <a:ext cx="10096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8707E"/>
                </a:solidFill>
                <a:latin typeface="Aptos"/>
                <a:ea typeface="Aptos"/>
                <a:cs typeface="Aptos"/>
              </a:defRPr>
            </a:pPr>
            <a:r>
              <a:rPr sz="863" b="0">
                <a:solidFill>
                  <a:srgbClr val="68707E"/>
                </a:solidFill>
                <a:latin typeface="Aptos"/>
                <a:ea typeface="Aptos"/>
                <a:cs typeface="Aptos"/>
              </a:rPr>
              <a:t>risk gate</a:t>
            </a:r>
          </a:p>
        </p:txBody>
      </p:sp>
      <p:sp>
        <p:nvSpPr>
          <p:cNvPr id="36" name="">
            <a:extLst xmlns:a="http://schemas.openxmlformats.org/drawingml/2006/main">
              <a:ext uri="{FF2B5EF4-FFF2-40B4-BE49-F238E27FC236}">
                <a16:creationId xmlns:a16="http://schemas.microsoft.com/office/drawing/2014/main" id="{1F16C85F-2849-4F24-9523-C21A03DCC6B2}"/>
              </a:ext>
            </a:extLst>
          </p:cNvPr>
          <p:cNvSpPr>
            <a:spLocks xmlns:a="http://schemas.openxmlformats.org/drawingml/2006/main" noGrp="1"/>
          </p:cNvSpPr>
          <p:nvPr/>
        </p:nvSpPr>
        <p:spPr>
          <a:xfrm xmlns:a="http://schemas.openxmlformats.org/drawingml/2006/main">
            <a:off x="8648700" y="2695575"/>
            <a:ext cx="114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68707E"/>
                </a:solidFill>
                <a:latin typeface="Aptos"/>
                <a:ea typeface="Aptos"/>
                <a:cs typeface="Aptos"/>
              </a:defRPr>
            </a:pPr>
            <a:r>
              <a:rPr sz="1350" b="1">
                <a:solidFill>
                  <a:srgbClr val="68707E"/>
                </a:solidFill>
                <a:latin typeface="Aptos"/>
                <a:ea typeface="Aptos"/>
                <a:cs typeface="Aptos"/>
              </a:rPr>
              <a:t>&gt;</a:t>
            </a:r>
          </a:p>
        </p:txBody>
      </p:sp>
      <p:sp>
        <p:nvSpPr>
          <p:cNvPr id="37" name="">
            <a:extLst xmlns:a="http://schemas.openxmlformats.org/drawingml/2006/main">
              <a:ext uri="{FF2B5EF4-FFF2-40B4-BE49-F238E27FC236}">
                <a16:creationId xmlns:a16="http://schemas.microsoft.com/office/drawing/2014/main" id="{CC00FB28-B81B-417C-AD25-1C627F9C2F9D}"/>
              </a:ext>
            </a:extLst>
          </p:cNvPr>
          <p:cNvSpPr>
            <a:spLocks xmlns:a="http://schemas.openxmlformats.org/drawingml/2006/main" noGrp="1"/>
          </p:cNvSpPr>
          <p:nvPr/>
        </p:nvSpPr>
        <p:spPr>
          <a:xfrm xmlns:a="http://schemas.openxmlformats.org/drawingml/2006/main">
            <a:off x="8782050" y="2266950"/>
            <a:ext cx="15240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9C2B4"/>
            </a:solidFill>
            <a:prstDash val="solid"/>
          </a:ln>
        </p:spPr>
      </p:sp>
      <p:sp>
        <p:nvSpPr>
          <p:cNvPr id="38" name="">
            <a:extLst xmlns:a="http://schemas.openxmlformats.org/drawingml/2006/main">
              <a:ext uri="{FF2B5EF4-FFF2-40B4-BE49-F238E27FC236}">
                <a16:creationId xmlns:a16="http://schemas.microsoft.com/office/drawing/2014/main" id="{F6C41156-35D7-4ABA-8A54-D05018F4D9E5}"/>
              </a:ext>
            </a:extLst>
          </p:cNvPr>
          <p:cNvSpPr>
            <a:spLocks xmlns:a="http://schemas.openxmlformats.org/drawingml/2006/main" noGrp="1"/>
          </p:cNvSpPr>
          <p:nvPr/>
        </p:nvSpPr>
        <p:spPr>
          <a:xfrm xmlns:a="http://schemas.openxmlformats.org/drawingml/2006/main">
            <a:off x="8782050" y="2266950"/>
            <a:ext cx="323850" cy="1123950"/>
          </a:xfrm>
          <a:prstGeom xmlns:a="http://schemas.openxmlformats.org/drawingml/2006/main" prst="rect">
            <a:avLst/>
          </a:prstGeom>
          <a:solidFill xmlns:a="http://schemas.openxmlformats.org/drawingml/2006/main">
            <a:srgbClr val="5E7E35"/>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206C2900-D54C-42E9-B127-93ED2E01327C}"/>
              </a:ext>
            </a:extLst>
          </p:cNvPr>
          <p:cNvSpPr>
            <a:spLocks xmlns:a="http://schemas.openxmlformats.org/drawingml/2006/main" noGrp="1"/>
          </p:cNvSpPr>
          <p:nvPr/>
        </p:nvSpPr>
        <p:spPr>
          <a:xfrm xmlns:a="http://schemas.openxmlformats.org/drawingml/2006/main">
            <a:off x="8782050" y="2714625"/>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6</a:t>
            </a:r>
          </a:p>
        </p:txBody>
      </p:sp>
      <p:sp>
        <p:nvSpPr>
          <p:cNvPr id="40" name="">
            <a:extLst xmlns:a="http://schemas.openxmlformats.org/drawingml/2006/main">
              <a:ext uri="{FF2B5EF4-FFF2-40B4-BE49-F238E27FC236}">
                <a16:creationId xmlns:a16="http://schemas.microsoft.com/office/drawing/2014/main" id="{4EE20D57-15F8-4F2E-A25F-A75906FFC63F}"/>
              </a:ext>
            </a:extLst>
          </p:cNvPr>
          <p:cNvSpPr>
            <a:spLocks xmlns:a="http://schemas.openxmlformats.org/drawingml/2006/main" noGrp="1"/>
          </p:cNvSpPr>
          <p:nvPr/>
        </p:nvSpPr>
        <p:spPr>
          <a:xfrm xmlns:a="http://schemas.openxmlformats.org/drawingml/2006/main">
            <a:off x="9201150" y="2400300"/>
            <a:ext cx="1009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Tester</a:t>
            </a:r>
          </a:p>
        </p:txBody>
      </p:sp>
      <p:sp>
        <p:nvSpPr>
          <p:cNvPr id="41" name="">
            <a:extLst xmlns:a="http://schemas.openxmlformats.org/drawingml/2006/main">
              <a:ext uri="{FF2B5EF4-FFF2-40B4-BE49-F238E27FC236}">
                <a16:creationId xmlns:a16="http://schemas.microsoft.com/office/drawing/2014/main" id="{105E77DF-0CE4-4AD3-B384-43BD61C2E843}"/>
              </a:ext>
            </a:extLst>
          </p:cNvPr>
          <p:cNvSpPr>
            <a:spLocks xmlns:a="http://schemas.openxmlformats.org/drawingml/2006/main" noGrp="1"/>
          </p:cNvSpPr>
          <p:nvPr/>
        </p:nvSpPr>
        <p:spPr>
          <a:xfrm xmlns:a="http://schemas.openxmlformats.org/drawingml/2006/main">
            <a:off x="9201150" y="2667000"/>
            <a:ext cx="10096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8707E"/>
                </a:solidFill>
                <a:latin typeface="Aptos"/>
                <a:ea typeface="Aptos"/>
                <a:cs typeface="Aptos"/>
              </a:defRPr>
            </a:pPr>
            <a:r>
              <a:rPr sz="863" b="0">
                <a:solidFill>
                  <a:srgbClr val="68707E"/>
                </a:solidFill>
                <a:latin typeface="Aptos"/>
                <a:ea typeface="Aptos"/>
                <a:cs typeface="Aptos"/>
              </a:rPr>
              <a:t>stock vs feature</a:t>
            </a:r>
          </a:p>
        </p:txBody>
      </p:sp>
      <p:sp>
        <p:nvSpPr>
          <p:cNvPr id="42" name="">
            <a:extLst xmlns:a="http://schemas.openxmlformats.org/drawingml/2006/main">
              <a:ext uri="{FF2B5EF4-FFF2-40B4-BE49-F238E27FC236}">
                <a16:creationId xmlns:a16="http://schemas.microsoft.com/office/drawing/2014/main" id="{331A3FAA-4BF3-4DDF-BF7B-078C46B53AD8}"/>
              </a:ext>
            </a:extLst>
          </p:cNvPr>
          <p:cNvSpPr>
            <a:spLocks xmlns:a="http://schemas.openxmlformats.org/drawingml/2006/main" noGrp="1"/>
          </p:cNvSpPr>
          <p:nvPr/>
        </p:nvSpPr>
        <p:spPr>
          <a:xfrm xmlns:a="http://schemas.openxmlformats.org/drawingml/2006/main">
            <a:off x="10325100" y="2695575"/>
            <a:ext cx="114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68707E"/>
                </a:solidFill>
                <a:latin typeface="Aptos"/>
                <a:ea typeface="Aptos"/>
                <a:cs typeface="Aptos"/>
              </a:defRPr>
            </a:pPr>
            <a:r>
              <a:rPr sz="1350" b="1">
                <a:solidFill>
                  <a:srgbClr val="68707E"/>
                </a:solidFill>
                <a:latin typeface="Aptos"/>
                <a:ea typeface="Aptos"/>
                <a:cs typeface="Aptos"/>
              </a:rPr>
              <a:t>&gt;</a:t>
            </a:r>
          </a:p>
        </p:txBody>
      </p:sp>
      <p:sp>
        <p:nvSpPr>
          <p:cNvPr id="43" name="">
            <a:extLst xmlns:a="http://schemas.openxmlformats.org/drawingml/2006/main">
              <a:ext uri="{FF2B5EF4-FFF2-40B4-BE49-F238E27FC236}">
                <a16:creationId xmlns:a16="http://schemas.microsoft.com/office/drawing/2014/main" id="{82D3AC52-2DA5-448D-8CA4-490CA3BEB034}"/>
              </a:ext>
            </a:extLst>
          </p:cNvPr>
          <p:cNvSpPr>
            <a:spLocks xmlns:a="http://schemas.openxmlformats.org/drawingml/2006/main" noGrp="1"/>
          </p:cNvSpPr>
          <p:nvPr/>
        </p:nvSpPr>
        <p:spPr>
          <a:xfrm xmlns:a="http://schemas.openxmlformats.org/drawingml/2006/main">
            <a:off x="10458450" y="2266950"/>
            <a:ext cx="15240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9C2B4"/>
            </a:solidFill>
            <a:prstDash val="solid"/>
          </a:ln>
        </p:spPr>
      </p:sp>
      <p:sp>
        <p:nvSpPr>
          <p:cNvPr id="44" name="">
            <a:extLst xmlns:a="http://schemas.openxmlformats.org/drawingml/2006/main">
              <a:ext uri="{FF2B5EF4-FFF2-40B4-BE49-F238E27FC236}">
                <a16:creationId xmlns:a16="http://schemas.microsoft.com/office/drawing/2014/main" id="{A1185A77-308F-4354-8E7A-1E48AA3DF46D}"/>
              </a:ext>
            </a:extLst>
          </p:cNvPr>
          <p:cNvSpPr>
            <a:spLocks xmlns:a="http://schemas.openxmlformats.org/drawingml/2006/main" noGrp="1"/>
          </p:cNvSpPr>
          <p:nvPr/>
        </p:nvSpPr>
        <p:spPr>
          <a:xfrm xmlns:a="http://schemas.openxmlformats.org/drawingml/2006/main">
            <a:off x="10458450" y="2266950"/>
            <a:ext cx="323850" cy="112395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83AF6225-8870-4806-BED4-E7370F4905DF}"/>
              </a:ext>
            </a:extLst>
          </p:cNvPr>
          <p:cNvSpPr>
            <a:spLocks xmlns:a="http://schemas.openxmlformats.org/drawingml/2006/main" noGrp="1"/>
          </p:cNvSpPr>
          <p:nvPr/>
        </p:nvSpPr>
        <p:spPr>
          <a:xfrm xmlns:a="http://schemas.openxmlformats.org/drawingml/2006/main">
            <a:off x="10458450" y="2714625"/>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7</a:t>
            </a:r>
          </a:p>
        </p:txBody>
      </p:sp>
      <p:sp>
        <p:nvSpPr>
          <p:cNvPr id="46" name="">
            <a:extLst xmlns:a="http://schemas.openxmlformats.org/drawingml/2006/main">
              <a:ext uri="{FF2B5EF4-FFF2-40B4-BE49-F238E27FC236}">
                <a16:creationId xmlns:a16="http://schemas.microsoft.com/office/drawing/2014/main" id="{865261D1-39BC-43D8-9E43-F57D423AE214}"/>
              </a:ext>
            </a:extLst>
          </p:cNvPr>
          <p:cNvSpPr>
            <a:spLocks xmlns:a="http://schemas.openxmlformats.org/drawingml/2006/main" noGrp="1"/>
          </p:cNvSpPr>
          <p:nvPr/>
        </p:nvSpPr>
        <p:spPr>
          <a:xfrm xmlns:a="http://schemas.openxmlformats.org/drawingml/2006/main">
            <a:off x="10877550" y="2400300"/>
            <a:ext cx="1009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Decision</a:t>
            </a:r>
          </a:p>
        </p:txBody>
      </p:sp>
      <p:sp>
        <p:nvSpPr>
          <p:cNvPr id="47" name="">
            <a:extLst xmlns:a="http://schemas.openxmlformats.org/drawingml/2006/main">
              <a:ext uri="{FF2B5EF4-FFF2-40B4-BE49-F238E27FC236}">
                <a16:creationId xmlns:a16="http://schemas.microsoft.com/office/drawing/2014/main" id="{C52DD7C2-6CAE-405E-A9E1-1476E89F7B27}"/>
              </a:ext>
            </a:extLst>
          </p:cNvPr>
          <p:cNvSpPr>
            <a:spLocks xmlns:a="http://schemas.openxmlformats.org/drawingml/2006/main" noGrp="1"/>
          </p:cNvSpPr>
          <p:nvPr/>
        </p:nvSpPr>
        <p:spPr>
          <a:xfrm xmlns:a="http://schemas.openxmlformats.org/drawingml/2006/main">
            <a:off x="10877550" y="2667000"/>
            <a:ext cx="10096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8707E"/>
                </a:solidFill>
                <a:latin typeface="Aptos"/>
                <a:ea typeface="Aptos"/>
                <a:cs typeface="Aptos"/>
              </a:defRPr>
            </a:pPr>
            <a:r>
              <a:rPr sz="863" b="0">
                <a:solidFill>
                  <a:srgbClr val="68707E"/>
                </a:solidFill>
                <a:latin typeface="Aptos"/>
                <a:ea typeface="Aptos"/>
                <a:cs typeface="Aptos"/>
              </a:rPr>
              <a:t>accept, iterate, memory</a:t>
            </a:r>
          </a:p>
        </p:txBody>
      </p:sp>
      <p:sp>
        <p:nvSpPr>
          <p:cNvPr id="48" name="">
            <a:extLst xmlns:a="http://schemas.openxmlformats.org/drawingml/2006/main">
              <a:ext uri="{FF2B5EF4-FFF2-40B4-BE49-F238E27FC236}">
                <a16:creationId xmlns:a16="http://schemas.microsoft.com/office/drawing/2014/main" id="{AF58BADA-0152-4204-A486-854224D828B4}"/>
              </a:ext>
            </a:extLst>
          </p:cNvPr>
          <p:cNvSpPr>
            <a:spLocks xmlns:a="http://schemas.openxmlformats.org/drawingml/2006/main" noGrp="1"/>
          </p:cNvSpPr>
          <p:nvPr/>
        </p:nvSpPr>
        <p:spPr>
          <a:xfrm xmlns:a="http://schemas.openxmlformats.org/drawingml/2006/main">
            <a:off x="3848100" y="3714750"/>
            <a:ext cx="1600200" cy="323850"/>
          </a:xfrm>
          <a:prstGeom xmlns:a="http://schemas.openxmlformats.org/drawingml/2006/main" prst="rect">
            <a:avLst/>
          </a:prstGeom>
          <a:solidFill xmlns:a="http://schemas.openxmlformats.org/drawingml/2006/main">
            <a:srgbClr val="D98B21"/>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ECCED2E5-0282-455E-A01C-B5B28A20A044}"/>
              </a:ext>
            </a:extLst>
          </p:cNvPr>
          <p:cNvSpPr>
            <a:spLocks xmlns:a="http://schemas.openxmlformats.org/drawingml/2006/main" noGrp="1"/>
          </p:cNvSpPr>
          <p:nvPr/>
        </p:nvSpPr>
        <p:spPr>
          <a:xfrm xmlns:a="http://schemas.openxmlformats.org/drawingml/2006/main">
            <a:off x="3924300" y="3800475"/>
            <a:ext cx="1447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FFFFFF"/>
                </a:solidFill>
                <a:latin typeface="Aptos"/>
                <a:ea typeface="Aptos"/>
                <a:cs typeface="Aptos"/>
              </a:defRPr>
            </a:pPr>
            <a:r>
              <a:rPr sz="788" b="1">
                <a:solidFill>
                  <a:srgbClr val="FFFFFF"/>
                </a:solidFill>
                <a:latin typeface="Aptos"/>
                <a:ea typeface="Aptos"/>
                <a:cs typeface="Aptos"/>
              </a:rPr>
              <a:t>NO CODE BEFORE PLAN APPROVAL</a:t>
            </a:r>
          </a:p>
        </p:txBody>
      </p:sp>
      <p:sp>
        <p:nvSpPr>
          <p:cNvPr id="50" name="">
            <a:extLst xmlns:a="http://schemas.openxmlformats.org/drawingml/2006/main">
              <a:ext uri="{FF2B5EF4-FFF2-40B4-BE49-F238E27FC236}">
                <a16:creationId xmlns:a16="http://schemas.microsoft.com/office/drawing/2014/main" id="{5C147CD5-AD6B-4EBA-8E9B-6ECBBFA104F8}"/>
              </a:ext>
            </a:extLst>
          </p:cNvPr>
          <p:cNvSpPr>
            <a:spLocks xmlns:a="http://schemas.openxmlformats.org/drawingml/2006/main" noGrp="1"/>
          </p:cNvSpPr>
          <p:nvPr/>
        </p:nvSpPr>
        <p:spPr>
          <a:xfrm xmlns:a="http://schemas.openxmlformats.org/drawingml/2006/main">
            <a:off x="7200900" y="3714750"/>
            <a:ext cx="1600200" cy="323850"/>
          </a:xfrm>
          <a:prstGeom xmlns:a="http://schemas.openxmlformats.org/drawingml/2006/main" prst="rect">
            <a:avLst/>
          </a:prstGeom>
          <a:solidFill xmlns:a="http://schemas.openxmlformats.org/drawingml/2006/main">
            <a:srgbClr val="D98B21"/>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2238D5F5-AD93-466B-B452-41CDC74F8CCA}"/>
              </a:ext>
            </a:extLst>
          </p:cNvPr>
          <p:cNvSpPr>
            <a:spLocks xmlns:a="http://schemas.openxmlformats.org/drawingml/2006/main" noGrp="1"/>
          </p:cNvSpPr>
          <p:nvPr/>
        </p:nvSpPr>
        <p:spPr>
          <a:xfrm xmlns:a="http://schemas.openxmlformats.org/drawingml/2006/main">
            <a:off x="7277100" y="3800475"/>
            <a:ext cx="1447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FFFFFF"/>
                </a:solidFill>
                <a:latin typeface="Aptos"/>
                <a:ea typeface="Aptos"/>
                <a:cs typeface="Aptos"/>
              </a:defRPr>
            </a:pPr>
            <a:r>
              <a:rPr sz="788" b="1">
                <a:solidFill>
                  <a:srgbClr val="FFFFFF"/>
                </a:solidFill>
                <a:latin typeface="Aptos"/>
                <a:ea typeface="Aptos"/>
                <a:cs typeface="Aptos"/>
              </a:rPr>
              <a:t>NO ACCEPT BEFORE REVIEW</a:t>
            </a:r>
          </a:p>
        </p:txBody>
      </p:sp>
      <p:sp>
        <p:nvSpPr>
          <p:cNvPr id="52" name="">
            <a:extLst xmlns:a="http://schemas.openxmlformats.org/drawingml/2006/main">
              <a:ext uri="{FF2B5EF4-FFF2-40B4-BE49-F238E27FC236}">
                <a16:creationId xmlns:a16="http://schemas.microsoft.com/office/drawing/2014/main" id="{C660561A-105C-4D8E-96E0-894A06D9ABBF}"/>
              </a:ext>
            </a:extLst>
          </p:cNvPr>
          <p:cNvSpPr>
            <a:spLocks xmlns:a="http://schemas.openxmlformats.org/drawingml/2006/main" noGrp="1"/>
          </p:cNvSpPr>
          <p:nvPr/>
        </p:nvSpPr>
        <p:spPr>
          <a:xfrm xmlns:a="http://schemas.openxmlformats.org/drawingml/2006/main">
            <a:off x="495300" y="4610100"/>
            <a:ext cx="11201400" cy="685800"/>
          </a:xfrm>
          <a:prstGeom xmlns:a="http://schemas.openxmlformats.org/drawingml/2006/main" prst="rect">
            <a:avLst/>
          </a:prstGeom>
          <a:solidFill xmlns:a="http://schemas.openxmlformats.org/drawingml/2006/main">
            <a:srgbClr val="273142"/>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00D4A534-9BC0-4AE4-B790-2FF1BFFCC559}"/>
              </a:ext>
            </a:extLst>
          </p:cNvPr>
          <p:cNvSpPr>
            <a:spLocks xmlns:a="http://schemas.openxmlformats.org/drawingml/2006/main" noGrp="1"/>
          </p:cNvSpPr>
          <p:nvPr/>
        </p:nvSpPr>
        <p:spPr>
          <a:xfrm xmlns:a="http://schemas.openxmlformats.org/drawingml/2006/main">
            <a:off x="723900" y="4800600"/>
            <a:ext cx="106489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1">
                <a:solidFill>
                  <a:srgbClr val="F7F4EE"/>
                </a:solidFill>
                <a:latin typeface="Aptos"/>
                <a:ea typeface="Aptos"/>
                <a:cs typeface="Aptos"/>
              </a:defRPr>
            </a:pPr>
            <a:r>
              <a:rPr sz="1425" b="1">
                <a:solidFill>
                  <a:srgbClr val="F7F4EE"/>
                </a:solidFill>
                <a:latin typeface="Aptos"/>
                <a:ea typeface="Aptos"/>
                <a:cs typeface="Aptos"/>
              </a:rPr>
              <a:t>Invariant: every stage writes an artifact and returns a compact handoff packet; the manager decides the next route from disk-backed evidence.</a:t>
            </a:r>
          </a:p>
        </p:txBody>
      </p:sp>
      <p:sp>
        <p:nvSpPr>
          <p:cNvPr id="54" name="">
            <a:extLst xmlns:a="http://schemas.openxmlformats.org/drawingml/2006/main">
              <a:ext uri="{FF2B5EF4-FFF2-40B4-BE49-F238E27FC236}">
                <a16:creationId xmlns:a16="http://schemas.microsoft.com/office/drawing/2014/main" id="{1BC05B93-2698-4978-AA28-8CB2B2094A00}"/>
              </a:ext>
            </a:extLst>
          </p:cNvPr>
          <p:cNvSpPr>
            <a:spLocks xmlns:a="http://schemas.openxmlformats.org/drawingml/2006/main" noGrp="1"/>
          </p:cNvSpPr>
          <p:nvPr/>
        </p:nvSpPr>
        <p:spPr>
          <a:xfrm xmlns:a="http://schemas.openxmlformats.org/drawingml/2006/main">
            <a:off x="495300" y="6705600"/>
            <a:ext cx="457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 multi-agent harness</a:t>
            </a:r>
          </a:p>
        </p:txBody>
      </p:sp>
      <p:sp>
        <p:nvSpPr>
          <p:cNvPr id="55" name="">
            <a:extLst xmlns:a="http://schemas.openxmlformats.org/drawingml/2006/main">
              <a:ext uri="{FF2B5EF4-FFF2-40B4-BE49-F238E27FC236}">
                <a16:creationId xmlns:a16="http://schemas.microsoft.com/office/drawing/2014/main" id="{4E976C5A-A90B-4A39-AAF0-3202FEE2574E}"/>
              </a:ext>
            </a:extLst>
          </p:cNvPr>
          <p:cNvSpPr>
            <a:spLocks xmlns:a="http://schemas.openxmlformats.org/drawingml/2006/main" noGrp="1"/>
          </p:cNvSpPr>
          <p:nvPr/>
        </p:nvSpPr>
        <p:spPr>
          <a:xfrm xmlns:a="http://schemas.openxmlformats.org/drawingml/2006/main">
            <a:off x="10706100" y="6705600"/>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8707E"/>
                </a:solidFill>
                <a:latin typeface="Aptos"/>
                <a:ea typeface="Aptos"/>
                <a:cs typeface="Aptos"/>
              </a:defRPr>
            </a:pPr>
            <a:r>
              <a:rPr sz="713" b="0">
                <a:solidFill>
                  <a:srgbClr val="68707E"/>
                </a:solidFill>
                <a:latin typeface="Aptos"/>
                <a:ea typeface="Aptos"/>
                <a:cs typeface="Aptos"/>
              </a:rPr>
              <a:t>4 / 14</a:t>
            </a:r>
          </a:p>
        </p:txBody>
      </p:sp>
    </p:spTree>
    <p:extLst>
      <p:ext uri="{BB962C8B-B14F-4D97-AF65-F5344CB8AC3E}">
        <p14:creationId xmlns:p14="http://schemas.microsoft.com/office/powerpoint/2010/main" val="103221475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E6CC98DB-508C-4C0B-9DC7-2B9AFCBF8EF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C98F21BF-5D1F-407A-92AF-42303A1148E6}"/>
              </a:ext>
            </a:extLst>
          </p:cNvPr>
          <p:cNvSpPr>
            <a:spLocks xmlns:a="http://schemas.openxmlformats.org/drawingml/2006/main" noGrp="1"/>
          </p:cNvSpPr>
          <p:nvPr/>
        </p:nvSpPr>
        <p:spPr>
          <a:xfrm xmlns:a="http://schemas.openxmlformats.org/drawingml/2006/main">
            <a:off x="495300" y="419100"/>
            <a:ext cx="304800" cy="381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F8D2E5D1-3173-4B4E-AACF-EBB7F30C460C}"/>
              </a:ext>
            </a:extLst>
          </p:cNvPr>
          <p:cNvSpPr>
            <a:spLocks xmlns:a="http://schemas.openxmlformats.org/drawingml/2006/main" noGrp="1"/>
          </p:cNvSpPr>
          <p:nvPr/>
        </p:nvSpPr>
        <p:spPr>
          <a:xfrm xmlns:a="http://schemas.openxmlformats.org/drawingml/2006/main">
            <a:off x="895350" y="285750"/>
            <a:ext cx="495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E7C7B"/>
                </a:solidFill>
                <a:latin typeface="Aptos"/>
                <a:ea typeface="Aptos"/>
                <a:cs typeface="Aptos"/>
              </a:defRPr>
            </a:pPr>
            <a:r>
              <a:rPr sz="975" b="1">
                <a:solidFill>
                  <a:srgbClr val="0E7C7B"/>
                </a:solidFill>
                <a:latin typeface="Aptos"/>
                <a:ea typeface="Aptos"/>
                <a:cs typeface="Aptos"/>
              </a:rPr>
              <a:t>ENTRY ROUTES</a:t>
            </a:r>
          </a:p>
        </p:txBody>
      </p:sp>
      <p:sp>
        <p:nvSpPr>
          <p:cNvPr id="4" name="">
            <a:extLst xmlns:a="http://schemas.openxmlformats.org/drawingml/2006/main">
              <a:ext uri="{FF2B5EF4-FFF2-40B4-BE49-F238E27FC236}">
                <a16:creationId xmlns:a16="http://schemas.microsoft.com/office/drawing/2014/main" id="{2F0EEF1D-8229-408C-B712-CE12D3C15270}"/>
              </a:ext>
            </a:extLst>
          </p:cNvPr>
          <p:cNvSpPr>
            <a:spLocks xmlns:a="http://schemas.openxmlformats.org/drawingml/2006/main" noGrp="1"/>
          </p:cNvSpPr>
          <p:nvPr/>
        </p:nvSpPr>
        <p:spPr>
          <a:xfrm xmlns:a="http://schemas.openxmlformats.org/drawingml/2006/main">
            <a:off x="495300" y="666750"/>
            <a:ext cx="8382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Three front doors cover automated runs, expert planning, and function deep dives.</a:t>
            </a:r>
          </a:p>
        </p:txBody>
      </p:sp>
      <p:sp>
        <p:nvSpPr>
          <p:cNvPr id="5" name="">
            <a:extLst xmlns:a="http://schemas.openxmlformats.org/drawingml/2006/main">
              <a:ext uri="{FF2B5EF4-FFF2-40B4-BE49-F238E27FC236}">
                <a16:creationId xmlns:a16="http://schemas.microsoft.com/office/drawing/2014/main" id="{7B95AEE6-F05A-4AD3-898E-CF5CC662A90D}"/>
              </a:ext>
            </a:extLst>
          </p:cNvPr>
          <p:cNvSpPr>
            <a:spLocks xmlns:a="http://schemas.openxmlformats.org/drawingml/2006/main" noGrp="1"/>
          </p:cNvSpPr>
          <p:nvPr/>
        </p:nvSpPr>
        <p:spPr>
          <a:xfrm xmlns:a="http://schemas.openxmlformats.org/drawingml/2006/main">
            <a:off x="495300" y="1447800"/>
            <a:ext cx="11201400" cy="14288"/>
          </a:xfrm>
          <a:prstGeom xmlns:a="http://schemas.openxmlformats.org/drawingml/2006/main" prst="rect">
            <a:avLst/>
          </a:prstGeom>
          <a:solidFill xmlns:a="http://schemas.openxmlformats.org/drawingml/2006/main">
            <a:srgbClr val="C9C2B4"/>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E2BE78C-C56E-467F-8AD1-D367607B6ED5}"/>
              </a:ext>
            </a:extLst>
          </p:cNvPr>
          <p:cNvSpPr>
            <a:spLocks xmlns:a="http://schemas.openxmlformats.org/drawingml/2006/main" noGrp="1"/>
          </p:cNvSpPr>
          <p:nvPr/>
        </p:nvSpPr>
        <p:spPr>
          <a:xfrm xmlns:a="http://schemas.openxmlformats.org/drawingml/2006/main">
            <a:off x="495300" y="6496050"/>
            <a:ext cx="800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.opencode/README.md; .opencode/commands/*.md</a:t>
            </a:r>
          </a:p>
        </p:txBody>
      </p:sp>
      <p:sp>
        <p:nvSpPr>
          <p:cNvPr id="7" name="">
            <a:extLst xmlns:a="http://schemas.openxmlformats.org/drawingml/2006/main">
              <a:ext uri="{FF2B5EF4-FFF2-40B4-BE49-F238E27FC236}">
                <a16:creationId xmlns:a16="http://schemas.microsoft.com/office/drawing/2014/main" id="{3D9E240E-7172-42ED-8302-A15979D5491A}"/>
              </a:ext>
            </a:extLst>
          </p:cNvPr>
          <p:cNvSpPr>
            <a:spLocks xmlns:a="http://schemas.openxmlformats.org/drawingml/2006/main" noGrp="1"/>
          </p:cNvSpPr>
          <p:nvPr/>
        </p:nvSpPr>
        <p:spPr>
          <a:xfrm xmlns:a="http://schemas.openxmlformats.org/drawingml/2006/main">
            <a:off x="742950" y="1962150"/>
            <a:ext cx="3257550" cy="2857500"/>
          </a:xfrm>
          <a:prstGeom xmlns:a="http://schemas.openxmlformats.org/drawingml/2006/main" prst="rect">
            <a:avLst/>
          </a:prstGeom>
          <a:solidFill xmlns:a="http://schemas.openxmlformats.org/drawingml/2006/main">
            <a:srgbClr val="DCEEEB"/>
          </a:solidFill>
          <a:ln xmlns:a="http://schemas.openxmlformats.org/drawingml/2006/main" w="9525">
            <a:solidFill>
              <a:srgbClr val="C9C2B4"/>
            </a:solidFill>
            <a:prstDash val="solid"/>
          </a:ln>
        </p:spPr>
      </p:sp>
      <p:sp>
        <p:nvSpPr>
          <p:cNvPr id="8" name="">
            <a:extLst xmlns:a="http://schemas.openxmlformats.org/drawingml/2006/main">
              <a:ext uri="{FF2B5EF4-FFF2-40B4-BE49-F238E27FC236}">
                <a16:creationId xmlns:a16="http://schemas.microsoft.com/office/drawing/2014/main" id="{3C6702D3-3064-49DB-A097-9CCBD57C10F6}"/>
              </a:ext>
            </a:extLst>
          </p:cNvPr>
          <p:cNvSpPr>
            <a:spLocks xmlns:a="http://schemas.openxmlformats.org/drawingml/2006/main" noGrp="1"/>
          </p:cNvSpPr>
          <p:nvPr/>
        </p:nvSpPr>
        <p:spPr>
          <a:xfrm xmlns:a="http://schemas.openxmlformats.org/drawingml/2006/main">
            <a:off x="742950" y="1962150"/>
            <a:ext cx="3257550" cy="3048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89181E3-A5DE-49ED-9E4C-CB609F19FF92}"/>
              </a:ext>
            </a:extLst>
          </p:cNvPr>
          <p:cNvSpPr>
            <a:spLocks xmlns:a="http://schemas.openxmlformats.org/drawingml/2006/main" noGrp="1"/>
          </p:cNvSpPr>
          <p:nvPr/>
        </p:nvSpPr>
        <p:spPr>
          <a:xfrm xmlns:a="http://schemas.openxmlformats.org/drawingml/2006/main">
            <a:off x="876300" y="2009775"/>
            <a:ext cx="2990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1. Full automated pipeline</a:t>
            </a:r>
          </a:p>
        </p:txBody>
      </p:sp>
      <p:sp>
        <p:nvSpPr>
          <p:cNvPr id="10" name="">
            <a:extLst xmlns:a="http://schemas.openxmlformats.org/drawingml/2006/main">
              <a:ext uri="{FF2B5EF4-FFF2-40B4-BE49-F238E27FC236}">
                <a16:creationId xmlns:a16="http://schemas.microsoft.com/office/drawing/2014/main" id="{CD2ABD44-8F49-4D70-AA56-DFC6D96FC367}"/>
              </a:ext>
            </a:extLst>
          </p:cNvPr>
          <p:cNvSpPr>
            <a:spLocks xmlns:a="http://schemas.openxmlformats.org/drawingml/2006/main" noGrp="1"/>
          </p:cNvSpPr>
          <p:nvPr/>
        </p:nvSpPr>
        <p:spPr>
          <a:xfrm xmlns:a="http://schemas.openxmlformats.org/drawingml/2006/main">
            <a:off x="895350" y="2400300"/>
            <a:ext cx="2952750" cy="2305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@os-opt-manager or /optimize_generic</a:t>
            </a:r>
          </a:p>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Research -&gt; review -&gt; code -&gt; review -&gt; tester -&gt; decision</a:t>
            </a:r>
          </a:p>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Best when the target is known and the goal is to land a measured patch.</a:t>
            </a:r>
          </a:p>
        </p:txBody>
      </p:sp>
      <p:sp>
        <p:nvSpPr>
          <p:cNvPr id="11" name="">
            <a:extLst xmlns:a="http://schemas.openxmlformats.org/drawingml/2006/main">
              <a:ext uri="{FF2B5EF4-FFF2-40B4-BE49-F238E27FC236}">
                <a16:creationId xmlns:a16="http://schemas.microsoft.com/office/drawing/2014/main" id="{2A495724-B858-44D5-BB7B-DF42A67B132E}"/>
              </a:ext>
            </a:extLst>
          </p:cNvPr>
          <p:cNvSpPr>
            <a:spLocks xmlns:a="http://schemas.openxmlformats.org/drawingml/2006/main" noGrp="1"/>
          </p:cNvSpPr>
          <p:nvPr/>
        </p:nvSpPr>
        <p:spPr>
          <a:xfrm xmlns:a="http://schemas.openxmlformats.org/drawingml/2006/main">
            <a:off x="4438650" y="1962150"/>
            <a:ext cx="3257550" cy="2857500"/>
          </a:xfrm>
          <a:prstGeom xmlns:a="http://schemas.openxmlformats.org/drawingml/2006/main" prst="rect">
            <a:avLst/>
          </a:prstGeom>
          <a:solidFill xmlns:a="http://schemas.openxmlformats.org/drawingml/2006/main">
            <a:srgbClr val="E3E5F6"/>
          </a:solidFill>
          <a:ln xmlns:a="http://schemas.openxmlformats.org/drawingml/2006/main" w="9525">
            <a:solidFill>
              <a:srgbClr val="C9C2B4"/>
            </a:solidFill>
            <a:prstDash val="solid"/>
          </a:ln>
        </p:spPr>
      </p:sp>
      <p:sp>
        <p:nvSpPr>
          <p:cNvPr id="12" name="">
            <a:extLst xmlns:a="http://schemas.openxmlformats.org/drawingml/2006/main">
              <a:ext uri="{FF2B5EF4-FFF2-40B4-BE49-F238E27FC236}">
                <a16:creationId xmlns:a16="http://schemas.microsoft.com/office/drawing/2014/main" id="{D835A3E3-80BE-4FE0-8B8D-C6D43C338D26}"/>
              </a:ext>
            </a:extLst>
          </p:cNvPr>
          <p:cNvSpPr>
            <a:spLocks xmlns:a="http://schemas.openxmlformats.org/drawingml/2006/main" noGrp="1"/>
          </p:cNvSpPr>
          <p:nvPr/>
        </p:nvSpPr>
        <p:spPr>
          <a:xfrm xmlns:a="http://schemas.openxmlformats.org/drawingml/2006/main">
            <a:off x="4438650" y="1962150"/>
            <a:ext cx="3257550" cy="304800"/>
          </a:xfrm>
          <a:prstGeom xmlns:a="http://schemas.openxmlformats.org/drawingml/2006/main" prst="rect">
            <a:avLst/>
          </a:prstGeom>
          <a:solidFill xmlns:a="http://schemas.openxmlformats.org/drawingml/2006/main">
            <a:srgbClr val="3B4AA4"/>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58450B23-59FB-43D1-A544-ECD26D292F8F}"/>
              </a:ext>
            </a:extLst>
          </p:cNvPr>
          <p:cNvSpPr>
            <a:spLocks xmlns:a="http://schemas.openxmlformats.org/drawingml/2006/main" noGrp="1"/>
          </p:cNvSpPr>
          <p:nvPr/>
        </p:nvSpPr>
        <p:spPr>
          <a:xfrm xmlns:a="http://schemas.openxmlformats.org/drawingml/2006/main">
            <a:off x="4572000" y="2009775"/>
            <a:ext cx="2990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2. Human-in-the-loop research + plan</a:t>
            </a:r>
          </a:p>
        </p:txBody>
      </p:sp>
      <p:sp>
        <p:nvSpPr>
          <p:cNvPr id="14" name="">
            <a:extLst xmlns:a="http://schemas.openxmlformats.org/drawingml/2006/main">
              <a:ext uri="{FF2B5EF4-FFF2-40B4-BE49-F238E27FC236}">
                <a16:creationId xmlns:a16="http://schemas.microsoft.com/office/drawing/2014/main" id="{ED82C9BA-2C5E-4660-830C-84A582463C51}"/>
              </a:ext>
            </a:extLst>
          </p:cNvPr>
          <p:cNvSpPr>
            <a:spLocks xmlns:a="http://schemas.openxmlformats.org/drawingml/2006/main" noGrp="1"/>
          </p:cNvSpPr>
          <p:nvPr/>
        </p:nvSpPr>
        <p:spPr>
          <a:xfrm xmlns:a="http://schemas.openxmlformats.org/drawingml/2006/main">
            <a:off x="4591050" y="2400300"/>
            <a:ext cx="2952750" cy="2305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@kernel-research then @kernel-plan</a:t>
            </a:r>
          </a:p>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Builds a living design doc, idea ledger, and approved plan.</a:t>
            </a:r>
          </a:p>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Best when expert judgement should steer the mechanism.</a:t>
            </a:r>
          </a:p>
        </p:txBody>
      </p:sp>
      <p:sp>
        <p:nvSpPr>
          <p:cNvPr id="15" name="">
            <a:extLst xmlns:a="http://schemas.openxmlformats.org/drawingml/2006/main">
              <a:ext uri="{FF2B5EF4-FFF2-40B4-BE49-F238E27FC236}">
                <a16:creationId xmlns:a16="http://schemas.microsoft.com/office/drawing/2014/main" id="{D3035551-486D-4D42-B30C-0C1874099877}"/>
              </a:ext>
            </a:extLst>
          </p:cNvPr>
          <p:cNvSpPr>
            <a:spLocks xmlns:a="http://schemas.openxmlformats.org/drawingml/2006/main" noGrp="1"/>
          </p:cNvSpPr>
          <p:nvPr/>
        </p:nvSpPr>
        <p:spPr>
          <a:xfrm xmlns:a="http://schemas.openxmlformats.org/drawingml/2006/main">
            <a:off x="8134350" y="1962150"/>
            <a:ext cx="3257550" cy="2857500"/>
          </a:xfrm>
          <a:prstGeom xmlns:a="http://schemas.openxmlformats.org/drawingml/2006/main" prst="rect">
            <a:avLst/>
          </a:prstGeom>
          <a:solidFill xmlns:a="http://schemas.openxmlformats.org/drawingml/2006/main">
            <a:srgbClr val="F5E5C8"/>
          </a:solidFill>
          <a:ln xmlns:a="http://schemas.openxmlformats.org/drawingml/2006/main" w="9525">
            <a:solidFill>
              <a:srgbClr val="C9C2B4"/>
            </a:solidFill>
            <a:prstDash val="solid"/>
          </a:ln>
        </p:spPr>
      </p:sp>
      <p:sp>
        <p:nvSpPr>
          <p:cNvPr id="16" name="">
            <a:extLst xmlns:a="http://schemas.openxmlformats.org/drawingml/2006/main">
              <a:ext uri="{FF2B5EF4-FFF2-40B4-BE49-F238E27FC236}">
                <a16:creationId xmlns:a16="http://schemas.microsoft.com/office/drawing/2014/main" id="{1706A483-0478-4197-AB5C-A1093A187387}"/>
              </a:ext>
            </a:extLst>
          </p:cNvPr>
          <p:cNvSpPr>
            <a:spLocks xmlns:a="http://schemas.openxmlformats.org/drawingml/2006/main" noGrp="1"/>
          </p:cNvSpPr>
          <p:nvPr/>
        </p:nvSpPr>
        <p:spPr>
          <a:xfrm xmlns:a="http://schemas.openxmlformats.org/drawingml/2006/main">
            <a:off x="8134350" y="1962150"/>
            <a:ext cx="3257550" cy="304800"/>
          </a:xfrm>
          <a:prstGeom xmlns:a="http://schemas.openxmlformats.org/drawingml/2006/main" prst="rect">
            <a:avLst/>
          </a:prstGeom>
          <a:solidFill xmlns:a="http://schemas.openxmlformats.org/drawingml/2006/main">
            <a:srgbClr val="D98B21"/>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6378F0B4-AC33-45ED-B3F2-D0C6B2F15DF1}"/>
              </a:ext>
            </a:extLst>
          </p:cNvPr>
          <p:cNvSpPr>
            <a:spLocks xmlns:a="http://schemas.openxmlformats.org/drawingml/2006/main" noGrp="1"/>
          </p:cNvSpPr>
          <p:nvPr/>
        </p:nvSpPr>
        <p:spPr>
          <a:xfrm xmlns:a="http://schemas.openxmlformats.org/drawingml/2006/main">
            <a:off x="8267700" y="2009775"/>
            <a:ext cx="2990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3. Single-function deep dive</a:t>
            </a:r>
          </a:p>
        </p:txBody>
      </p:sp>
      <p:sp>
        <p:nvSpPr>
          <p:cNvPr id="18" name="">
            <a:extLst xmlns:a="http://schemas.openxmlformats.org/drawingml/2006/main">
              <a:ext uri="{FF2B5EF4-FFF2-40B4-BE49-F238E27FC236}">
                <a16:creationId xmlns:a16="http://schemas.microsoft.com/office/drawing/2014/main" id="{4C7A809C-7D3F-4068-A7BC-7CF525029AAC}"/>
              </a:ext>
            </a:extLst>
          </p:cNvPr>
          <p:cNvSpPr>
            <a:spLocks xmlns:a="http://schemas.openxmlformats.org/drawingml/2006/main" noGrp="1"/>
          </p:cNvSpPr>
          <p:nvPr/>
        </p:nvSpPr>
        <p:spPr>
          <a:xfrm xmlns:a="http://schemas.openxmlformats.org/drawingml/2006/main">
            <a:off x="8286750" y="2400300"/>
            <a:ext cx="2952750" cy="2305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@kernel-function-research or /function_detail</a:t>
            </a:r>
          </a:p>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Produces a one-shot function report and callee graph.</a:t>
            </a:r>
          </a:p>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Best before optimizing a poorly understood hot function.</a:t>
            </a:r>
          </a:p>
        </p:txBody>
      </p:sp>
      <p:sp>
        <p:nvSpPr>
          <p:cNvPr id="19" name="">
            <a:extLst xmlns:a="http://schemas.openxmlformats.org/drawingml/2006/main">
              <a:ext uri="{FF2B5EF4-FFF2-40B4-BE49-F238E27FC236}">
                <a16:creationId xmlns:a16="http://schemas.microsoft.com/office/drawing/2014/main" id="{F8937B01-ABF3-41FF-ADDB-72217C3A1148}"/>
              </a:ext>
            </a:extLst>
          </p:cNvPr>
          <p:cNvSpPr>
            <a:spLocks xmlns:a="http://schemas.openxmlformats.org/drawingml/2006/main" noGrp="1"/>
          </p:cNvSpPr>
          <p:nvPr/>
        </p:nvSpPr>
        <p:spPr>
          <a:xfrm xmlns:a="http://schemas.openxmlformats.org/drawingml/2006/main">
            <a:off x="914400" y="5429250"/>
            <a:ext cx="952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7202A"/>
                </a:solidFill>
                <a:latin typeface="Aptos"/>
                <a:ea typeface="Aptos"/>
                <a:cs typeface="Aptos"/>
              </a:defRPr>
            </a:pPr>
            <a:r>
              <a:rPr sz="1725" b="1">
                <a:solidFill>
                  <a:srgbClr val="17202A"/>
                </a:solidFill>
                <a:latin typeface="Aptos"/>
                <a:ea typeface="Aptos"/>
                <a:cs typeface="Aptos"/>
              </a:rPr>
              <a:t>The routes compose: route 2 and route 3 create context that route 1 can consume.</a:t>
            </a:r>
          </a:p>
        </p:txBody>
      </p:sp>
      <p:sp>
        <p:nvSpPr>
          <p:cNvPr id="20" name="">
            <a:extLst xmlns:a="http://schemas.openxmlformats.org/drawingml/2006/main">
              <a:ext uri="{FF2B5EF4-FFF2-40B4-BE49-F238E27FC236}">
                <a16:creationId xmlns:a16="http://schemas.microsoft.com/office/drawing/2014/main" id="{9E792483-4ACE-44DC-A5A2-D1BF1CD1F98E}"/>
              </a:ext>
            </a:extLst>
          </p:cNvPr>
          <p:cNvSpPr>
            <a:spLocks xmlns:a="http://schemas.openxmlformats.org/drawingml/2006/main" noGrp="1"/>
          </p:cNvSpPr>
          <p:nvPr/>
        </p:nvSpPr>
        <p:spPr>
          <a:xfrm xmlns:a="http://schemas.openxmlformats.org/drawingml/2006/main">
            <a:off x="495300" y="6705600"/>
            <a:ext cx="457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 multi-agent harness</a:t>
            </a:r>
          </a:p>
        </p:txBody>
      </p:sp>
      <p:sp>
        <p:nvSpPr>
          <p:cNvPr id="21" name="">
            <a:extLst xmlns:a="http://schemas.openxmlformats.org/drawingml/2006/main">
              <a:ext uri="{FF2B5EF4-FFF2-40B4-BE49-F238E27FC236}">
                <a16:creationId xmlns:a16="http://schemas.microsoft.com/office/drawing/2014/main" id="{20495A20-C66D-425B-9606-86BD77E7D4D3}"/>
              </a:ext>
            </a:extLst>
          </p:cNvPr>
          <p:cNvSpPr>
            <a:spLocks xmlns:a="http://schemas.openxmlformats.org/drawingml/2006/main" noGrp="1"/>
          </p:cNvSpPr>
          <p:nvPr/>
        </p:nvSpPr>
        <p:spPr>
          <a:xfrm xmlns:a="http://schemas.openxmlformats.org/drawingml/2006/main">
            <a:off x="10706100" y="6705600"/>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8707E"/>
                </a:solidFill>
                <a:latin typeface="Aptos"/>
                <a:ea typeface="Aptos"/>
                <a:cs typeface="Aptos"/>
              </a:defRPr>
            </a:pPr>
            <a:r>
              <a:rPr sz="713" b="0">
                <a:solidFill>
                  <a:srgbClr val="68707E"/>
                </a:solidFill>
                <a:latin typeface="Aptos"/>
                <a:ea typeface="Aptos"/>
                <a:cs typeface="Aptos"/>
              </a:rPr>
              <a:t>5 / 14</a:t>
            </a:r>
          </a:p>
        </p:txBody>
      </p:sp>
    </p:spTree>
    <p:extLst>
      <p:ext uri="{BB962C8B-B14F-4D97-AF65-F5344CB8AC3E}">
        <p14:creationId xmlns:p14="http://schemas.microsoft.com/office/powerpoint/2010/main" val="125696599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03D75BD4-7015-40E0-9415-43F4C81955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BB5BACEF-577B-4830-9997-CCC16BB04B9C}"/>
              </a:ext>
            </a:extLst>
          </p:cNvPr>
          <p:cNvSpPr>
            <a:spLocks xmlns:a="http://schemas.openxmlformats.org/drawingml/2006/main" noGrp="1"/>
          </p:cNvSpPr>
          <p:nvPr/>
        </p:nvSpPr>
        <p:spPr>
          <a:xfrm xmlns:a="http://schemas.openxmlformats.org/drawingml/2006/main">
            <a:off x="495300" y="419100"/>
            <a:ext cx="304800" cy="381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0FED394E-8E37-42EE-B7EB-0528632CF8C9}"/>
              </a:ext>
            </a:extLst>
          </p:cNvPr>
          <p:cNvSpPr>
            <a:spLocks xmlns:a="http://schemas.openxmlformats.org/drawingml/2006/main" noGrp="1"/>
          </p:cNvSpPr>
          <p:nvPr/>
        </p:nvSpPr>
        <p:spPr>
          <a:xfrm xmlns:a="http://schemas.openxmlformats.org/drawingml/2006/main">
            <a:off x="895350" y="285750"/>
            <a:ext cx="495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E7C7B"/>
                </a:solidFill>
                <a:latin typeface="Aptos"/>
                <a:ea typeface="Aptos"/>
                <a:cs typeface="Aptos"/>
              </a:defRPr>
            </a:pPr>
            <a:r>
              <a:rPr sz="975" b="1">
                <a:solidFill>
                  <a:srgbClr val="0E7C7B"/>
                </a:solidFill>
                <a:latin typeface="Aptos"/>
                <a:ea typeface="Aptos"/>
                <a:cs typeface="Aptos"/>
              </a:rPr>
              <a:t>TOPOLOGY</a:t>
            </a:r>
          </a:p>
        </p:txBody>
      </p:sp>
      <p:sp>
        <p:nvSpPr>
          <p:cNvPr id="4" name="">
            <a:extLst xmlns:a="http://schemas.openxmlformats.org/drawingml/2006/main">
              <a:ext uri="{FF2B5EF4-FFF2-40B4-BE49-F238E27FC236}">
                <a16:creationId xmlns:a16="http://schemas.microsoft.com/office/drawing/2014/main" id="{EC5293E6-22FF-4F57-A4A0-EBAD1DDCAE03}"/>
              </a:ext>
            </a:extLst>
          </p:cNvPr>
          <p:cNvSpPr>
            <a:spLocks xmlns:a="http://schemas.openxmlformats.org/drawingml/2006/main" noGrp="1"/>
          </p:cNvSpPr>
          <p:nvPr/>
        </p:nvSpPr>
        <p:spPr>
          <a:xfrm xmlns:a="http://schemas.openxmlformats.org/drawingml/2006/main">
            <a:off x="495300" y="666750"/>
            <a:ext cx="8382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Hub-and-spoke delegation keeps ownership explicit.</a:t>
            </a:r>
          </a:p>
        </p:txBody>
      </p:sp>
      <p:sp>
        <p:nvSpPr>
          <p:cNvPr id="5" name="">
            <a:extLst xmlns:a="http://schemas.openxmlformats.org/drawingml/2006/main">
              <a:ext uri="{FF2B5EF4-FFF2-40B4-BE49-F238E27FC236}">
                <a16:creationId xmlns:a16="http://schemas.microsoft.com/office/drawing/2014/main" id="{AE36B053-EF10-482E-A781-3C5BE0B89DDC}"/>
              </a:ext>
            </a:extLst>
          </p:cNvPr>
          <p:cNvSpPr>
            <a:spLocks xmlns:a="http://schemas.openxmlformats.org/drawingml/2006/main" noGrp="1"/>
          </p:cNvSpPr>
          <p:nvPr/>
        </p:nvSpPr>
        <p:spPr>
          <a:xfrm xmlns:a="http://schemas.openxmlformats.org/drawingml/2006/main">
            <a:off x="495300" y="1447800"/>
            <a:ext cx="11201400" cy="14288"/>
          </a:xfrm>
          <a:prstGeom xmlns:a="http://schemas.openxmlformats.org/drawingml/2006/main" prst="rect">
            <a:avLst/>
          </a:prstGeom>
          <a:solidFill xmlns:a="http://schemas.openxmlformats.org/drawingml/2006/main">
            <a:srgbClr val="C9C2B4"/>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8837F327-2091-4D83-BA65-D26D9F1984DD}"/>
              </a:ext>
            </a:extLst>
          </p:cNvPr>
          <p:cNvSpPr>
            <a:spLocks xmlns:a="http://schemas.openxmlformats.org/drawingml/2006/main" noGrp="1"/>
          </p:cNvSpPr>
          <p:nvPr/>
        </p:nvSpPr>
        <p:spPr>
          <a:xfrm xmlns:a="http://schemas.openxmlformats.org/drawingml/2006/main">
            <a:off x="495300" y="6496050"/>
            <a:ext cx="800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.opencode/agents/os-opt-manager.md; .opencode/docs/harness_engineer_system.md</a:t>
            </a:r>
          </a:p>
        </p:txBody>
      </p:sp>
      <p:sp>
        <p:nvSpPr>
          <p:cNvPr id="7" name="">
            <a:extLst xmlns:a="http://schemas.openxmlformats.org/drawingml/2006/main">
              <a:ext uri="{FF2B5EF4-FFF2-40B4-BE49-F238E27FC236}">
                <a16:creationId xmlns:a16="http://schemas.microsoft.com/office/drawing/2014/main" id="{9FAB6449-C3F9-4975-A195-AD4565B5737D}"/>
              </a:ext>
            </a:extLst>
          </p:cNvPr>
          <p:cNvSpPr>
            <a:spLocks xmlns:a="http://schemas.openxmlformats.org/drawingml/2006/main" noGrp="1"/>
          </p:cNvSpPr>
          <p:nvPr/>
        </p:nvSpPr>
        <p:spPr>
          <a:xfrm xmlns:a="http://schemas.openxmlformats.org/drawingml/2006/main">
            <a:off x="4572000" y="2438400"/>
            <a:ext cx="3048000" cy="1104900"/>
          </a:xfrm>
          <a:prstGeom xmlns:a="http://schemas.openxmlformats.org/drawingml/2006/main" prst="rect">
            <a:avLst/>
          </a:prstGeom>
          <a:solidFill xmlns:a="http://schemas.openxmlformats.org/drawingml/2006/main">
            <a:srgbClr val="3B4AA4"/>
          </a:solidFill>
          <a:ln xmlns:a="http://schemas.openxmlformats.org/drawingml/2006/main" w="14288">
            <a:solidFill>
              <a:srgbClr val="3B4AA4"/>
            </a:solidFill>
            <a:prstDash val="solid"/>
          </a:ln>
        </p:spPr>
      </p:sp>
      <p:sp>
        <p:nvSpPr>
          <p:cNvPr id="8" name="">
            <a:extLst xmlns:a="http://schemas.openxmlformats.org/drawingml/2006/main">
              <a:ext uri="{FF2B5EF4-FFF2-40B4-BE49-F238E27FC236}">
                <a16:creationId xmlns:a16="http://schemas.microsoft.com/office/drawing/2014/main" id="{E9D11BC7-EA33-40F8-B8EA-1EC736ED818A}"/>
              </a:ext>
            </a:extLst>
          </p:cNvPr>
          <p:cNvSpPr>
            <a:spLocks xmlns:a="http://schemas.openxmlformats.org/drawingml/2006/main" noGrp="1"/>
          </p:cNvSpPr>
          <p:nvPr/>
        </p:nvSpPr>
        <p:spPr>
          <a:xfrm xmlns:a="http://schemas.openxmlformats.org/drawingml/2006/main">
            <a:off x="4819650" y="2667000"/>
            <a:ext cx="2552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os-opt-manager</a:t>
            </a:r>
          </a:p>
        </p:txBody>
      </p:sp>
      <p:sp>
        <p:nvSpPr>
          <p:cNvPr id="9" name="">
            <a:extLst xmlns:a="http://schemas.openxmlformats.org/drawingml/2006/main">
              <a:ext uri="{FF2B5EF4-FFF2-40B4-BE49-F238E27FC236}">
                <a16:creationId xmlns:a16="http://schemas.microsoft.com/office/drawing/2014/main" id="{B595D981-BB74-4CBF-A858-1CD7D5F15B0A}"/>
              </a:ext>
            </a:extLst>
          </p:cNvPr>
          <p:cNvSpPr>
            <a:spLocks xmlns:a="http://schemas.openxmlformats.org/drawingml/2006/main" noGrp="1"/>
          </p:cNvSpPr>
          <p:nvPr/>
        </p:nvSpPr>
        <p:spPr>
          <a:xfrm xmlns:a="http://schemas.openxmlformats.org/drawingml/2006/main">
            <a:off x="4953000" y="3028950"/>
            <a:ext cx="2286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E8EBFF"/>
                </a:solidFill>
                <a:latin typeface="Aptos"/>
                <a:ea typeface="Aptos"/>
                <a:cs typeface="Aptos"/>
              </a:defRPr>
            </a:pPr>
            <a:r>
              <a:rPr sz="1050" b="0">
                <a:solidFill>
                  <a:srgbClr val="E8EBFF"/>
                </a:solidFill>
                <a:latin typeface="Aptos"/>
                <a:ea typeface="Aptos"/>
                <a:cs typeface="Aptos"/>
              </a:rPr>
              <a:t>entry agent + central hub</a:t>
            </a:r>
          </a:p>
          <a:p xmlns:a="http://schemas.openxmlformats.org/drawingml/2006/main">
            <a:pPr algn="ctr">
              <a:defRPr sz="1050" b="0">
                <a:solidFill>
                  <a:srgbClr val="E8EBFF"/>
                </a:solidFill>
                <a:latin typeface="Aptos"/>
                <a:ea typeface="Aptos"/>
                <a:cs typeface="Aptos"/>
              </a:defRPr>
            </a:pPr>
            <a:r>
              <a:rPr sz="1050" b="0">
                <a:solidFill>
                  <a:srgbClr val="E8EBFF"/>
                </a:solidFill>
                <a:latin typeface="Aptos"/>
                <a:ea typeface="Aptos"/>
                <a:cs typeface="Aptos"/>
              </a:rPr>
              <a:t>only manager delegates</a:t>
            </a:r>
          </a:p>
        </p:txBody>
      </p:sp>
      <p:sp>
        <p:nvSpPr>
          <p:cNvPr id="10" name="">
            <a:extLst xmlns:a="http://schemas.openxmlformats.org/drawingml/2006/main">
              <a:ext uri="{FF2B5EF4-FFF2-40B4-BE49-F238E27FC236}">
                <a16:creationId xmlns:a16="http://schemas.microsoft.com/office/drawing/2014/main" id="{4BAEA040-D29C-4435-B6B3-E5A3EEC6F243}"/>
              </a:ext>
            </a:extLst>
          </p:cNvPr>
          <p:cNvSpPr>
            <a:spLocks xmlns:a="http://schemas.openxmlformats.org/drawingml/2006/main" noGrp="1"/>
          </p:cNvSpPr>
          <p:nvPr/>
        </p:nvSpPr>
        <p:spPr>
          <a:xfrm xmlns:a="http://schemas.openxmlformats.org/drawingml/2006/main">
            <a:off x="723900" y="1866900"/>
            <a:ext cx="2857500" cy="876300"/>
          </a:xfrm>
          <a:prstGeom xmlns:a="http://schemas.openxmlformats.org/drawingml/2006/main" prst="rect">
            <a:avLst/>
          </a:prstGeom>
          <a:solidFill xmlns:a="http://schemas.openxmlformats.org/drawingml/2006/main">
            <a:srgbClr val="DCEEEB"/>
          </a:solidFill>
          <a:ln xmlns:a="http://schemas.openxmlformats.org/drawingml/2006/main" w="11430">
            <a:solidFill>
              <a:srgbClr val="0E7C7B"/>
            </a:solidFill>
            <a:prstDash val="solid"/>
          </a:ln>
        </p:spPr>
      </p:sp>
      <p:sp>
        <p:nvSpPr>
          <p:cNvPr id="11" name="">
            <a:extLst xmlns:a="http://schemas.openxmlformats.org/drawingml/2006/main">
              <a:ext uri="{FF2B5EF4-FFF2-40B4-BE49-F238E27FC236}">
                <a16:creationId xmlns:a16="http://schemas.microsoft.com/office/drawing/2014/main" id="{9858E15F-5F51-4171-97E7-ADD1A36A720A}"/>
              </a:ext>
            </a:extLst>
          </p:cNvPr>
          <p:cNvSpPr>
            <a:spLocks xmlns:a="http://schemas.openxmlformats.org/drawingml/2006/main" noGrp="1"/>
          </p:cNvSpPr>
          <p:nvPr/>
        </p:nvSpPr>
        <p:spPr>
          <a:xfrm xmlns:a="http://schemas.openxmlformats.org/drawingml/2006/main">
            <a:off x="857250" y="2038350"/>
            <a:ext cx="2590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7202A"/>
                </a:solidFill>
                <a:latin typeface="Aptos"/>
                <a:ea typeface="Aptos"/>
                <a:cs typeface="Aptos"/>
              </a:defRPr>
            </a:pPr>
            <a:r>
              <a:rPr sz="1350" b="1">
                <a:solidFill>
                  <a:srgbClr val="17202A"/>
                </a:solidFill>
                <a:latin typeface="Aptos"/>
                <a:ea typeface="Aptos"/>
                <a:cs typeface="Aptos"/>
              </a:rPr>
              <a:t>Research specialist</a:t>
            </a:r>
          </a:p>
        </p:txBody>
      </p:sp>
      <p:sp>
        <p:nvSpPr>
          <p:cNvPr id="12" name="">
            <a:extLst xmlns:a="http://schemas.openxmlformats.org/drawingml/2006/main">
              <a:ext uri="{FF2B5EF4-FFF2-40B4-BE49-F238E27FC236}">
                <a16:creationId xmlns:a16="http://schemas.microsoft.com/office/drawing/2014/main" id="{F7F344F9-4705-4310-8B84-199AB1CCC185}"/>
              </a:ext>
            </a:extLst>
          </p:cNvPr>
          <p:cNvSpPr>
            <a:spLocks xmlns:a="http://schemas.openxmlformats.org/drawingml/2006/main" noGrp="1"/>
          </p:cNvSpPr>
          <p:nvPr/>
        </p:nvSpPr>
        <p:spPr>
          <a:xfrm xmlns:a="http://schemas.openxmlformats.org/drawingml/2006/main">
            <a:off x="895350" y="2343150"/>
            <a:ext cx="2514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13" b="0">
                <a:solidFill>
                  <a:srgbClr val="68707E"/>
                </a:solidFill>
                <a:latin typeface="Aptos"/>
                <a:ea typeface="Aptos"/>
                <a:cs typeface="Aptos"/>
              </a:defRPr>
            </a:pPr>
            <a:r>
              <a:rPr sz="1013" b="0">
                <a:solidFill>
                  <a:srgbClr val="68707E"/>
                </a:solidFill>
                <a:latin typeface="Aptos"/>
                <a:ea typeface="Aptos"/>
                <a:cs typeface="Aptos"/>
              </a:rPr>
              <a:t>subsystem design + plan</a:t>
            </a:r>
          </a:p>
        </p:txBody>
      </p:sp>
      <p:sp>
        <p:nvSpPr>
          <p:cNvPr id="13" name="">
            <a:extLst xmlns:a="http://schemas.openxmlformats.org/drawingml/2006/main">
              <a:ext uri="{FF2B5EF4-FFF2-40B4-BE49-F238E27FC236}">
                <a16:creationId xmlns:a16="http://schemas.microsoft.com/office/drawing/2014/main" id="{3D588E9C-95D3-40F2-92CC-5664EECE6C8D}"/>
              </a:ext>
            </a:extLst>
          </p:cNvPr>
          <p:cNvSpPr>
            <a:spLocks xmlns:a="http://schemas.openxmlformats.org/drawingml/2006/main" noGrp="1"/>
          </p:cNvSpPr>
          <p:nvPr/>
        </p:nvSpPr>
        <p:spPr>
          <a:xfrm xmlns:a="http://schemas.openxmlformats.org/drawingml/2006/main">
            <a:off x="723900" y="3848100"/>
            <a:ext cx="2857500" cy="876300"/>
          </a:xfrm>
          <a:prstGeom xmlns:a="http://schemas.openxmlformats.org/drawingml/2006/main" prst="rect">
            <a:avLst/>
          </a:prstGeom>
          <a:solidFill xmlns:a="http://schemas.openxmlformats.org/drawingml/2006/main">
            <a:srgbClr val="F5E5C8"/>
          </a:solidFill>
          <a:ln xmlns:a="http://schemas.openxmlformats.org/drawingml/2006/main" w="11430">
            <a:solidFill>
              <a:srgbClr val="D98B21"/>
            </a:solidFill>
            <a:prstDash val="solid"/>
          </a:ln>
        </p:spPr>
      </p:sp>
      <p:sp>
        <p:nvSpPr>
          <p:cNvPr id="14" name="">
            <a:extLst xmlns:a="http://schemas.openxmlformats.org/drawingml/2006/main">
              <a:ext uri="{FF2B5EF4-FFF2-40B4-BE49-F238E27FC236}">
                <a16:creationId xmlns:a16="http://schemas.microsoft.com/office/drawing/2014/main" id="{AF651BFC-C9F5-4C15-A917-5D9797307E8E}"/>
              </a:ext>
            </a:extLst>
          </p:cNvPr>
          <p:cNvSpPr>
            <a:spLocks xmlns:a="http://schemas.openxmlformats.org/drawingml/2006/main" noGrp="1"/>
          </p:cNvSpPr>
          <p:nvPr/>
        </p:nvSpPr>
        <p:spPr>
          <a:xfrm xmlns:a="http://schemas.openxmlformats.org/drawingml/2006/main">
            <a:off x="857250" y="4019550"/>
            <a:ext cx="2590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7202A"/>
                </a:solidFill>
                <a:latin typeface="Aptos"/>
                <a:ea typeface="Aptos"/>
                <a:cs typeface="Aptos"/>
              </a:defRPr>
            </a:pPr>
            <a:r>
              <a:rPr sz="1350" b="1">
                <a:solidFill>
                  <a:srgbClr val="17202A"/>
                </a:solidFill>
                <a:latin typeface="Aptos"/>
                <a:ea typeface="Aptos"/>
                <a:cs typeface="Aptos"/>
              </a:rPr>
              <a:t>kernel-plan-reviewer</a:t>
            </a:r>
          </a:p>
        </p:txBody>
      </p:sp>
      <p:sp>
        <p:nvSpPr>
          <p:cNvPr id="15" name="">
            <a:extLst xmlns:a="http://schemas.openxmlformats.org/drawingml/2006/main">
              <a:ext uri="{FF2B5EF4-FFF2-40B4-BE49-F238E27FC236}">
                <a16:creationId xmlns:a16="http://schemas.microsoft.com/office/drawing/2014/main" id="{391A146B-B69D-425A-8700-7BE52C9D9DD8}"/>
              </a:ext>
            </a:extLst>
          </p:cNvPr>
          <p:cNvSpPr>
            <a:spLocks xmlns:a="http://schemas.openxmlformats.org/drawingml/2006/main" noGrp="1"/>
          </p:cNvSpPr>
          <p:nvPr/>
        </p:nvSpPr>
        <p:spPr>
          <a:xfrm xmlns:a="http://schemas.openxmlformats.org/drawingml/2006/main">
            <a:off x="895350" y="4324350"/>
            <a:ext cx="2514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13" b="0">
                <a:solidFill>
                  <a:srgbClr val="68707E"/>
                </a:solidFill>
                <a:latin typeface="Aptos"/>
                <a:ea typeface="Aptos"/>
                <a:cs typeface="Aptos"/>
              </a:defRPr>
            </a:pPr>
            <a:r>
              <a:rPr sz="1013" b="0">
                <a:solidFill>
                  <a:srgbClr val="68707E"/>
                </a:solidFill>
                <a:latin typeface="Aptos"/>
                <a:ea typeface="Aptos"/>
                <a:cs typeface="Aptos"/>
              </a:rPr>
              <a:t>pre-code gate</a:t>
            </a:r>
          </a:p>
        </p:txBody>
      </p:sp>
      <p:sp>
        <p:nvSpPr>
          <p:cNvPr id="16" name="">
            <a:extLst xmlns:a="http://schemas.openxmlformats.org/drawingml/2006/main">
              <a:ext uri="{FF2B5EF4-FFF2-40B4-BE49-F238E27FC236}">
                <a16:creationId xmlns:a16="http://schemas.microsoft.com/office/drawing/2014/main" id="{57EBF757-21CA-4816-91B0-0FC9B5960E9A}"/>
              </a:ext>
            </a:extLst>
          </p:cNvPr>
          <p:cNvSpPr>
            <a:spLocks xmlns:a="http://schemas.openxmlformats.org/drawingml/2006/main" noGrp="1"/>
          </p:cNvSpPr>
          <p:nvPr/>
        </p:nvSpPr>
        <p:spPr>
          <a:xfrm xmlns:a="http://schemas.openxmlformats.org/drawingml/2006/main">
            <a:off x="4476750" y="4572000"/>
            <a:ext cx="2857500" cy="876300"/>
          </a:xfrm>
          <a:prstGeom xmlns:a="http://schemas.openxmlformats.org/drawingml/2006/main" prst="rect">
            <a:avLst/>
          </a:prstGeom>
          <a:solidFill xmlns:a="http://schemas.openxmlformats.org/drawingml/2006/main">
            <a:srgbClr val="E3EBD8"/>
          </a:solidFill>
          <a:ln xmlns:a="http://schemas.openxmlformats.org/drawingml/2006/main" w="11430">
            <a:solidFill>
              <a:srgbClr val="5E7E35"/>
            </a:solidFill>
            <a:prstDash val="solid"/>
          </a:ln>
        </p:spPr>
      </p:sp>
      <p:sp>
        <p:nvSpPr>
          <p:cNvPr id="17" name="">
            <a:extLst xmlns:a="http://schemas.openxmlformats.org/drawingml/2006/main">
              <a:ext uri="{FF2B5EF4-FFF2-40B4-BE49-F238E27FC236}">
                <a16:creationId xmlns:a16="http://schemas.microsoft.com/office/drawing/2014/main" id="{784742A6-8361-4A56-9888-91CAD454D838}"/>
              </a:ext>
            </a:extLst>
          </p:cNvPr>
          <p:cNvSpPr>
            <a:spLocks xmlns:a="http://schemas.openxmlformats.org/drawingml/2006/main" noGrp="1"/>
          </p:cNvSpPr>
          <p:nvPr/>
        </p:nvSpPr>
        <p:spPr>
          <a:xfrm xmlns:a="http://schemas.openxmlformats.org/drawingml/2006/main">
            <a:off x="4610100" y="4743450"/>
            <a:ext cx="2590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7202A"/>
                </a:solidFill>
                <a:latin typeface="Aptos"/>
                <a:ea typeface="Aptos"/>
                <a:cs typeface="Aptos"/>
              </a:defRPr>
            </a:pPr>
            <a:r>
              <a:rPr sz="1350" b="1">
                <a:solidFill>
                  <a:srgbClr val="17202A"/>
                </a:solidFill>
                <a:latin typeface="Aptos"/>
                <a:ea typeface="Aptos"/>
                <a:cs typeface="Aptos"/>
              </a:rPr>
              <a:t>kernel-code-agent</a:t>
            </a:r>
          </a:p>
        </p:txBody>
      </p:sp>
      <p:sp>
        <p:nvSpPr>
          <p:cNvPr id="18" name="">
            <a:extLst xmlns:a="http://schemas.openxmlformats.org/drawingml/2006/main">
              <a:ext uri="{FF2B5EF4-FFF2-40B4-BE49-F238E27FC236}">
                <a16:creationId xmlns:a16="http://schemas.microsoft.com/office/drawing/2014/main" id="{439F7B76-A609-4AFD-9884-63E8AAAD7BB0}"/>
              </a:ext>
            </a:extLst>
          </p:cNvPr>
          <p:cNvSpPr>
            <a:spLocks xmlns:a="http://schemas.openxmlformats.org/drawingml/2006/main" noGrp="1"/>
          </p:cNvSpPr>
          <p:nvPr/>
        </p:nvSpPr>
        <p:spPr>
          <a:xfrm xmlns:a="http://schemas.openxmlformats.org/drawingml/2006/main">
            <a:off x="4648200" y="5048250"/>
            <a:ext cx="2514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13" b="0">
                <a:solidFill>
                  <a:srgbClr val="68707E"/>
                </a:solidFill>
                <a:latin typeface="Aptos"/>
                <a:ea typeface="Aptos"/>
                <a:cs typeface="Aptos"/>
              </a:defRPr>
            </a:pPr>
            <a:r>
              <a:rPr sz="1013" b="0">
                <a:solidFill>
                  <a:srgbClr val="68707E"/>
                </a:solidFill>
                <a:latin typeface="Aptos"/>
                <a:ea typeface="Aptos"/>
                <a:cs typeface="Aptos"/>
              </a:rPr>
              <a:t>approved patch only</a:t>
            </a:r>
          </a:p>
        </p:txBody>
      </p:sp>
      <p:sp>
        <p:nvSpPr>
          <p:cNvPr id="19" name="">
            <a:extLst xmlns:a="http://schemas.openxmlformats.org/drawingml/2006/main">
              <a:ext uri="{FF2B5EF4-FFF2-40B4-BE49-F238E27FC236}">
                <a16:creationId xmlns:a16="http://schemas.microsoft.com/office/drawing/2014/main" id="{90D15907-CA28-442D-B3B8-94C4CA398136}"/>
              </a:ext>
            </a:extLst>
          </p:cNvPr>
          <p:cNvSpPr>
            <a:spLocks xmlns:a="http://schemas.openxmlformats.org/drawingml/2006/main" noGrp="1"/>
          </p:cNvSpPr>
          <p:nvPr/>
        </p:nvSpPr>
        <p:spPr>
          <a:xfrm xmlns:a="http://schemas.openxmlformats.org/drawingml/2006/main">
            <a:off x="8210550" y="3848100"/>
            <a:ext cx="2857500" cy="876300"/>
          </a:xfrm>
          <a:prstGeom xmlns:a="http://schemas.openxmlformats.org/drawingml/2006/main" prst="rect">
            <a:avLst/>
          </a:prstGeom>
          <a:solidFill xmlns:a="http://schemas.openxmlformats.org/drawingml/2006/main">
            <a:srgbClr val="F5E5C8"/>
          </a:solidFill>
          <a:ln xmlns:a="http://schemas.openxmlformats.org/drawingml/2006/main" w="11430">
            <a:solidFill>
              <a:srgbClr val="D98B21"/>
            </a:solidFill>
            <a:prstDash val="solid"/>
          </a:ln>
        </p:spPr>
      </p:sp>
      <p:sp>
        <p:nvSpPr>
          <p:cNvPr id="20" name="">
            <a:extLst xmlns:a="http://schemas.openxmlformats.org/drawingml/2006/main">
              <a:ext uri="{FF2B5EF4-FFF2-40B4-BE49-F238E27FC236}">
                <a16:creationId xmlns:a16="http://schemas.microsoft.com/office/drawing/2014/main" id="{6551FFB2-F506-459B-97E5-A33575096D85}"/>
              </a:ext>
            </a:extLst>
          </p:cNvPr>
          <p:cNvSpPr>
            <a:spLocks xmlns:a="http://schemas.openxmlformats.org/drawingml/2006/main" noGrp="1"/>
          </p:cNvSpPr>
          <p:nvPr/>
        </p:nvSpPr>
        <p:spPr>
          <a:xfrm xmlns:a="http://schemas.openxmlformats.org/drawingml/2006/main">
            <a:off x="8343900" y="4019550"/>
            <a:ext cx="2590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7202A"/>
                </a:solidFill>
                <a:latin typeface="Aptos"/>
                <a:ea typeface="Aptos"/>
                <a:cs typeface="Aptos"/>
              </a:defRPr>
            </a:pPr>
            <a:r>
              <a:rPr sz="1350" b="1">
                <a:solidFill>
                  <a:srgbClr val="17202A"/>
                </a:solidFill>
                <a:latin typeface="Aptos"/>
                <a:ea typeface="Aptos"/>
                <a:cs typeface="Aptos"/>
              </a:rPr>
              <a:t>kernel-code-reviewer</a:t>
            </a:r>
          </a:p>
        </p:txBody>
      </p:sp>
      <p:sp>
        <p:nvSpPr>
          <p:cNvPr id="21" name="">
            <a:extLst xmlns:a="http://schemas.openxmlformats.org/drawingml/2006/main">
              <a:ext uri="{FF2B5EF4-FFF2-40B4-BE49-F238E27FC236}">
                <a16:creationId xmlns:a16="http://schemas.microsoft.com/office/drawing/2014/main" id="{6FFDD3E7-14B6-4661-BF92-8E7BE276106F}"/>
              </a:ext>
            </a:extLst>
          </p:cNvPr>
          <p:cNvSpPr>
            <a:spLocks xmlns:a="http://schemas.openxmlformats.org/drawingml/2006/main" noGrp="1"/>
          </p:cNvSpPr>
          <p:nvPr/>
        </p:nvSpPr>
        <p:spPr>
          <a:xfrm xmlns:a="http://schemas.openxmlformats.org/drawingml/2006/main">
            <a:off x="8382000" y="4324350"/>
            <a:ext cx="2514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13" b="0">
                <a:solidFill>
                  <a:srgbClr val="68707E"/>
                </a:solidFill>
                <a:latin typeface="Aptos"/>
                <a:ea typeface="Aptos"/>
                <a:cs typeface="Aptos"/>
              </a:defRPr>
            </a:pPr>
            <a:r>
              <a:rPr sz="1013" b="0">
                <a:solidFill>
                  <a:srgbClr val="68707E"/>
                </a:solidFill>
                <a:latin typeface="Aptos"/>
                <a:ea typeface="Aptos"/>
                <a:cs typeface="Aptos"/>
              </a:rPr>
              <a:t>post-code gate</a:t>
            </a:r>
          </a:p>
        </p:txBody>
      </p:sp>
      <p:sp>
        <p:nvSpPr>
          <p:cNvPr id="22" name="">
            <a:extLst xmlns:a="http://schemas.openxmlformats.org/drawingml/2006/main">
              <a:ext uri="{FF2B5EF4-FFF2-40B4-BE49-F238E27FC236}">
                <a16:creationId xmlns:a16="http://schemas.microsoft.com/office/drawing/2014/main" id="{BB139B88-A06F-4C9F-9BE9-B9A5AA39D7FA}"/>
              </a:ext>
            </a:extLst>
          </p:cNvPr>
          <p:cNvSpPr>
            <a:spLocks xmlns:a="http://schemas.openxmlformats.org/drawingml/2006/main" noGrp="1"/>
          </p:cNvSpPr>
          <p:nvPr/>
        </p:nvSpPr>
        <p:spPr>
          <a:xfrm xmlns:a="http://schemas.openxmlformats.org/drawingml/2006/main">
            <a:off x="8210550" y="1866900"/>
            <a:ext cx="2857500" cy="876300"/>
          </a:xfrm>
          <a:prstGeom xmlns:a="http://schemas.openxmlformats.org/drawingml/2006/main" prst="rect">
            <a:avLst/>
          </a:prstGeom>
          <a:solidFill xmlns:a="http://schemas.openxmlformats.org/drawingml/2006/main">
            <a:srgbClr val="F1DAD4"/>
          </a:solidFill>
          <a:ln xmlns:a="http://schemas.openxmlformats.org/drawingml/2006/main" w="11430">
            <a:solidFill>
              <a:srgbClr val="C84D3A"/>
            </a:solidFill>
            <a:prstDash val="solid"/>
          </a:ln>
        </p:spPr>
      </p:sp>
      <p:sp>
        <p:nvSpPr>
          <p:cNvPr id="23" name="">
            <a:extLst xmlns:a="http://schemas.openxmlformats.org/drawingml/2006/main">
              <a:ext uri="{FF2B5EF4-FFF2-40B4-BE49-F238E27FC236}">
                <a16:creationId xmlns:a16="http://schemas.microsoft.com/office/drawing/2014/main" id="{3D00C097-DE64-4C02-A17A-795143D7E95F}"/>
              </a:ext>
            </a:extLst>
          </p:cNvPr>
          <p:cNvSpPr>
            <a:spLocks xmlns:a="http://schemas.openxmlformats.org/drawingml/2006/main" noGrp="1"/>
          </p:cNvSpPr>
          <p:nvPr/>
        </p:nvSpPr>
        <p:spPr>
          <a:xfrm xmlns:a="http://schemas.openxmlformats.org/drawingml/2006/main">
            <a:off x="8343900" y="2038350"/>
            <a:ext cx="2590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7202A"/>
                </a:solidFill>
                <a:latin typeface="Aptos"/>
                <a:ea typeface="Aptos"/>
                <a:cs typeface="Aptos"/>
              </a:defRPr>
            </a:pPr>
            <a:r>
              <a:rPr sz="1350" b="1">
                <a:solidFill>
                  <a:srgbClr val="17202A"/>
                </a:solidFill>
                <a:latin typeface="Aptos"/>
                <a:ea typeface="Aptos"/>
                <a:cs typeface="Aptos"/>
              </a:rPr>
              <a:t>kernel-tester-agent</a:t>
            </a:r>
          </a:p>
        </p:txBody>
      </p:sp>
      <p:sp>
        <p:nvSpPr>
          <p:cNvPr id="24" name="">
            <a:extLst xmlns:a="http://schemas.openxmlformats.org/drawingml/2006/main">
              <a:ext uri="{FF2B5EF4-FFF2-40B4-BE49-F238E27FC236}">
                <a16:creationId xmlns:a16="http://schemas.microsoft.com/office/drawing/2014/main" id="{FE5358D2-F327-4799-B7BB-879060459473}"/>
              </a:ext>
            </a:extLst>
          </p:cNvPr>
          <p:cNvSpPr>
            <a:spLocks xmlns:a="http://schemas.openxmlformats.org/drawingml/2006/main" noGrp="1"/>
          </p:cNvSpPr>
          <p:nvPr/>
        </p:nvSpPr>
        <p:spPr>
          <a:xfrm xmlns:a="http://schemas.openxmlformats.org/drawingml/2006/main">
            <a:off x="8382000" y="2343150"/>
            <a:ext cx="25146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13" b="0">
                <a:solidFill>
                  <a:srgbClr val="68707E"/>
                </a:solidFill>
                <a:latin typeface="Aptos"/>
                <a:ea typeface="Aptos"/>
                <a:cs typeface="Aptos"/>
              </a:defRPr>
            </a:pPr>
            <a:r>
              <a:rPr sz="1013" b="0">
                <a:solidFill>
                  <a:srgbClr val="68707E"/>
                </a:solidFill>
                <a:latin typeface="Aptos"/>
                <a:ea typeface="Aptos"/>
                <a:cs typeface="Aptos"/>
              </a:rPr>
              <a:t>A/B hardware validation</a:t>
            </a:r>
          </a:p>
        </p:txBody>
      </p:sp>
      <p:sp>
        <p:nvSpPr>
          <p:cNvPr id="25" name="">
            <a:extLst xmlns:a="http://schemas.openxmlformats.org/drawingml/2006/main">
              <a:ext uri="{FF2B5EF4-FFF2-40B4-BE49-F238E27FC236}">
                <a16:creationId xmlns:a16="http://schemas.microsoft.com/office/drawing/2014/main" id="{BACE9ED7-5100-46F0-8BE9-18893FB44A06}"/>
              </a:ext>
            </a:extLst>
          </p:cNvPr>
          <p:cNvSpPr>
            <a:spLocks xmlns:a="http://schemas.openxmlformats.org/drawingml/2006/main" noGrp="1"/>
          </p:cNvSpPr>
          <p:nvPr/>
        </p:nvSpPr>
        <p:spPr>
          <a:xfrm xmlns:a="http://schemas.openxmlformats.org/drawingml/2006/main">
            <a:off x="3771900" y="1771650"/>
            <a:ext cx="552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68707E"/>
                </a:solidFill>
                <a:latin typeface="Aptos"/>
                <a:ea typeface="Aptos"/>
                <a:cs typeface="Aptos"/>
              </a:defRPr>
            </a:pPr>
            <a:r>
              <a:rPr sz="825" b="0">
                <a:solidFill>
                  <a:srgbClr val="68707E"/>
                </a:solidFill>
                <a:latin typeface="Aptos"/>
                <a:ea typeface="Aptos"/>
                <a:cs typeface="Aptos"/>
              </a:rPr>
              <a:t>return</a:t>
            </a:r>
          </a:p>
        </p:txBody>
      </p:sp>
      <p:sp>
        <p:nvSpPr>
          <p:cNvPr id="26" name="">
            <a:extLst xmlns:a="http://schemas.openxmlformats.org/drawingml/2006/main">
              <a:ext uri="{FF2B5EF4-FFF2-40B4-BE49-F238E27FC236}">
                <a16:creationId xmlns:a16="http://schemas.microsoft.com/office/drawing/2014/main" id="{DAD90D26-7085-46B1-AA7A-8FCE753D12B5}"/>
              </a:ext>
            </a:extLst>
          </p:cNvPr>
          <p:cNvSpPr>
            <a:spLocks xmlns:a="http://schemas.openxmlformats.org/drawingml/2006/main" noGrp="1"/>
          </p:cNvSpPr>
          <p:nvPr/>
        </p:nvSpPr>
        <p:spPr>
          <a:xfrm xmlns:a="http://schemas.openxmlformats.org/drawingml/2006/main">
            <a:off x="3943350" y="2438400"/>
            <a:ext cx="247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68707E"/>
                </a:solidFill>
                <a:latin typeface="Aptos"/>
                <a:ea typeface="Aptos"/>
                <a:cs typeface="Aptos"/>
              </a:defRPr>
            </a:pPr>
            <a:r>
              <a:rPr sz="1500" b="1">
                <a:solidFill>
                  <a:srgbClr val="68707E"/>
                </a:solidFill>
                <a:latin typeface="Aptos"/>
                <a:ea typeface="Aptos"/>
                <a:cs typeface="Aptos"/>
              </a:rPr>
              <a:t>&lt;</a:t>
            </a:r>
          </a:p>
        </p:txBody>
      </p:sp>
      <p:sp>
        <p:nvSpPr>
          <p:cNvPr id="27" name="">
            <a:extLst xmlns:a="http://schemas.openxmlformats.org/drawingml/2006/main">
              <a:ext uri="{FF2B5EF4-FFF2-40B4-BE49-F238E27FC236}">
                <a16:creationId xmlns:a16="http://schemas.microsoft.com/office/drawing/2014/main" id="{93DB82F2-718A-4931-B8C8-0B2FA4A1FA6F}"/>
              </a:ext>
            </a:extLst>
          </p:cNvPr>
          <p:cNvSpPr>
            <a:spLocks xmlns:a="http://schemas.openxmlformats.org/drawingml/2006/main" noGrp="1"/>
          </p:cNvSpPr>
          <p:nvPr/>
        </p:nvSpPr>
        <p:spPr>
          <a:xfrm xmlns:a="http://schemas.openxmlformats.org/drawingml/2006/main">
            <a:off x="7848600" y="1771650"/>
            <a:ext cx="647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68707E"/>
                </a:solidFill>
                <a:latin typeface="Aptos"/>
                <a:ea typeface="Aptos"/>
                <a:cs typeface="Aptos"/>
              </a:defRPr>
            </a:pPr>
            <a:r>
              <a:rPr sz="825" b="0">
                <a:solidFill>
                  <a:srgbClr val="68707E"/>
                </a:solidFill>
                <a:latin typeface="Aptos"/>
                <a:ea typeface="Aptos"/>
                <a:cs typeface="Aptos"/>
              </a:rPr>
              <a:t>delegate</a:t>
            </a:r>
          </a:p>
        </p:txBody>
      </p:sp>
      <p:sp>
        <p:nvSpPr>
          <p:cNvPr id="28" name="">
            <a:extLst xmlns:a="http://schemas.openxmlformats.org/drawingml/2006/main">
              <a:ext uri="{FF2B5EF4-FFF2-40B4-BE49-F238E27FC236}">
                <a16:creationId xmlns:a16="http://schemas.microsoft.com/office/drawing/2014/main" id="{60A6B958-5ECB-4FDE-9AC1-090EB687D36F}"/>
              </a:ext>
            </a:extLst>
          </p:cNvPr>
          <p:cNvSpPr>
            <a:spLocks xmlns:a="http://schemas.openxmlformats.org/drawingml/2006/main" noGrp="1"/>
          </p:cNvSpPr>
          <p:nvPr/>
        </p:nvSpPr>
        <p:spPr>
          <a:xfrm xmlns:a="http://schemas.openxmlformats.org/drawingml/2006/main">
            <a:off x="8020050" y="2438400"/>
            <a:ext cx="247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68707E"/>
                </a:solidFill>
                <a:latin typeface="Aptos"/>
                <a:ea typeface="Aptos"/>
                <a:cs typeface="Aptos"/>
              </a:defRPr>
            </a:pPr>
            <a:r>
              <a:rPr sz="1500" b="1">
                <a:solidFill>
                  <a:srgbClr val="68707E"/>
                </a:solidFill>
                <a:latin typeface="Aptos"/>
                <a:ea typeface="Aptos"/>
                <a:cs typeface="Aptos"/>
              </a:rPr>
              <a:t>&gt;</a:t>
            </a:r>
          </a:p>
        </p:txBody>
      </p:sp>
      <p:sp>
        <p:nvSpPr>
          <p:cNvPr id="29" name="">
            <a:extLst xmlns:a="http://schemas.openxmlformats.org/drawingml/2006/main">
              <a:ext uri="{FF2B5EF4-FFF2-40B4-BE49-F238E27FC236}">
                <a16:creationId xmlns:a16="http://schemas.microsoft.com/office/drawing/2014/main" id="{91E6F7E5-05AA-43BD-944F-6E89BF41003C}"/>
              </a:ext>
            </a:extLst>
          </p:cNvPr>
          <p:cNvSpPr>
            <a:spLocks xmlns:a="http://schemas.openxmlformats.org/drawingml/2006/main" noGrp="1"/>
          </p:cNvSpPr>
          <p:nvPr/>
        </p:nvSpPr>
        <p:spPr>
          <a:xfrm xmlns:a="http://schemas.openxmlformats.org/drawingml/2006/main">
            <a:off x="1600200" y="5734050"/>
            <a:ext cx="8991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17202A"/>
                </a:solidFill>
                <a:latin typeface="Aptos"/>
                <a:ea typeface="Aptos"/>
                <a:cs typeface="Aptos"/>
              </a:defRPr>
            </a:pPr>
            <a:r>
              <a:rPr sz="1650" b="1">
                <a:solidFill>
                  <a:srgbClr val="17202A"/>
                </a:solidFill>
                <a:latin typeface="Aptos"/>
                <a:ea typeface="Aptos"/>
                <a:cs typeface="Aptos"/>
              </a:rPr>
              <a:t>Every spoke writes artifacts, returns a compact handoff, and does not delegate further.</a:t>
            </a:r>
          </a:p>
        </p:txBody>
      </p:sp>
      <p:sp>
        <p:nvSpPr>
          <p:cNvPr id="30" name="">
            <a:extLst xmlns:a="http://schemas.openxmlformats.org/drawingml/2006/main">
              <a:ext uri="{FF2B5EF4-FFF2-40B4-BE49-F238E27FC236}">
                <a16:creationId xmlns:a16="http://schemas.microsoft.com/office/drawing/2014/main" id="{5C78DE55-23C0-4D1D-AF8B-5FE5FB5B2CAF}"/>
              </a:ext>
            </a:extLst>
          </p:cNvPr>
          <p:cNvSpPr>
            <a:spLocks xmlns:a="http://schemas.openxmlformats.org/drawingml/2006/main" noGrp="1"/>
          </p:cNvSpPr>
          <p:nvPr/>
        </p:nvSpPr>
        <p:spPr>
          <a:xfrm xmlns:a="http://schemas.openxmlformats.org/drawingml/2006/main">
            <a:off x="495300" y="6705600"/>
            <a:ext cx="457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 multi-agent harness</a:t>
            </a:r>
          </a:p>
        </p:txBody>
      </p:sp>
      <p:sp>
        <p:nvSpPr>
          <p:cNvPr id="31" name="">
            <a:extLst xmlns:a="http://schemas.openxmlformats.org/drawingml/2006/main">
              <a:ext uri="{FF2B5EF4-FFF2-40B4-BE49-F238E27FC236}">
                <a16:creationId xmlns:a16="http://schemas.microsoft.com/office/drawing/2014/main" id="{D7A4E129-B0DC-4499-A619-B842B1D90B26}"/>
              </a:ext>
            </a:extLst>
          </p:cNvPr>
          <p:cNvSpPr>
            <a:spLocks xmlns:a="http://schemas.openxmlformats.org/drawingml/2006/main" noGrp="1"/>
          </p:cNvSpPr>
          <p:nvPr/>
        </p:nvSpPr>
        <p:spPr>
          <a:xfrm xmlns:a="http://schemas.openxmlformats.org/drawingml/2006/main">
            <a:off x="10706100" y="6705600"/>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8707E"/>
                </a:solidFill>
                <a:latin typeface="Aptos"/>
                <a:ea typeface="Aptos"/>
                <a:cs typeface="Aptos"/>
              </a:defRPr>
            </a:pPr>
            <a:r>
              <a:rPr sz="713" b="0">
                <a:solidFill>
                  <a:srgbClr val="68707E"/>
                </a:solidFill>
                <a:latin typeface="Aptos"/>
                <a:ea typeface="Aptos"/>
                <a:cs typeface="Aptos"/>
              </a:rPr>
              <a:t>6 / 14</a:t>
            </a:r>
          </a:p>
        </p:txBody>
      </p:sp>
    </p:spTree>
    <p:extLst>
      <p:ext uri="{BB962C8B-B14F-4D97-AF65-F5344CB8AC3E}">
        <p14:creationId xmlns:p14="http://schemas.microsoft.com/office/powerpoint/2010/main" val="57709636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A295F9D6-B9DD-496F-8981-BAAFAF1514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CE242666-8538-4C50-A148-6B211F53CF32}"/>
              </a:ext>
            </a:extLst>
          </p:cNvPr>
          <p:cNvSpPr>
            <a:spLocks xmlns:a="http://schemas.openxmlformats.org/drawingml/2006/main" noGrp="1"/>
          </p:cNvSpPr>
          <p:nvPr/>
        </p:nvSpPr>
        <p:spPr>
          <a:xfrm xmlns:a="http://schemas.openxmlformats.org/drawingml/2006/main">
            <a:off x="495300" y="419100"/>
            <a:ext cx="304800" cy="381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79C53720-B63B-4354-963B-B21FC260E9FE}"/>
              </a:ext>
            </a:extLst>
          </p:cNvPr>
          <p:cNvSpPr>
            <a:spLocks xmlns:a="http://schemas.openxmlformats.org/drawingml/2006/main" noGrp="1"/>
          </p:cNvSpPr>
          <p:nvPr/>
        </p:nvSpPr>
        <p:spPr>
          <a:xfrm xmlns:a="http://schemas.openxmlformats.org/drawingml/2006/main">
            <a:off x="895350" y="285750"/>
            <a:ext cx="495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E7C7B"/>
                </a:solidFill>
                <a:latin typeface="Aptos"/>
                <a:ea typeface="Aptos"/>
                <a:cs typeface="Aptos"/>
              </a:defRPr>
            </a:pPr>
            <a:r>
              <a:rPr sz="975" b="1">
                <a:solidFill>
                  <a:srgbClr val="0E7C7B"/>
                </a:solidFill>
                <a:latin typeface="Aptos"/>
                <a:ea typeface="Aptos"/>
                <a:cs typeface="Aptos"/>
              </a:rPr>
              <a:t>STATE MODEL</a:t>
            </a:r>
          </a:p>
        </p:txBody>
      </p:sp>
      <p:sp>
        <p:nvSpPr>
          <p:cNvPr id="4" name="">
            <a:extLst xmlns:a="http://schemas.openxmlformats.org/drawingml/2006/main">
              <a:ext uri="{FF2B5EF4-FFF2-40B4-BE49-F238E27FC236}">
                <a16:creationId xmlns:a16="http://schemas.microsoft.com/office/drawing/2014/main" id="{CCDB6C8D-16F2-454C-972E-7EC78318C201}"/>
              </a:ext>
            </a:extLst>
          </p:cNvPr>
          <p:cNvSpPr>
            <a:spLocks xmlns:a="http://schemas.openxmlformats.org/drawingml/2006/main" noGrp="1"/>
          </p:cNvSpPr>
          <p:nvPr/>
        </p:nvSpPr>
        <p:spPr>
          <a:xfrm xmlns:a="http://schemas.openxmlformats.org/drawingml/2006/main">
            <a:off x="495300" y="666750"/>
            <a:ext cx="8382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Every manager turn rebuilds state from disk before it acts.</a:t>
            </a:r>
          </a:p>
        </p:txBody>
      </p:sp>
      <p:sp>
        <p:nvSpPr>
          <p:cNvPr id="5" name="">
            <a:extLst xmlns:a="http://schemas.openxmlformats.org/drawingml/2006/main">
              <a:ext uri="{FF2B5EF4-FFF2-40B4-BE49-F238E27FC236}">
                <a16:creationId xmlns:a16="http://schemas.microsoft.com/office/drawing/2014/main" id="{F8BC63ED-ECAA-4C67-89F4-91F499FAE6AC}"/>
              </a:ext>
            </a:extLst>
          </p:cNvPr>
          <p:cNvSpPr>
            <a:spLocks xmlns:a="http://schemas.openxmlformats.org/drawingml/2006/main" noGrp="1"/>
          </p:cNvSpPr>
          <p:nvPr/>
        </p:nvSpPr>
        <p:spPr>
          <a:xfrm xmlns:a="http://schemas.openxmlformats.org/drawingml/2006/main">
            <a:off x="495300" y="1447800"/>
            <a:ext cx="11201400" cy="14288"/>
          </a:xfrm>
          <a:prstGeom xmlns:a="http://schemas.openxmlformats.org/drawingml/2006/main" prst="rect">
            <a:avLst/>
          </a:prstGeom>
          <a:solidFill xmlns:a="http://schemas.openxmlformats.org/drawingml/2006/main">
            <a:srgbClr val="C9C2B4"/>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127BEF8-3D6F-4213-BC39-5CF5DDADFAF6}"/>
              </a:ext>
            </a:extLst>
          </p:cNvPr>
          <p:cNvSpPr>
            <a:spLocks xmlns:a="http://schemas.openxmlformats.org/drawingml/2006/main" noGrp="1"/>
          </p:cNvSpPr>
          <p:nvPr/>
        </p:nvSpPr>
        <p:spPr>
          <a:xfrm xmlns:a="http://schemas.openxmlformats.org/drawingml/2006/main">
            <a:off x="495300" y="6496050"/>
            <a:ext cx="800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.opencode/agents/os-opt-manager.md; .opencode/skills/iterative-optimization.md</a:t>
            </a:r>
          </a:p>
        </p:txBody>
      </p:sp>
      <p:sp>
        <p:nvSpPr>
          <p:cNvPr id="7" name="">
            <a:extLst xmlns:a="http://schemas.openxmlformats.org/drawingml/2006/main">
              <a:ext uri="{FF2B5EF4-FFF2-40B4-BE49-F238E27FC236}">
                <a16:creationId xmlns:a16="http://schemas.microsoft.com/office/drawing/2014/main" id="{7BB89DC8-C3E8-4631-90F4-A2F67ACF2DFA}"/>
              </a:ext>
            </a:extLst>
          </p:cNvPr>
          <p:cNvSpPr>
            <a:spLocks xmlns:a="http://schemas.openxmlformats.org/drawingml/2006/main" noGrp="1"/>
          </p:cNvSpPr>
          <p:nvPr/>
        </p:nvSpPr>
        <p:spPr>
          <a:xfrm xmlns:a="http://schemas.openxmlformats.org/drawingml/2006/main">
            <a:off x="704850" y="1962150"/>
            <a:ext cx="4457700" cy="3028950"/>
          </a:xfrm>
          <a:prstGeom xmlns:a="http://schemas.openxmlformats.org/drawingml/2006/main" prst="rect">
            <a:avLst/>
          </a:prstGeom>
          <a:solidFill xmlns:a="http://schemas.openxmlformats.org/drawingml/2006/main">
            <a:srgbClr val="FFFFFF"/>
          </a:solidFill>
          <a:ln xmlns:a="http://schemas.openxmlformats.org/drawingml/2006/main" w="9525">
            <a:solidFill>
              <a:srgbClr val="C9C2B4"/>
            </a:solidFill>
            <a:prstDash val="solid"/>
          </a:ln>
        </p:spPr>
      </p:sp>
      <p:sp>
        <p:nvSpPr>
          <p:cNvPr id="8" name="">
            <a:extLst xmlns:a="http://schemas.openxmlformats.org/drawingml/2006/main">
              <a:ext uri="{FF2B5EF4-FFF2-40B4-BE49-F238E27FC236}">
                <a16:creationId xmlns:a16="http://schemas.microsoft.com/office/drawing/2014/main" id="{A3389D88-C34C-4C8C-BE87-D3DF29AB6795}"/>
              </a:ext>
            </a:extLst>
          </p:cNvPr>
          <p:cNvSpPr>
            <a:spLocks xmlns:a="http://schemas.openxmlformats.org/drawingml/2006/main" noGrp="1"/>
          </p:cNvSpPr>
          <p:nvPr/>
        </p:nvSpPr>
        <p:spPr>
          <a:xfrm xmlns:a="http://schemas.openxmlformats.org/drawingml/2006/main">
            <a:off x="952500" y="2209800"/>
            <a:ext cx="3714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7202A"/>
                </a:solidFill>
                <a:latin typeface="Aptos"/>
                <a:ea typeface="Aptos"/>
                <a:cs typeface="Aptos"/>
              </a:defRPr>
            </a:pPr>
            <a:r>
              <a:rPr sz="1725" b="1">
                <a:solidFill>
                  <a:srgbClr val="17202A"/>
                </a:solidFill>
                <a:latin typeface="Aptos"/>
                <a:ea typeface="Aptos"/>
                <a:cs typeface="Aptos"/>
              </a:rPr>
              <a:t>Per-turn rebuild protocol</a:t>
            </a:r>
          </a:p>
        </p:txBody>
      </p:sp>
      <p:sp>
        <p:nvSpPr>
          <p:cNvPr id="9" name="">
            <a:extLst xmlns:a="http://schemas.openxmlformats.org/drawingml/2006/main">
              <a:ext uri="{FF2B5EF4-FFF2-40B4-BE49-F238E27FC236}">
                <a16:creationId xmlns:a16="http://schemas.microsoft.com/office/drawing/2014/main" id="{D5285824-EF00-4D0F-9132-5483B579884A}"/>
              </a:ext>
            </a:extLst>
          </p:cNvPr>
          <p:cNvSpPr>
            <a:spLocks xmlns:a="http://schemas.openxmlformats.org/drawingml/2006/main" noGrp="1"/>
          </p:cNvSpPr>
          <p:nvPr/>
        </p:nvSpPr>
        <p:spPr>
          <a:xfrm xmlns:a="http://schemas.openxmlformats.org/drawingml/2006/main">
            <a:off x="971550" y="2743200"/>
            <a:ext cx="266700" cy="2667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6FD7DFD-1B63-4FA6-8C5D-EF9145DAD5B3}"/>
              </a:ext>
            </a:extLst>
          </p:cNvPr>
          <p:cNvSpPr>
            <a:spLocks xmlns:a="http://schemas.openxmlformats.org/drawingml/2006/main" noGrp="1"/>
          </p:cNvSpPr>
          <p:nvPr/>
        </p:nvSpPr>
        <p:spPr>
          <a:xfrm xmlns:a="http://schemas.openxmlformats.org/drawingml/2006/main">
            <a:off x="971550" y="2790825"/>
            <a:ext cx="2667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E7304FD3-383D-44A1-8607-A2A35AD64FE2}"/>
              </a:ext>
            </a:extLst>
          </p:cNvPr>
          <p:cNvSpPr>
            <a:spLocks xmlns:a="http://schemas.openxmlformats.org/drawingml/2006/main" noGrp="1"/>
          </p:cNvSpPr>
          <p:nvPr/>
        </p:nvSpPr>
        <p:spPr>
          <a:xfrm xmlns:a="http://schemas.openxmlformats.org/drawingml/2006/main">
            <a:off x="1390650" y="2705100"/>
            <a:ext cx="3257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Read .opencode/state/current_task.json</a:t>
            </a:r>
          </a:p>
        </p:txBody>
      </p:sp>
      <p:sp>
        <p:nvSpPr>
          <p:cNvPr id="12" name="">
            <a:extLst xmlns:a="http://schemas.openxmlformats.org/drawingml/2006/main">
              <a:ext uri="{FF2B5EF4-FFF2-40B4-BE49-F238E27FC236}">
                <a16:creationId xmlns:a16="http://schemas.microsoft.com/office/drawing/2014/main" id="{D0F4FF28-2973-413A-B0C8-5C61975F4B22}"/>
              </a:ext>
            </a:extLst>
          </p:cNvPr>
          <p:cNvSpPr>
            <a:spLocks xmlns:a="http://schemas.openxmlformats.org/drawingml/2006/main" noGrp="1"/>
          </p:cNvSpPr>
          <p:nvPr/>
        </p:nvSpPr>
        <p:spPr>
          <a:xfrm xmlns:a="http://schemas.openxmlformats.org/drawingml/2006/main">
            <a:off x="971550" y="3162300"/>
            <a:ext cx="266700" cy="2667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9F4B57DC-3A73-4E82-A392-069772776A11}"/>
              </a:ext>
            </a:extLst>
          </p:cNvPr>
          <p:cNvSpPr>
            <a:spLocks xmlns:a="http://schemas.openxmlformats.org/drawingml/2006/main" noGrp="1"/>
          </p:cNvSpPr>
          <p:nvPr/>
        </p:nvSpPr>
        <p:spPr>
          <a:xfrm xmlns:a="http://schemas.openxmlformats.org/drawingml/2006/main">
            <a:off x="971550" y="3209925"/>
            <a:ext cx="2667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2</a:t>
            </a:r>
          </a:p>
        </p:txBody>
      </p:sp>
      <p:sp>
        <p:nvSpPr>
          <p:cNvPr id="14" name="">
            <a:extLst xmlns:a="http://schemas.openxmlformats.org/drawingml/2006/main">
              <a:ext uri="{FF2B5EF4-FFF2-40B4-BE49-F238E27FC236}">
                <a16:creationId xmlns:a16="http://schemas.microsoft.com/office/drawing/2014/main" id="{818D4871-3E45-4045-A43F-958859794722}"/>
              </a:ext>
            </a:extLst>
          </p:cNvPr>
          <p:cNvSpPr>
            <a:spLocks xmlns:a="http://schemas.openxmlformats.org/drawingml/2006/main" noGrp="1"/>
          </p:cNvSpPr>
          <p:nvPr/>
        </p:nvSpPr>
        <p:spPr>
          <a:xfrm xmlns:a="http://schemas.openxmlformats.org/drawingml/2006/main">
            <a:off x="1390650" y="3124200"/>
            <a:ext cx="3257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Trust file fields over chat memory</a:t>
            </a:r>
          </a:p>
        </p:txBody>
      </p:sp>
      <p:sp>
        <p:nvSpPr>
          <p:cNvPr id="15" name="">
            <a:extLst xmlns:a="http://schemas.openxmlformats.org/drawingml/2006/main">
              <a:ext uri="{FF2B5EF4-FFF2-40B4-BE49-F238E27FC236}">
                <a16:creationId xmlns:a16="http://schemas.microsoft.com/office/drawing/2014/main" id="{96D265CD-E2DF-4521-A178-8A42A80B7874}"/>
              </a:ext>
            </a:extLst>
          </p:cNvPr>
          <p:cNvSpPr>
            <a:spLocks xmlns:a="http://schemas.openxmlformats.org/drawingml/2006/main" noGrp="1"/>
          </p:cNvSpPr>
          <p:nvPr/>
        </p:nvSpPr>
        <p:spPr>
          <a:xfrm xmlns:a="http://schemas.openxmlformats.org/drawingml/2006/main">
            <a:off x="971550" y="3581400"/>
            <a:ext cx="266700" cy="2667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2A9E489-F824-4CF0-892C-1CD37DA05661}"/>
              </a:ext>
            </a:extLst>
          </p:cNvPr>
          <p:cNvSpPr>
            <a:spLocks xmlns:a="http://schemas.openxmlformats.org/drawingml/2006/main" noGrp="1"/>
          </p:cNvSpPr>
          <p:nvPr/>
        </p:nvSpPr>
        <p:spPr>
          <a:xfrm xmlns:a="http://schemas.openxmlformats.org/drawingml/2006/main">
            <a:off x="971550" y="3629025"/>
            <a:ext cx="2667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9A2891A5-E013-4AA9-8AA8-CBB5C29C41E5}"/>
              </a:ext>
            </a:extLst>
          </p:cNvPr>
          <p:cNvSpPr>
            <a:spLocks xmlns:a="http://schemas.openxmlformats.org/drawingml/2006/main" noGrp="1"/>
          </p:cNvSpPr>
          <p:nvPr/>
        </p:nvSpPr>
        <p:spPr>
          <a:xfrm xmlns:a="http://schemas.openxmlformats.org/drawingml/2006/main">
            <a:off x="1390650" y="3543300"/>
            <a:ext cx="3257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Reload gate and handoff skills at gate stages</a:t>
            </a:r>
          </a:p>
        </p:txBody>
      </p:sp>
      <p:sp>
        <p:nvSpPr>
          <p:cNvPr id="18" name="">
            <a:extLst xmlns:a="http://schemas.openxmlformats.org/drawingml/2006/main">
              <a:ext uri="{FF2B5EF4-FFF2-40B4-BE49-F238E27FC236}">
                <a16:creationId xmlns:a16="http://schemas.microsoft.com/office/drawing/2014/main" id="{8B54C1C2-D54F-4990-A2BB-8515D12C9F9D}"/>
              </a:ext>
            </a:extLst>
          </p:cNvPr>
          <p:cNvSpPr>
            <a:spLocks xmlns:a="http://schemas.openxmlformats.org/drawingml/2006/main" noGrp="1"/>
          </p:cNvSpPr>
          <p:nvPr/>
        </p:nvSpPr>
        <p:spPr>
          <a:xfrm xmlns:a="http://schemas.openxmlformats.org/drawingml/2006/main">
            <a:off x="971550" y="4000500"/>
            <a:ext cx="266700" cy="2667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3C5C83A1-FFBF-4894-AF09-A126EBF87791}"/>
              </a:ext>
            </a:extLst>
          </p:cNvPr>
          <p:cNvSpPr>
            <a:spLocks xmlns:a="http://schemas.openxmlformats.org/drawingml/2006/main" noGrp="1"/>
          </p:cNvSpPr>
          <p:nvPr/>
        </p:nvSpPr>
        <p:spPr>
          <a:xfrm xmlns:a="http://schemas.openxmlformats.org/drawingml/2006/main">
            <a:off x="971550" y="4048125"/>
            <a:ext cx="2667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0C17011D-F43F-482E-8535-FA3E3D30039B}"/>
              </a:ext>
            </a:extLst>
          </p:cNvPr>
          <p:cNvSpPr>
            <a:spLocks xmlns:a="http://schemas.openxmlformats.org/drawingml/2006/main" noGrp="1"/>
          </p:cNvSpPr>
          <p:nvPr/>
        </p:nvSpPr>
        <p:spPr>
          <a:xfrm xmlns:a="http://schemas.openxmlformats.org/drawingml/2006/main">
            <a:off x="1390650" y="3962400"/>
            <a:ext cx="3257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Write state before every delegate call</a:t>
            </a:r>
          </a:p>
        </p:txBody>
      </p:sp>
      <p:sp>
        <p:nvSpPr>
          <p:cNvPr id="21" name="">
            <a:extLst xmlns:a="http://schemas.openxmlformats.org/drawingml/2006/main">
              <a:ext uri="{FF2B5EF4-FFF2-40B4-BE49-F238E27FC236}">
                <a16:creationId xmlns:a16="http://schemas.microsoft.com/office/drawing/2014/main" id="{24126717-E251-453E-A4A2-4C8B966D92B7}"/>
              </a:ext>
            </a:extLst>
          </p:cNvPr>
          <p:cNvSpPr>
            <a:spLocks xmlns:a="http://schemas.openxmlformats.org/drawingml/2006/main" noGrp="1"/>
          </p:cNvSpPr>
          <p:nvPr/>
        </p:nvSpPr>
        <p:spPr>
          <a:xfrm xmlns:a="http://schemas.openxmlformats.org/drawingml/2006/main">
            <a:off x="971550" y="4419600"/>
            <a:ext cx="266700" cy="266700"/>
          </a:xfrm>
          <a:prstGeom xmlns:a="http://schemas.openxmlformats.org/drawingml/2006/main" prst="rect">
            <a:avLst/>
          </a:prstGeom>
          <a:solidFill xmlns:a="http://schemas.openxmlformats.org/drawingml/2006/main">
            <a:srgbClr val="D98B21"/>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932885C0-B52D-4441-ABB5-B78F78501350}"/>
              </a:ext>
            </a:extLst>
          </p:cNvPr>
          <p:cNvSpPr>
            <a:spLocks xmlns:a="http://schemas.openxmlformats.org/drawingml/2006/main" noGrp="1"/>
          </p:cNvSpPr>
          <p:nvPr/>
        </p:nvSpPr>
        <p:spPr>
          <a:xfrm xmlns:a="http://schemas.openxmlformats.org/drawingml/2006/main">
            <a:off x="971550" y="4467225"/>
            <a:ext cx="2667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5</a:t>
            </a:r>
          </a:p>
        </p:txBody>
      </p:sp>
      <p:sp>
        <p:nvSpPr>
          <p:cNvPr id="23" name="">
            <a:extLst xmlns:a="http://schemas.openxmlformats.org/drawingml/2006/main">
              <a:ext uri="{FF2B5EF4-FFF2-40B4-BE49-F238E27FC236}">
                <a16:creationId xmlns:a16="http://schemas.microsoft.com/office/drawing/2014/main" id="{C34232E7-FD12-411D-B96F-FE4B640F46D1}"/>
              </a:ext>
            </a:extLst>
          </p:cNvPr>
          <p:cNvSpPr>
            <a:spLocks xmlns:a="http://schemas.openxmlformats.org/drawingml/2006/main" noGrp="1"/>
          </p:cNvSpPr>
          <p:nvPr/>
        </p:nvSpPr>
        <p:spPr>
          <a:xfrm xmlns:a="http://schemas.openxmlformats.org/drawingml/2006/main">
            <a:off x="1390650" y="4381500"/>
            <a:ext cx="32575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Resume from current_stage, not recollection</a:t>
            </a:r>
          </a:p>
        </p:txBody>
      </p:sp>
      <p:sp>
        <p:nvSpPr>
          <p:cNvPr id="24" name="">
            <a:extLst xmlns:a="http://schemas.openxmlformats.org/drawingml/2006/main">
              <a:ext uri="{FF2B5EF4-FFF2-40B4-BE49-F238E27FC236}">
                <a16:creationId xmlns:a16="http://schemas.microsoft.com/office/drawing/2014/main" id="{9EAF8E9C-C6B7-432E-9EE7-E35BF4D0F41A}"/>
              </a:ext>
            </a:extLst>
          </p:cNvPr>
          <p:cNvSpPr>
            <a:spLocks xmlns:a="http://schemas.openxmlformats.org/drawingml/2006/main" noGrp="1"/>
          </p:cNvSpPr>
          <p:nvPr/>
        </p:nvSpPr>
        <p:spPr>
          <a:xfrm xmlns:a="http://schemas.openxmlformats.org/drawingml/2006/main">
            <a:off x="5753100" y="1866900"/>
            <a:ext cx="5334000" cy="3429000"/>
          </a:xfrm>
          <a:prstGeom xmlns:a="http://schemas.openxmlformats.org/drawingml/2006/main" prst="rect">
            <a:avLst/>
          </a:prstGeom>
          <a:solidFill xmlns:a="http://schemas.openxmlformats.org/drawingml/2006/main">
            <a:srgbClr val="27314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F4E1778D-E72B-4A9A-8FC1-551997166772}"/>
              </a:ext>
            </a:extLst>
          </p:cNvPr>
          <p:cNvSpPr>
            <a:spLocks xmlns:a="http://schemas.openxmlformats.org/drawingml/2006/main" noGrp="1"/>
          </p:cNvSpPr>
          <p:nvPr/>
        </p:nvSpPr>
        <p:spPr>
          <a:xfrm xmlns:a="http://schemas.openxmlformats.org/drawingml/2006/main">
            <a:off x="5905500" y="2000250"/>
            <a:ext cx="5029200" cy="3200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7F4EE"/>
                </a:solidFill>
                <a:latin typeface="Aptos Mono"/>
                <a:ea typeface="Aptos Mono"/>
                <a:cs typeface="Aptos Mono"/>
              </a:defRPr>
            </a:pPr>
            <a:r>
              <a:rPr sz="1125" b="0">
                <a:solidFill>
                  <a:srgbClr val="F7F4EE"/>
                </a:solidFill>
                <a:latin typeface="Aptos Mono"/>
                <a:ea typeface="Aptos Mono"/>
                <a:cs typeface="Aptos Mono"/>
              </a:rPr>
              <a:t>{</a:t>
            </a:r>
          </a:p>
          <a:p xmlns:a="http://schemas.openxmlformats.org/drawingml/2006/main">
            <a:pPr algn="l">
              <a:defRPr sz="1125" b="0">
                <a:solidFill>
                  <a:srgbClr val="F7F4EE"/>
                </a:solidFill>
                <a:latin typeface="Aptos Mono"/>
                <a:ea typeface="Aptos Mono"/>
                <a:cs typeface="Aptos Mono"/>
              </a:defRPr>
            </a:pPr>
            <a:r>
              <a:rPr sz="1125" b="0">
                <a:solidFill>
                  <a:srgbClr val="F7F4EE"/>
                </a:solidFill>
                <a:latin typeface="Aptos Mono"/>
                <a:ea typeface="Aptos Mono"/>
                <a:cs typeface="Aptos Mono"/>
              </a:rPr>
              <a:t>  "target": "sysmgr/pwrmgr",</a:t>
            </a:r>
          </a:p>
          <a:p xmlns:a="http://schemas.openxmlformats.org/drawingml/2006/main">
            <a:pPr algn="l">
              <a:defRPr sz="1125" b="0">
                <a:solidFill>
                  <a:srgbClr val="F7F4EE"/>
                </a:solidFill>
                <a:latin typeface="Aptos Mono"/>
                <a:ea typeface="Aptos Mono"/>
                <a:cs typeface="Aptos Mono"/>
              </a:defRPr>
            </a:pPr>
            <a:r>
              <a:rPr sz="1125" b="0">
                <a:solidFill>
                  <a:srgbClr val="F7F4EE"/>
                </a:solidFill>
                <a:latin typeface="Aptos Mono"/>
                <a:ea typeface="Aptos Mono"/>
                <a:cs typeface="Aptos Mono"/>
              </a:rPr>
              <a:t>  "current_stage": "plan_review",</a:t>
            </a:r>
          </a:p>
          <a:p xmlns:a="http://schemas.openxmlformats.org/drawingml/2006/main">
            <a:pPr algn="l">
              <a:defRPr sz="1125" b="0">
                <a:solidFill>
                  <a:srgbClr val="F7F4EE"/>
                </a:solidFill>
                <a:latin typeface="Aptos Mono"/>
                <a:ea typeface="Aptos Mono"/>
                <a:cs typeface="Aptos Mono"/>
              </a:defRPr>
            </a:pPr>
            <a:r>
              <a:rPr sz="1125" b="0">
                <a:solidFill>
                  <a:srgbClr val="F7F4EE"/>
                </a:solidFill>
                <a:latin typeface="Aptos Mono"/>
                <a:ea typeface="Aptos Mono"/>
                <a:cs typeface="Aptos Mono"/>
              </a:rPr>
              <a:t>  "artifact_slug": "sysmgr_pwrmgr",</a:t>
            </a:r>
          </a:p>
          <a:p xmlns:a="http://schemas.openxmlformats.org/drawingml/2006/main">
            <a:pPr algn="l">
              <a:defRPr sz="1125" b="0">
                <a:solidFill>
                  <a:srgbClr val="F7F4EE"/>
                </a:solidFill>
                <a:latin typeface="Aptos Mono"/>
                <a:ea typeface="Aptos Mono"/>
                <a:cs typeface="Aptos Mono"/>
              </a:defRPr>
            </a:pPr>
            <a:r>
              <a:rPr sz="1125" b="0">
                <a:solidFill>
                  <a:srgbClr val="F7F4EE"/>
                </a:solidFill>
                <a:latin typeface="Aptos Mono"/>
                <a:ea typeface="Aptos Mono"/>
                <a:cs typeface="Aptos Mono"/>
              </a:rPr>
              <a:t>  "gates_passed": ["plan_review:iter1"],</a:t>
            </a:r>
          </a:p>
          <a:p xmlns:a="http://schemas.openxmlformats.org/drawingml/2006/main">
            <a:pPr algn="l">
              <a:defRPr sz="1125" b="0">
                <a:solidFill>
                  <a:srgbClr val="F7F4EE"/>
                </a:solidFill>
                <a:latin typeface="Aptos Mono"/>
                <a:ea typeface="Aptos Mono"/>
                <a:cs typeface="Aptos Mono"/>
              </a:defRPr>
            </a:pPr>
            <a:r>
              <a:rPr sz="1125" b="0">
                <a:solidFill>
                  <a:srgbClr val="F7F4EE"/>
                </a:solidFill>
                <a:latin typeface="Aptos Mono"/>
                <a:ea typeface="Aptos Mono"/>
                <a:cs typeface="Aptos Mono"/>
              </a:rPr>
              <a:t>  "pending_action": {</a:t>
            </a:r>
          </a:p>
          <a:p xmlns:a="http://schemas.openxmlformats.org/drawingml/2006/main">
            <a:pPr algn="l">
              <a:defRPr sz="1125" b="0">
                <a:solidFill>
                  <a:srgbClr val="F7F4EE"/>
                </a:solidFill>
                <a:latin typeface="Aptos Mono"/>
                <a:ea typeface="Aptos Mono"/>
                <a:cs typeface="Aptos Mono"/>
              </a:defRPr>
            </a:pPr>
            <a:r>
              <a:rPr sz="1125" b="0">
                <a:solidFill>
                  <a:srgbClr val="F7F4EE"/>
                </a:solidFill>
                <a:latin typeface="Aptos Mono"/>
                <a:ea typeface="Aptos Mono"/>
                <a:cs typeface="Aptos Mono"/>
              </a:rPr>
              <a:t>    "next_agent": "kernel-code-agent"</a:t>
            </a:r>
          </a:p>
          <a:p xmlns:a="http://schemas.openxmlformats.org/drawingml/2006/main">
            <a:pPr algn="l">
              <a:defRPr sz="1125" b="0">
                <a:solidFill>
                  <a:srgbClr val="F7F4EE"/>
                </a:solidFill>
                <a:latin typeface="Aptos Mono"/>
                <a:ea typeface="Aptos Mono"/>
                <a:cs typeface="Aptos Mono"/>
              </a:defRPr>
            </a:pPr>
            <a:r>
              <a:rPr sz="1125" b="0">
                <a:solidFill>
                  <a:srgbClr val="F7F4EE"/>
                </a:solidFill>
                <a:latin typeface="Aptos Mono"/>
                <a:ea typeface="Aptos Mono"/>
                <a:cs typeface="Aptos Mono"/>
              </a:rPr>
              <a:t>  },</a:t>
            </a:r>
          </a:p>
          <a:p xmlns:a="http://schemas.openxmlformats.org/drawingml/2006/main">
            <a:pPr algn="l">
              <a:defRPr sz="1125" b="0">
                <a:solidFill>
                  <a:srgbClr val="F7F4EE"/>
                </a:solidFill>
                <a:latin typeface="Aptos Mono"/>
                <a:ea typeface="Aptos Mono"/>
                <a:cs typeface="Aptos Mono"/>
              </a:defRPr>
            </a:pPr>
            <a:r>
              <a:rPr sz="1125" b="0">
                <a:solidFill>
                  <a:srgbClr val="F7F4EE"/>
                </a:solidFill>
                <a:latin typeface="Aptos Mono"/>
                <a:ea typeface="Aptos Mono"/>
                <a:cs typeface="Aptos Mono"/>
              </a:rPr>
              <a:t>  "auto_iterate": {</a:t>
            </a:r>
          </a:p>
          <a:p xmlns:a="http://schemas.openxmlformats.org/drawingml/2006/main">
            <a:pPr algn="l">
              <a:defRPr sz="1125" b="0">
                <a:solidFill>
                  <a:srgbClr val="F7F4EE"/>
                </a:solidFill>
                <a:latin typeface="Aptos Mono"/>
                <a:ea typeface="Aptos Mono"/>
                <a:cs typeface="Aptos Mono"/>
              </a:defRPr>
            </a:pPr>
            <a:r>
              <a:rPr sz="1125" b="0">
                <a:solidFill>
                  <a:srgbClr val="F7F4EE"/>
                </a:solidFill>
                <a:latin typeface="Aptos Mono"/>
                <a:ea typeface="Aptos Mono"/>
                <a:cs typeface="Aptos Mono"/>
              </a:rPr>
              <a:t>    "enabled": true,</a:t>
            </a:r>
          </a:p>
          <a:p xmlns:a="http://schemas.openxmlformats.org/drawingml/2006/main">
            <a:pPr algn="l">
              <a:defRPr sz="1125" b="0">
                <a:solidFill>
                  <a:srgbClr val="F7F4EE"/>
                </a:solidFill>
                <a:latin typeface="Aptos Mono"/>
                <a:ea typeface="Aptos Mono"/>
                <a:cs typeface="Aptos Mono"/>
              </a:defRPr>
            </a:pPr>
            <a:r>
              <a:rPr sz="1125" b="0">
                <a:solidFill>
                  <a:srgbClr val="F7F4EE"/>
                </a:solidFill>
                <a:latin typeface="Aptos Mono"/>
                <a:ea typeface="Aptos Mono"/>
                <a:cs typeface="Aptos Mono"/>
              </a:rPr>
              <a:t>    "current_iteration": 2,</a:t>
            </a:r>
          </a:p>
          <a:p xmlns:a="http://schemas.openxmlformats.org/drawingml/2006/main">
            <a:pPr algn="l">
              <a:defRPr sz="1125" b="0">
                <a:solidFill>
                  <a:srgbClr val="F7F4EE"/>
                </a:solidFill>
                <a:latin typeface="Aptos Mono"/>
                <a:ea typeface="Aptos Mono"/>
                <a:cs typeface="Aptos Mono"/>
              </a:defRPr>
            </a:pPr>
            <a:r>
              <a:rPr sz="1125" b="0">
                <a:solidFill>
                  <a:srgbClr val="F7F4EE"/>
                </a:solidFill>
                <a:latin typeface="Aptos Mono"/>
                <a:ea typeface="Aptos Mono"/>
                <a:cs typeface="Aptos Mono"/>
              </a:rPr>
              <a:t>    "max_iterations": 5</a:t>
            </a:r>
          </a:p>
          <a:p xmlns:a="http://schemas.openxmlformats.org/drawingml/2006/main">
            <a:pPr algn="l">
              <a:defRPr sz="1125" b="0">
                <a:solidFill>
                  <a:srgbClr val="F7F4EE"/>
                </a:solidFill>
                <a:latin typeface="Aptos Mono"/>
                <a:ea typeface="Aptos Mono"/>
                <a:cs typeface="Aptos Mono"/>
              </a:defRPr>
            </a:pPr>
            <a:r>
              <a:rPr sz="1125" b="0">
                <a:solidFill>
                  <a:srgbClr val="F7F4EE"/>
                </a:solidFill>
                <a:latin typeface="Aptos Mono"/>
                <a:ea typeface="Aptos Mono"/>
                <a:cs typeface="Aptos Mono"/>
              </a:rPr>
              <a:t>  }</a:t>
            </a:r>
          </a:p>
          <a:p xmlns:a="http://schemas.openxmlformats.org/drawingml/2006/main">
            <a:pPr algn="l">
              <a:defRPr sz="1125" b="0">
                <a:solidFill>
                  <a:srgbClr val="F7F4EE"/>
                </a:solidFill>
                <a:latin typeface="Aptos Mono"/>
                <a:ea typeface="Aptos Mono"/>
                <a:cs typeface="Aptos Mono"/>
              </a:defRPr>
            </a:pPr>
            <a:r>
              <a:rPr sz="1125" b="0">
                <a:solidFill>
                  <a:srgbClr val="F7F4EE"/>
                </a:solidFill>
                <a:latin typeface="Aptos Mono"/>
                <a:ea typeface="Aptos Mono"/>
                <a:cs typeface="Aptos Mono"/>
              </a:rPr>
              <a:t>}</a:t>
            </a:r>
          </a:p>
        </p:txBody>
      </p:sp>
      <p:sp>
        <p:nvSpPr>
          <p:cNvPr id="26" name="">
            <a:extLst xmlns:a="http://schemas.openxmlformats.org/drawingml/2006/main">
              <a:ext uri="{FF2B5EF4-FFF2-40B4-BE49-F238E27FC236}">
                <a16:creationId xmlns:a16="http://schemas.microsoft.com/office/drawing/2014/main" id="{2C4BB388-40B9-443D-8E7A-F8CDE4587FC5}"/>
              </a:ext>
            </a:extLst>
          </p:cNvPr>
          <p:cNvSpPr>
            <a:spLocks xmlns:a="http://schemas.openxmlformats.org/drawingml/2006/main" noGrp="1"/>
          </p:cNvSpPr>
          <p:nvPr/>
        </p:nvSpPr>
        <p:spPr>
          <a:xfrm xmlns:a="http://schemas.openxmlformats.org/drawingml/2006/main">
            <a:off x="952500" y="5695950"/>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Why it matters: compaction changes the chat, not the filesystem. The file wins.</a:t>
            </a:r>
          </a:p>
        </p:txBody>
      </p:sp>
      <p:sp>
        <p:nvSpPr>
          <p:cNvPr id="27" name="">
            <a:extLst xmlns:a="http://schemas.openxmlformats.org/drawingml/2006/main">
              <a:ext uri="{FF2B5EF4-FFF2-40B4-BE49-F238E27FC236}">
                <a16:creationId xmlns:a16="http://schemas.microsoft.com/office/drawing/2014/main" id="{66EE817F-B58D-4E0E-9016-EB421A500F88}"/>
              </a:ext>
            </a:extLst>
          </p:cNvPr>
          <p:cNvSpPr>
            <a:spLocks xmlns:a="http://schemas.openxmlformats.org/drawingml/2006/main" noGrp="1"/>
          </p:cNvSpPr>
          <p:nvPr/>
        </p:nvSpPr>
        <p:spPr>
          <a:xfrm xmlns:a="http://schemas.openxmlformats.org/drawingml/2006/main">
            <a:off x="495300" y="6705600"/>
            <a:ext cx="457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 multi-agent harness</a:t>
            </a:r>
          </a:p>
        </p:txBody>
      </p:sp>
      <p:sp>
        <p:nvSpPr>
          <p:cNvPr id="28" name="">
            <a:extLst xmlns:a="http://schemas.openxmlformats.org/drawingml/2006/main">
              <a:ext uri="{FF2B5EF4-FFF2-40B4-BE49-F238E27FC236}">
                <a16:creationId xmlns:a16="http://schemas.microsoft.com/office/drawing/2014/main" id="{8BA9ABA5-007A-4ECE-81D4-83A7E097DBA4}"/>
              </a:ext>
            </a:extLst>
          </p:cNvPr>
          <p:cNvSpPr>
            <a:spLocks xmlns:a="http://schemas.openxmlformats.org/drawingml/2006/main" noGrp="1"/>
          </p:cNvSpPr>
          <p:nvPr/>
        </p:nvSpPr>
        <p:spPr>
          <a:xfrm xmlns:a="http://schemas.openxmlformats.org/drawingml/2006/main">
            <a:off x="10706100" y="6705600"/>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8707E"/>
                </a:solidFill>
                <a:latin typeface="Aptos"/>
                <a:ea typeface="Aptos"/>
                <a:cs typeface="Aptos"/>
              </a:defRPr>
            </a:pPr>
            <a:r>
              <a:rPr sz="713" b="0">
                <a:solidFill>
                  <a:srgbClr val="68707E"/>
                </a:solidFill>
                <a:latin typeface="Aptos"/>
                <a:ea typeface="Aptos"/>
                <a:cs typeface="Aptos"/>
              </a:rPr>
              <a:t>7 / 14</a:t>
            </a:r>
          </a:p>
        </p:txBody>
      </p:sp>
    </p:spTree>
    <p:extLst>
      <p:ext uri="{BB962C8B-B14F-4D97-AF65-F5344CB8AC3E}">
        <p14:creationId xmlns:p14="http://schemas.microsoft.com/office/powerpoint/2010/main" val="178302822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15BA6B28-1379-4846-B2F8-D74317A81E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6F20B5EE-B81C-4BCF-987B-2D308C5F5AED}"/>
              </a:ext>
            </a:extLst>
          </p:cNvPr>
          <p:cNvSpPr>
            <a:spLocks xmlns:a="http://schemas.openxmlformats.org/drawingml/2006/main" noGrp="1"/>
          </p:cNvSpPr>
          <p:nvPr/>
        </p:nvSpPr>
        <p:spPr>
          <a:xfrm xmlns:a="http://schemas.openxmlformats.org/drawingml/2006/main">
            <a:off x="495300" y="419100"/>
            <a:ext cx="304800" cy="381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37E88466-83E8-4986-A192-7D5C2C9113C2}"/>
              </a:ext>
            </a:extLst>
          </p:cNvPr>
          <p:cNvSpPr>
            <a:spLocks xmlns:a="http://schemas.openxmlformats.org/drawingml/2006/main" noGrp="1"/>
          </p:cNvSpPr>
          <p:nvPr/>
        </p:nvSpPr>
        <p:spPr>
          <a:xfrm xmlns:a="http://schemas.openxmlformats.org/drawingml/2006/main">
            <a:off x="895350" y="285750"/>
            <a:ext cx="495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E7C7B"/>
                </a:solidFill>
                <a:latin typeface="Aptos"/>
                <a:ea typeface="Aptos"/>
                <a:cs typeface="Aptos"/>
              </a:defRPr>
            </a:pPr>
            <a:r>
              <a:rPr sz="975" b="1">
                <a:solidFill>
                  <a:srgbClr val="0E7C7B"/>
                </a:solidFill>
                <a:latin typeface="Aptos"/>
                <a:ea typeface="Aptos"/>
                <a:cs typeface="Aptos"/>
              </a:rPr>
              <a:t>GATES AND BACK-EDGES</a:t>
            </a:r>
          </a:p>
        </p:txBody>
      </p:sp>
      <p:sp>
        <p:nvSpPr>
          <p:cNvPr id="4" name="">
            <a:extLst xmlns:a="http://schemas.openxmlformats.org/drawingml/2006/main">
              <a:ext uri="{FF2B5EF4-FFF2-40B4-BE49-F238E27FC236}">
                <a16:creationId xmlns:a16="http://schemas.microsoft.com/office/drawing/2014/main" id="{67B24AA8-6071-47D8-BEEE-460BBF0D9735}"/>
              </a:ext>
            </a:extLst>
          </p:cNvPr>
          <p:cNvSpPr>
            <a:spLocks xmlns:a="http://schemas.openxmlformats.org/drawingml/2006/main" noGrp="1"/>
          </p:cNvSpPr>
          <p:nvPr/>
        </p:nvSpPr>
        <p:spPr>
          <a:xfrm xmlns:a="http://schemas.openxmlformats.org/drawingml/2006/main">
            <a:off x="495300" y="666750"/>
            <a:ext cx="8382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Failures route to the owner who can actually fix them.</a:t>
            </a:r>
          </a:p>
        </p:txBody>
      </p:sp>
      <p:sp>
        <p:nvSpPr>
          <p:cNvPr id="5" name="">
            <a:extLst xmlns:a="http://schemas.openxmlformats.org/drawingml/2006/main">
              <a:ext uri="{FF2B5EF4-FFF2-40B4-BE49-F238E27FC236}">
                <a16:creationId xmlns:a16="http://schemas.microsoft.com/office/drawing/2014/main" id="{36F2D1BE-C9CC-47BB-8289-A9A34A0602AE}"/>
              </a:ext>
            </a:extLst>
          </p:cNvPr>
          <p:cNvSpPr>
            <a:spLocks xmlns:a="http://schemas.openxmlformats.org/drawingml/2006/main" noGrp="1"/>
          </p:cNvSpPr>
          <p:nvPr/>
        </p:nvSpPr>
        <p:spPr>
          <a:xfrm xmlns:a="http://schemas.openxmlformats.org/drawingml/2006/main">
            <a:off x="495300" y="1447800"/>
            <a:ext cx="11201400" cy="14288"/>
          </a:xfrm>
          <a:prstGeom xmlns:a="http://schemas.openxmlformats.org/drawingml/2006/main" prst="rect">
            <a:avLst/>
          </a:prstGeom>
          <a:solidFill xmlns:a="http://schemas.openxmlformats.org/drawingml/2006/main">
            <a:srgbClr val="C9C2B4"/>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04301A2-C1B1-4DA9-B9D1-5AA9DEA75E12}"/>
              </a:ext>
            </a:extLst>
          </p:cNvPr>
          <p:cNvSpPr>
            <a:spLocks xmlns:a="http://schemas.openxmlformats.org/drawingml/2006/main" noGrp="1"/>
          </p:cNvSpPr>
          <p:nvPr/>
        </p:nvSpPr>
        <p:spPr>
          <a:xfrm xmlns:a="http://schemas.openxmlformats.org/drawingml/2006/main">
            <a:off x="495300" y="6496050"/>
            <a:ext cx="800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.opencode/skills/stage_gate_enforcement.md; .opencode/agents/os-opt-manager.md</a:t>
            </a:r>
          </a:p>
        </p:txBody>
      </p:sp>
      <p:sp>
        <p:nvSpPr>
          <p:cNvPr id="7" name="">
            <a:extLst xmlns:a="http://schemas.openxmlformats.org/drawingml/2006/main">
              <a:ext uri="{FF2B5EF4-FFF2-40B4-BE49-F238E27FC236}">
                <a16:creationId xmlns:a16="http://schemas.microsoft.com/office/drawing/2014/main" id="{85DC1433-B5BE-4863-AF9B-53BA6ECF3DF1}"/>
              </a:ext>
            </a:extLst>
          </p:cNvPr>
          <p:cNvSpPr>
            <a:spLocks xmlns:a="http://schemas.openxmlformats.org/drawingml/2006/main" noGrp="1"/>
          </p:cNvSpPr>
          <p:nvPr/>
        </p:nvSpPr>
        <p:spPr>
          <a:xfrm xmlns:a="http://schemas.openxmlformats.org/drawingml/2006/main">
            <a:off x="666750" y="1771650"/>
            <a:ext cx="10858500" cy="495300"/>
          </a:xfrm>
          <a:prstGeom xmlns:a="http://schemas.openxmlformats.org/drawingml/2006/main" prst="rect">
            <a:avLst/>
          </a:prstGeom>
          <a:solidFill xmlns:a="http://schemas.openxmlformats.org/drawingml/2006/main">
            <a:srgbClr val="27314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9B94EC5-B5CD-486D-9AEA-A48A7FD06820}"/>
              </a:ext>
            </a:extLst>
          </p:cNvPr>
          <p:cNvSpPr>
            <a:spLocks xmlns:a="http://schemas.openxmlformats.org/drawingml/2006/main" noGrp="1"/>
          </p:cNvSpPr>
          <p:nvPr/>
        </p:nvSpPr>
        <p:spPr>
          <a:xfrm xmlns:a="http://schemas.openxmlformats.org/drawingml/2006/main">
            <a:off x="914400" y="1924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Failure</a:t>
            </a:r>
          </a:p>
        </p:txBody>
      </p:sp>
      <p:sp>
        <p:nvSpPr>
          <p:cNvPr id="9" name="">
            <a:extLst xmlns:a="http://schemas.openxmlformats.org/drawingml/2006/main">
              <a:ext uri="{FF2B5EF4-FFF2-40B4-BE49-F238E27FC236}">
                <a16:creationId xmlns:a16="http://schemas.microsoft.com/office/drawing/2014/main" id="{35D2FE52-5E00-4504-97FD-3AEE03D35F5E}"/>
              </a:ext>
            </a:extLst>
          </p:cNvPr>
          <p:cNvSpPr>
            <a:spLocks xmlns:a="http://schemas.openxmlformats.org/drawingml/2006/main" noGrp="1"/>
          </p:cNvSpPr>
          <p:nvPr/>
        </p:nvSpPr>
        <p:spPr>
          <a:xfrm xmlns:a="http://schemas.openxmlformats.org/drawingml/2006/main">
            <a:off x="4333875" y="1924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Back-edge target</a:t>
            </a:r>
          </a:p>
        </p:txBody>
      </p:sp>
      <p:sp>
        <p:nvSpPr>
          <p:cNvPr id="10" name="">
            <a:extLst xmlns:a="http://schemas.openxmlformats.org/drawingml/2006/main">
              <a:ext uri="{FF2B5EF4-FFF2-40B4-BE49-F238E27FC236}">
                <a16:creationId xmlns:a16="http://schemas.microsoft.com/office/drawing/2014/main" id="{013B22DF-1A4F-4A9B-8ABE-FD0263FFE5CE}"/>
              </a:ext>
            </a:extLst>
          </p:cNvPr>
          <p:cNvSpPr>
            <a:spLocks xmlns:a="http://schemas.openxmlformats.org/drawingml/2006/main" noGrp="1"/>
          </p:cNvSpPr>
          <p:nvPr/>
        </p:nvSpPr>
        <p:spPr>
          <a:xfrm xmlns:a="http://schemas.openxmlformats.org/drawingml/2006/main">
            <a:off x="7620000" y="1924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Why</a:t>
            </a:r>
          </a:p>
        </p:txBody>
      </p:sp>
      <p:sp>
        <p:nvSpPr>
          <p:cNvPr id="11" name="">
            <a:extLst xmlns:a="http://schemas.openxmlformats.org/drawingml/2006/main">
              <a:ext uri="{FF2B5EF4-FFF2-40B4-BE49-F238E27FC236}">
                <a16:creationId xmlns:a16="http://schemas.microsoft.com/office/drawing/2014/main" id="{44877290-C962-401D-B66A-BD46411CFC80}"/>
              </a:ext>
            </a:extLst>
          </p:cNvPr>
          <p:cNvSpPr>
            <a:spLocks xmlns:a="http://schemas.openxmlformats.org/drawingml/2006/main" noGrp="1"/>
          </p:cNvSpPr>
          <p:nvPr/>
        </p:nvSpPr>
        <p:spPr>
          <a:xfrm xmlns:a="http://schemas.openxmlformats.org/drawingml/2006/main">
            <a:off x="666750" y="2266950"/>
            <a:ext cx="10858500" cy="552450"/>
          </a:xfrm>
          <a:prstGeom xmlns:a="http://schemas.openxmlformats.org/drawingml/2006/main" prst="rect">
            <a:avLst/>
          </a:prstGeom>
          <a:solidFill xmlns:a="http://schemas.openxmlformats.org/drawingml/2006/main">
            <a:srgbClr val="ECE7DC"/>
          </a:solidFill>
          <a:ln xmlns:a="http://schemas.openxmlformats.org/drawingml/2006/main" w="6668">
            <a:solidFill>
              <a:srgbClr val="C9C2B4"/>
            </a:solidFill>
            <a:prstDash val="solid"/>
          </a:ln>
        </p:spPr>
      </p:sp>
      <p:sp>
        <p:nvSpPr>
          <p:cNvPr id="12" name="">
            <a:extLst xmlns:a="http://schemas.openxmlformats.org/drawingml/2006/main">
              <a:ext uri="{FF2B5EF4-FFF2-40B4-BE49-F238E27FC236}">
                <a16:creationId xmlns:a16="http://schemas.microsoft.com/office/drawing/2014/main" id="{8EC4A200-07CC-4407-926D-6C00ECB2052E}"/>
              </a:ext>
            </a:extLst>
          </p:cNvPr>
          <p:cNvSpPr>
            <a:spLocks xmlns:a="http://schemas.openxmlformats.org/drawingml/2006/main" noGrp="1"/>
          </p:cNvSpPr>
          <p:nvPr/>
        </p:nvSpPr>
        <p:spPr>
          <a:xfrm xmlns:a="http://schemas.openxmlformats.org/drawingml/2006/main">
            <a:off x="914400" y="243840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7202A"/>
                </a:solidFill>
                <a:latin typeface="Aptos"/>
                <a:ea typeface="Aptos"/>
                <a:cs typeface="Aptos"/>
              </a:defRPr>
            </a:pPr>
            <a:r>
              <a:rPr sz="1163" b="1">
                <a:solidFill>
                  <a:srgbClr val="17202A"/>
                </a:solidFill>
                <a:latin typeface="Aptos"/>
                <a:ea typeface="Aptos"/>
                <a:cs typeface="Aptos"/>
              </a:rPr>
              <a:t>Plan review rejects</a:t>
            </a:r>
          </a:p>
        </p:txBody>
      </p:sp>
      <p:sp>
        <p:nvSpPr>
          <p:cNvPr id="13" name="">
            <a:extLst xmlns:a="http://schemas.openxmlformats.org/drawingml/2006/main">
              <a:ext uri="{FF2B5EF4-FFF2-40B4-BE49-F238E27FC236}">
                <a16:creationId xmlns:a16="http://schemas.microsoft.com/office/drawing/2014/main" id="{A3EF1C27-7401-404F-95AD-D7E97125963E}"/>
              </a:ext>
            </a:extLst>
          </p:cNvPr>
          <p:cNvSpPr>
            <a:spLocks xmlns:a="http://schemas.openxmlformats.org/drawingml/2006/main" noGrp="1"/>
          </p:cNvSpPr>
          <p:nvPr/>
        </p:nvSpPr>
        <p:spPr>
          <a:xfrm xmlns:a="http://schemas.openxmlformats.org/drawingml/2006/main">
            <a:off x="4171950" y="2409825"/>
            <a:ext cx="2190750" cy="2667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56975152-4840-4B35-9F49-31915E06C1D1}"/>
              </a:ext>
            </a:extLst>
          </p:cNvPr>
          <p:cNvSpPr>
            <a:spLocks xmlns:a="http://schemas.openxmlformats.org/drawingml/2006/main" noGrp="1"/>
          </p:cNvSpPr>
          <p:nvPr/>
        </p:nvSpPr>
        <p:spPr>
          <a:xfrm xmlns:a="http://schemas.openxmlformats.org/drawingml/2006/main">
            <a:off x="4248150" y="2476500"/>
            <a:ext cx="20383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research specialist</a:t>
            </a:r>
          </a:p>
        </p:txBody>
      </p:sp>
      <p:sp>
        <p:nvSpPr>
          <p:cNvPr id="15" name="">
            <a:extLst xmlns:a="http://schemas.openxmlformats.org/drawingml/2006/main">
              <a:ext uri="{FF2B5EF4-FFF2-40B4-BE49-F238E27FC236}">
                <a16:creationId xmlns:a16="http://schemas.microsoft.com/office/drawing/2014/main" id="{E174D2D1-4E91-4C91-8B7E-A37FDA1311D1}"/>
              </a:ext>
            </a:extLst>
          </p:cNvPr>
          <p:cNvSpPr>
            <a:spLocks xmlns:a="http://schemas.openxmlformats.org/drawingml/2006/main" noGrp="1"/>
          </p:cNvSpPr>
          <p:nvPr/>
        </p:nvSpPr>
        <p:spPr>
          <a:xfrm xmlns:a="http://schemas.openxmlformats.org/drawingml/2006/main">
            <a:off x="7620000" y="2438400"/>
            <a:ext cx="304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17202A"/>
                </a:solidFill>
                <a:latin typeface="Aptos"/>
                <a:ea typeface="Aptos"/>
                <a:cs typeface="Aptos"/>
              </a:defRPr>
            </a:pPr>
            <a:r>
              <a:rPr sz="1163" b="0">
                <a:solidFill>
                  <a:srgbClr val="17202A"/>
                </a:solidFill>
                <a:latin typeface="Aptos"/>
                <a:ea typeface="Aptos"/>
                <a:cs typeface="Aptos"/>
              </a:rPr>
              <a:t>plan thesis or scope is wrong</a:t>
            </a:r>
          </a:p>
        </p:txBody>
      </p:sp>
      <p:sp>
        <p:nvSpPr>
          <p:cNvPr id="16" name="">
            <a:extLst xmlns:a="http://schemas.openxmlformats.org/drawingml/2006/main">
              <a:ext uri="{FF2B5EF4-FFF2-40B4-BE49-F238E27FC236}">
                <a16:creationId xmlns:a16="http://schemas.microsoft.com/office/drawing/2014/main" id="{9D41B016-8211-4AAA-AA64-5B5A8DEEC4B0}"/>
              </a:ext>
            </a:extLst>
          </p:cNvPr>
          <p:cNvSpPr>
            <a:spLocks xmlns:a="http://schemas.openxmlformats.org/drawingml/2006/main" noGrp="1"/>
          </p:cNvSpPr>
          <p:nvPr/>
        </p:nvSpPr>
        <p:spPr>
          <a:xfrm xmlns:a="http://schemas.openxmlformats.org/drawingml/2006/main">
            <a:off x="666750" y="2819400"/>
            <a:ext cx="10858500" cy="552450"/>
          </a:xfrm>
          <a:prstGeom xmlns:a="http://schemas.openxmlformats.org/drawingml/2006/main" prst="rect">
            <a:avLst/>
          </a:prstGeom>
          <a:solidFill xmlns:a="http://schemas.openxmlformats.org/drawingml/2006/main">
            <a:srgbClr val="FFFFFF"/>
          </a:solidFill>
          <a:ln xmlns:a="http://schemas.openxmlformats.org/drawingml/2006/main" w="6668">
            <a:solidFill>
              <a:srgbClr val="C9C2B4"/>
            </a:solidFill>
            <a:prstDash val="solid"/>
          </a:ln>
        </p:spPr>
      </p:sp>
      <p:sp>
        <p:nvSpPr>
          <p:cNvPr id="17" name="">
            <a:extLst xmlns:a="http://schemas.openxmlformats.org/drawingml/2006/main">
              <a:ext uri="{FF2B5EF4-FFF2-40B4-BE49-F238E27FC236}">
                <a16:creationId xmlns:a16="http://schemas.microsoft.com/office/drawing/2014/main" id="{40253581-A2F4-40C6-89D0-A3E006105675}"/>
              </a:ext>
            </a:extLst>
          </p:cNvPr>
          <p:cNvSpPr>
            <a:spLocks xmlns:a="http://schemas.openxmlformats.org/drawingml/2006/main" noGrp="1"/>
          </p:cNvSpPr>
          <p:nvPr/>
        </p:nvSpPr>
        <p:spPr>
          <a:xfrm xmlns:a="http://schemas.openxmlformats.org/drawingml/2006/main">
            <a:off x="914400" y="29908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7202A"/>
                </a:solidFill>
                <a:latin typeface="Aptos"/>
                <a:ea typeface="Aptos"/>
                <a:cs typeface="Aptos"/>
              </a:defRPr>
            </a:pPr>
            <a:r>
              <a:rPr sz="1163" b="1">
                <a:solidFill>
                  <a:srgbClr val="17202A"/>
                </a:solidFill>
                <a:latin typeface="Aptos"/>
                <a:ea typeface="Aptos"/>
                <a:cs typeface="Aptos"/>
              </a:rPr>
              <a:t>Code review needs revision</a:t>
            </a:r>
          </a:p>
        </p:txBody>
      </p:sp>
      <p:sp>
        <p:nvSpPr>
          <p:cNvPr id="18" name="">
            <a:extLst xmlns:a="http://schemas.openxmlformats.org/drawingml/2006/main">
              <a:ext uri="{FF2B5EF4-FFF2-40B4-BE49-F238E27FC236}">
                <a16:creationId xmlns:a16="http://schemas.microsoft.com/office/drawing/2014/main" id="{3FE551AB-ADFE-4888-AFD0-995652EFBBFA}"/>
              </a:ext>
            </a:extLst>
          </p:cNvPr>
          <p:cNvSpPr>
            <a:spLocks xmlns:a="http://schemas.openxmlformats.org/drawingml/2006/main" noGrp="1"/>
          </p:cNvSpPr>
          <p:nvPr/>
        </p:nvSpPr>
        <p:spPr>
          <a:xfrm xmlns:a="http://schemas.openxmlformats.org/drawingml/2006/main">
            <a:off x="4171950" y="2962275"/>
            <a:ext cx="2190750" cy="266700"/>
          </a:xfrm>
          <a:prstGeom xmlns:a="http://schemas.openxmlformats.org/drawingml/2006/main" prst="rect">
            <a:avLst/>
          </a:prstGeom>
          <a:solidFill xmlns:a="http://schemas.openxmlformats.org/drawingml/2006/main">
            <a:srgbClr val="3B4AA4"/>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73513874-04F7-404E-923E-6173F5B95F2F}"/>
              </a:ext>
            </a:extLst>
          </p:cNvPr>
          <p:cNvSpPr>
            <a:spLocks xmlns:a="http://schemas.openxmlformats.org/drawingml/2006/main" noGrp="1"/>
          </p:cNvSpPr>
          <p:nvPr/>
        </p:nvSpPr>
        <p:spPr>
          <a:xfrm xmlns:a="http://schemas.openxmlformats.org/drawingml/2006/main">
            <a:off x="4248150" y="3028950"/>
            <a:ext cx="20383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kernel-code-agent</a:t>
            </a:r>
          </a:p>
        </p:txBody>
      </p:sp>
      <p:sp>
        <p:nvSpPr>
          <p:cNvPr id="20" name="">
            <a:extLst xmlns:a="http://schemas.openxmlformats.org/drawingml/2006/main">
              <a:ext uri="{FF2B5EF4-FFF2-40B4-BE49-F238E27FC236}">
                <a16:creationId xmlns:a16="http://schemas.microsoft.com/office/drawing/2014/main" id="{0A008A92-C915-4DDE-8E20-F167577F626F}"/>
              </a:ext>
            </a:extLst>
          </p:cNvPr>
          <p:cNvSpPr>
            <a:spLocks xmlns:a="http://schemas.openxmlformats.org/drawingml/2006/main" noGrp="1"/>
          </p:cNvSpPr>
          <p:nvPr/>
        </p:nvSpPr>
        <p:spPr>
          <a:xfrm xmlns:a="http://schemas.openxmlformats.org/drawingml/2006/main">
            <a:off x="7620000" y="2990850"/>
            <a:ext cx="304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17202A"/>
                </a:solidFill>
                <a:latin typeface="Aptos"/>
                <a:ea typeface="Aptos"/>
                <a:cs typeface="Aptos"/>
              </a:defRPr>
            </a:pPr>
            <a:r>
              <a:rPr sz="1163" b="0">
                <a:solidFill>
                  <a:srgbClr val="17202A"/>
                </a:solidFill>
                <a:latin typeface="Aptos"/>
                <a:ea typeface="Aptos"/>
                <a:cs typeface="Aptos"/>
              </a:rPr>
              <a:t>patch is wrong or risky</a:t>
            </a:r>
          </a:p>
        </p:txBody>
      </p:sp>
      <p:sp>
        <p:nvSpPr>
          <p:cNvPr id="21" name="">
            <a:extLst xmlns:a="http://schemas.openxmlformats.org/drawingml/2006/main">
              <a:ext uri="{FF2B5EF4-FFF2-40B4-BE49-F238E27FC236}">
                <a16:creationId xmlns:a16="http://schemas.microsoft.com/office/drawing/2014/main" id="{B8736EF1-A10F-4311-A84A-DCD863CB8601}"/>
              </a:ext>
            </a:extLst>
          </p:cNvPr>
          <p:cNvSpPr>
            <a:spLocks xmlns:a="http://schemas.openxmlformats.org/drawingml/2006/main" noGrp="1"/>
          </p:cNvSpPr>
          <p:nvPr/>
        </p:nvSpPr>
        <p:spPr>
          <a:xfrm xmlns:a="http://schemas.openxmlformats.org/drawingml/2006/main">
            <a:off x="666750" y="3371850"/>
            <a:ext cx="10858500" cy="552450"/>
          </a:xfrm>
          <a:prstGeom xmlns:a="http://schemas.openxmlformats.org/drawingml/2006/main" prst="rect">
            <a:avLst/>
          </a:prstGeom>
          <a:solidFill xmlns:a="http://schemas.openxmlformats.org/drawingml/2006/main">
            <a:srgbClr val="ECE7DC"/>
          </a:solidFill>
          <a:ln xmlns:a="http://schemas.openxmlformats.org/drawingml/2006/main" w="6668">
            <a:solidFill>
              <a:srgbClr val="C9C2B4"/>
            </a:solidFill>
            <a:prstDash val="solid"/>
          </a:ln>
        </p:spPr>
      </p:sp>
      <p:sp>
        <p:nvSpPr>
          <p:cNvPr id="22" name="">
            <a:extLst xmlns:a="http://schemas.openxmlformats.org/drawingml/2006/main">
              <a:ext uri="{FF2B5EF4-FFF2-40B4-BE49-F238E27FC236}">
                <a16:creationId xmlns:a16="http://schemas.microsoft.com/office/drawing/2014/main" id="{B7D6BE48-3A19-43F9-A8AE-CFAF7724BF17}"/>
              </a:ext>
            </a:extLst>
          </p:cNvPr>
          <p:cNvSpPr>
            <a:spLocks xmlns:a="http://schemas.openxmlformats.org/drawingml/2006/main" noGrp="1"/>
          </p:cNvSpPr>
          <p:nvPr/>
        </p:nvSpPr>
        <p:spPr>
          <a:xfrm xmlns:a="http://schemas.openxmlformats.org/drawingml/2006/main">
            <a:off x="914400" y="354330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7202A"/>
                </a:solidFill>
                <a:latin typeface="Aptos"/>
                <a:ea typeface="Aptos"/>
                <a:cs typeface="Aptos"/>
              </a:defRPr>
            </a:pPr>
            <a:r>
              <a:rPr sz="1163" b="1">
                <a:solidFill>
                  <a:srgbClr val="17202A"/>
                </a:solidFill>
                <a:latin typeface="Aptos"/>
                <a:ea typeface="Aptos"/>
                <a:cs typeface="Aptos"/>
              </a:rPr>
              <a:t>Code review finds plan flaw</a:t>
            </a:r>
          </a:p>
        </p:txBody>
      </p:sp>
      <p:sp>
        <p:nvSpPr>
          <p:cNvPr id="23" name="">
            <a:extLst xmlns:a="http://schemas.openxmlformats.org/drawingml/2006/main">
              <a:ext uri="{FF2B5EF4-FFF2-40B4-BE49-F238E27FC236}">
                <a16:creationId xmlns:a16="http://schemas.microsoft.com/office/drawing/2014/main" id="{500895F2-9F76-4ED3-AE99-44B71A50695D}"/>
              </a:ext>
            </a:extLst>
          </p:cNvPr>
          <p:cNvSpPr>
            <a:spLocks xmlns:a="http://schemas.openxmlformats.org/drawingml/2006/main" noGrp="1"/>
          </p:cNvSpPr>
          <p:nvPr/>
        </p:nvSpPr>
        <p:spPr>
          <a:xfrm xmlns:a="http://schemas.openxmlformats.org/drawingml/2006/main">
            <a:off x="4171950" y="3514725"/>
            <a:ext cx="2190750" cy="2667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9A9341C3-873C-4B1D-A145-66CF77E877AF}"/>
              </a:ext>
            </a:extLst>
          </p:cNvPr>
          <p:cNvSpPr>
            <a:spLocks xmlns:a="http://schemas.openxmlformats.org/drawingml/2006/main" noGrp="1"/>
          </p:cNvSpPr>
          <p:nvPr/>
        </p:nvSpPr>
        <p:spPr>
          <a:xfrm xmlns:a="http://schemas.openxmlformats.org/drawingml/2006/main">
            <a:off x="4248150" y="3581400"/>
            <a:ext cx="20383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research specialist</a:t>
            </a:r>
          </a:p>
        </p:txBody>
      </p:sp>
      <p:sp>
        <p:nvSpPr>
          <p:cNvPr id="25" name="">
            <a:extLst xmlns:a="http://schemas.openxmlformats.org/drawingml/2006/main">
              <a:ext uri="{FF2B5EF4-FFF2-40B4-BE49-F238E27FC236}">
                <a16:creationId xmlns:a16="http://schemas.microsoft.com/office/drawing/2014/main" id="{ECF714F1-1B52-4203-9B79-29E22ED1A0BC}"/>
              </a:ext>
            </a:extLst>
          </p:cNvPr>
          <p:cNvSpPr>
            <a:spLocks xmlns:a="http://schemas.openxmlformats.org/drawingml/2006/main" noGrp="1"/>
          </p:cNvSpPr>
          <p:nvPr/>
        </p:nvSpPr>
        <p:spPr>
          <a:xfrm xmlns:a="http://schemas.openxmlformats.org/drawingml/2006/main">
            <a:off x="7620000" y="3543300"/>
            <a:ext cx="304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17202A"/>
                </a:solidFill>
                <a:latin typeface="Aptos"/>
                <a:ea typeface="Aptos"/>
                <a:cs typeface="Aptos"/>
              </a:defRPr>
            </a:pPr>
            <a:r>
              <a:rPr sz="1163" b="0">
                <a:solidFill>
                  <a:srgbClr val="17202A"/>
                </a:solidFill>
                <a:latin typeface="Aptos"/>
                <a:ea typeface="Aptos"/>
                <a:cs typeface="Aptos"/>
              </a:rPr>
              <a:t>approved idea was structurally weak</a:t>
            </a:r>
          </a:p>
        </p:txBody>
      </p:sp>
      <p:sp>
        <p:nvSpPr>
          <p:cNvPr id="26" name="">
            <a:extLst xmlns:a="http://schemas.openxmlformats.org/drawingml/2006/main">
              <a:ext uri="{FF2B5EF4-FFF2-40B4-BE49-F238E27FC236}">
                <a16:creationId xmlns:a16="http://schemas.microsoft.com/office/drawing/2014/main" id="{23A2CD86-F81B-4308-BEAF-41E01D69F089}"/>
              </a:ext>
            </a:extLst>
          </p:cNvPr>
          <p:cNvSpPr>
            <a:spLocks xmlns:a="http://schemas.openxmlformats.org/drawingml/2006/main" noGrp="1"/>
          </p:cNvSpPr>
          <p:nvPr/>
        </p:nvSpPr>
        <p:spPr>
          <a:xfrm xmlns:a="http://schemas.openxmlformats.org/drawingml/2006/main">
            <a:off x="666750" y="3924300"/>
            <a:ext cx="10858500" cy="552450"/>
          </a:xfrm>
          <a:prstGeom xmlns:a="http://schemas.openxmlformats.org/drawingml/2006/main" prst="rect">
            <a:avLst/>
          </a:prstGeom>
          <a:solidFill xmlns:a="http://schemas.openxmlformats.org/drawingml/2006/main">
            <a:srgbClr val="FFFFFF"/>
          </a:solidFill>
          <a:ln xmlns:a="http://schemas.openxmlformats.org/drawingml/2006/main" w="6668">
            <a:solidFill>
              <a:srgbClr val="C9C2B4"/>
            </a:solidFill>
            <a:prstDash val="solid"/>
          </a:ln>
        </p:spPr>
      </p:sp>
      <p:sp>
        <p:nvSpPr>
          <p:cNvPr id="27" name="">
            <a:extLst xmlns:a="http://schemas.openxmlformats.org/drawingml/2006/main">
              <a:ext uri="{FF2B5EF4-FFF2-40B4-BE49-F238E27FC236}">
                <a16:creationId xmlns:a16="http://schemas.microsoft.com/office/drawing/2014/main" id="{EA8E8E85-D0E8-4D46-B313-FA70FB5345CB}"/>
              </a:ext>
            </a:extLst>
          </p:cNvPr>
          <p:cNvSpPr>
            <a:spLocks xmlns:a="http://schemas.openxmlformats.org/drawingml/2006/main" noGrp="1"/>
          </p:cNvSpPr>
          <p:nvPr/>
        </p:nvSpPr>
        <p:spPr>
          <a:xfrm xmlns:a="http://schemas.openxmlformats.org/drawingml/2006/main">
            <a:off x="914400" y="40957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7202A"/>
                </a:solidFill>
                <a:latin typeface="Aptos"/>
                <a:ea typeface="Aptos"/>
                <a:cs typeface="Aptos"/>
              </a:defRPr>
            </a:pPr>
            <a:r>
              <a:rPr sz="1163" b="1">
                <a:solidFill>
                  <a:srgbClr val="17202A"/>
                </a:solidFill>
                <a:latin typeface="Aptos"/>
                <a:ea typeface="Aptos"/>
                <a:cs typeface="Aptos"/>
              </a:rPr>
              <a:t>Tester build/sign fails</a:t>
            </a:r>
          </a:p>
        </p:txBody>
      </p:sp>
      <p:sp>
        <p:nvSpPr>
          <p:cNvPr id="28" name="">
            <a:extLst xmlns:a="http://schemas.openxmlformats.org/drawingml/2006/main">
              <a:ext uri="{FF2B5EF4-FFF2-40B4-BE49-F238E27FC236}">
                <a16:creationId xmlns:a16="http://schemas.microsoft.com/office/drawing/2014/main" id="{CF696534-3530-4099-A810-9BFA65162E2F}"/>
              </a:ext>
            </a:extLst>
          </p:cNvPr>
          <p:cNvSpPr>
            <a:spLocks xmlns:a="http://schemas.openxmlformats.org/drawingml/2006/main" noGrp="1"/>
          </p:cNvSpPr>
          <p:nvPr/>
        </p:nvSpPr>
        <p:spPr>
          <a:xfrm xmlns:a="http://schemas.openxmlformats.org/drawingml/2006/main">
            <a:off x="4171950" y="4067175"/>
            <a:ext cx="2190750" cy="266700"/>
          </a:xfrm>
          <a:prstGeom xmlns:a="http://schemas.openxmlformats.org/drawingml/2006/main" prst="rect">
            <a:avLst/>
          </a:prstGeom>
          <a:solidFill xmlns:a="http://schemas.openxmlformats.org/drawingml/2006/main">
            <a:srgbClr val="3B4AA4"/>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FCA85D67-1778-4D05-B17A-9DFD345669FC}"/>
              </a:ext>
            </a:extLst>
          </p:cNvPr>
          <p:cNvSpPr>
            <a:spLocks xmlns:a="http://schemas.openxmlformats.org/drawingml/2006/main" noGrp="1"/>
          </p:cNvSpPr>
          <p:nvPr/>
        </p:nvSpPr>
        <p:spPr>
          <a:xfrm xmlns:a="http://schemas.openxmlformats.org/drawingml/2006/main">
            <a:off x="4248150" y="4133850"/>
            <a:ext cx="20383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kernel-code-agent</a:t>
            </a:r>
          </a:p>
        </p:txBody>
      </p:sp>
      <p:sp>
        <p:nvSpPr>
          <p:cNvPr id="30" name="">
            <a:extLst xmlns:a="http://schemas.openxmlformats.org/drawingml/2006/main">
              <a:ext uri="{FF2B5EF4-FFF2-40B4-BE49-F238E27FC236}">
                <a16:creationId xmlns:a16="http://schemas.microsoft.com/office/drawing/2014/main" id="{9D9DB0D2-B282-46E7-9EF4-F1E5C9299DEF}"/>
              </a:ext>
            </a:extLst>
          </p:cNvPr>
          <p:cNvSpPr>
            <a:spLocks xmlns:a="http://schemas.openxmlformats.org/drawingml/2006/main" noGrp="1"/>
          </p:cNvSpPr>
          <p:nvPr/>
        </p:nvSpPr>
        <p:spPr>
          <a:xfrm xmlns:a="http://schemas.openxmlformats.org/drawingml/2006/main">
            <a:off x="7620000" y="4095750"/>
            <a:ext cx="304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17202A"/>
                </a:solidFill>
                <a:latin typeface="Aptos"/>
                <a:ea typeface="Aptos"/>
                <a:cs typeface="Aptos"/>
              </a:defRPr>
            </a:pPr>
            <a:r>
              <a:rPr sz="1163" b="0">
                <a:solidFill>
                  <a:srgbClr val="17202A"/>
                </a:solidFill>
                <a:latin typeface="Aptos"/>
                <a:ea typeface="Aptos"/>
                <a:cs typeface="Aptos"/>
              </a:rPr>
              <a:t>patch broke build or image</a:t>
            </a:r>
          </a:p>
        </p:txBody>
      </p:sp>
      <p:sp>
        <p:nvSpPr>
          <p:cNvPr id="31" name="">
            <a:extLst xmlns:a="http://schemas.openxmlformats.org/drawingml/2006/main">
              <a:ext uri="{FF2B5EF4-FFF2-40B4-BE49-F238E27FC236}">
                <a16:creationId xmlns:a16="http://schemas.microsoft.com/office/drawing/2014/main" id="{E5F44A7E-8F72-4923-89A7-D8C490575B6A}"/>
              </a:ext>
            </a:extLst>
          </p:cNvPr>
          <p:cNvSpPr>
            <a:spLocks xmlns:a="http://schemas.openxmlformats.org/drawingml/2006/main" noGrp="1"/>
          </p:cNvSpPr>
          <p:nvPr/>
        </p:nvSpPr>
        <p:spPr>
          <a:xfrm xmlns:a="http://schemas.openxmlformats.org/drawingml/2006/main">
            <a:off x="666750" y="4476750"/>
            <a:ext cx="10858500" cy="552450"/>
          </a:xfrm>
          <a:prstGeom xmlns:a="http://schemas.openxmlformats.org/drawingml/2006/main" prst="rect">
            <a:avLst/>
          </a:prstGeom>
          <a:solidFill xmlns:a="http://schemas.openxmlformats.org/drawingml/2006/main">
            <a:srgbClr val="ECE7DC"/>
          </a:solidFill>
          <a:ln xmlns:a="http://schemas.openxmlformats.org/drawingml/2006/main" w="6668">
            <a:solidFill>
              <a:srgbClr val="C9C2B4"/>
            </a:solidFill>
            <a:prstDash val="solid"/>
          </a:ln>
        </p:spPr>
      </p:sp>
      <p:sp>
        <p:nvSpPr>
          <p:cNvPr id="32" name="">
            <a:extLst xmlns:a="http://schemas.openxmlformats.org/drawingml/2006/main">
              <a:ext uri="{FF2B5EF4-FFF2-40B4-BE49-F238E27FC236}">
                <a16:creationId xmlns:a16="http://schemas.microsoft.com/office/drawing/2014/main" id="{B75AE5EA-4208-48CB-83EF-82DA83AF2E28}"/>
              </a:ext>
            </a:extLst>
          </p:cNvPr>
          <p:cNvSpPr>
            <a:spLocks xmlns:a="http://schemas.openxmlformats.org/drawingml/2006/main" noGrp="1"/>
          </p:cNvSpPr>
          <p:nvPr/>
        </p:nvSpPr>
        <p:spPr>
          <a:xfrm xmlns:a="http://schemas.openxmlformats.org/drawingml/2006/main">
            <a:off x="914400" y="464820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7202A"/>
                </a:solidFill>
                <a:latin typeface="Aptos"/>
                <a:ea typeface="Aptos"/>
                <a:cs typeface="Aptos"/>
              </a:defRPr>
            </a:pPr>
            <a:r>
              <a:rPr sz="1163" b="1">
                <a:solidFill>
                  <a:srgbClr val="17202A"/>
                </a:solidFill>
                <a:latin typeface="Aptos"/>
                <a:ea typeface="Aptos"/>
                <a:cs typeface="Aptos"/>
              </a:rPr>
              <a:t>Tester delta regresses</a:t>
            </a:r>
          </a:p>
        </p:txBody>
      </p:sp>
      <p:sp>
        <p:nvSpPr>
          <p:cNvPr id="33" name="">
            <a:extLst xmlns:a="http://schemas.openxmlformats.org/drawingml/2006/main">
              <a:ext uri="{FF2B5EF4-FFF2-40B4-BE49-F238E27FC236}">
                <a16:creationId xmlns:a16="http://schemas.microsoft.com/office/drawing/2014/main" id="{A6887AAE-20F3-4CA5-96E1-6825C2118860}"/>
              </a:ext>
            </a:extLst>
          </p:cNvPr>
          <p:cNvSpPr>
            <a:spLocks xmlns:a="http://schemas.openxmlformats.org/drawingml/2006/main" noGrp="1"/>
          </p:cNvSpPr>
          <p:nvPr/>
        </p:nvSpPr>
        <p:spPr>
          <a:xfrm xmlns:a="http://schemas.openxmlformats.org/drawingml/2006/main">
            <a:off x="4171950" y="4619625"/>
            <a:ext cx="2190750" cy="2667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6921EE21-542D-4B8D-B388-F7F34B8AE264}"/>
              </a:ext>
            </a:extLst>
          </p:cNvPr>
          <p:cNvSpPr>
            <a:spLocks xmlns:a="http://schemas.openxmlformats.org/drawingml/2006/main" noGrp="1"/>
          </p:cNvSpPr>
          <p:nvPr/>
        </p:nvSpPr>
        <p:spPr>
          <a:xfrm xmlns:a="http://schemas.openxmlformats.org/drawingml/2006/main">
            <a:off x="4248150" y="4686300"/>
            <a:ext cx="20383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research specialist</a:t>
            </a:r>
          </a:p>
        </p:txBody>
      </p:sp>
      <p:sp>
        <p:nvSpPr>
          <p:cNvPr id="35" name="">
            <a:extLst xmlns:a="http://schemas.openxmlformats.org/drawingml/2006/main">
              <a:ext uri="{FF2B5EF4-FFF2-40B4-BE49-F238E27FC236}">
                <a16:creationId xmlns:a16="http://schemas.microsoft.com/office/drawing/2014/main" id="{720C21C1-5E52-4BC1-AD2C-60852A9EA22D}"/>
              </a:ext>
            </a:extLst>
          </p:cNvPr>
          <p:cNvSpPr>
            <a:spLocks xmlns:a="http://schemas.openxmlformats.org/drawingml/2006/main" noGrp="1"/>
          </p:cNvSpPr>
          <p:nvPr/>
        </p:nvSpPr>
        <p:spPr>
          <a:xfrm xmlns:a="http://schemas.openxmlformats.org/drawingml/2006/main">
            <a:off x="7620000" y="4648200"/>
            <a:ext cx="304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17202A"/>
                </a:solidFill>
                <a:latin typeface="Aptos"/>
                <a:ea typeface="Aptos"/>
                <a:cs typeface="Aptos"/>
              </a:defRPr>
            </a:pPr>
            <a:r>
              <a:rPr sz="1163" b="0">
                <a:solidFill>
                  <a:srgbClr val="17202A"/>
                </a:solidFill>
                <a:latin typeface="Aptos"/>
                <a:ea typeface="Aptos"/>
                <a:cs typeface="Aptos"/>
              </a:rPr>
              <a:t>instruction-count thesis disproven</a:t>
            </a:r>
          </a:p>
        </p:txBody>
      </p:sp>
      <p:sp>
        <p:nvSpPr>
          <p:cNvPr id="36" name="">
            <a:extLst xmlns:a="http://schemas.openxmlformats.org/drawingml/2006/main">
              <a:ext uri="{FF2B5EF4-FFF2-40B4-BE49-F238E27FC236}">
                <a16:creationId xmlns:a16="http://schemas.microsoft.com/office/drawing/2014/main" id="{F15F6185-0ED3-416D-9735-D94B4C4860E8}"/>
              </a:ext>
            </a:extLst>
          </p:cNvPr>
          <p:cNvSpPr>
            <a:spLocks xmlns:a="http://schemas.openxmlformats.org/drawingml/2006/main" noGrp="1"/>
          </p:cNvSpPr>
          <p:nvPr/>
        </p:nvSpPr>
        <p:spPr>
          <a:xfrm xmlns:a="http://schemas.openxmlformats.org/drawingml/2006/main">
            <a:off x="666750" y="5029200"/>
            <a:ext cx="10858500" cy="552450"/>
          </a:xfrm>
          <a:prstGeom xmlns:a="http://schemas.openxmlformats.org/drawingml/2006/main" prst="rect">
            <a:avLst/>
          </a:prstGeom>
          <a:solidFill xmlns:a="http://schemas.openxmlformats.org/drawingml/2006/main">
            <a:srgbClr val="FFFFFF"/>
          </a:solidFill>
          <a:ln xmlns:a="http://schemas.openxmlformats.org/drawingml/2006/main" w="6668">
            <a:solidFill>
              <a:srgbClr val="C9C2B4"/>
            </a:solidFill>
            <a:prstDash val="solid"/>
          </a:ln>
        </p:spPr>
      </p:sp>
      <p:sp>
        <p:nvSpPr>
          <p:cNvPr id="37" name="">
            <a:extLst xmlns:a="http://schemas.openxmlformats.org/drawingml/2006/main">
              <a:ext uri="{FF2B5EF4-FFF2-40B4-BE49-F238E27FC236}">
                <a16:creationId xmlns:a16="http://schemas.microsoft.com/office/drawing/2014/main" id="{A9C15629-9543-4014-8E25-965549318DCE}"/>
              </a:ext>
            </a:extLst>
          </p:cNvPr>
          <p:cNvSpPr>
            <a:spLocks xmlns:a="http://schemas.openxmlformats.org/drawingml/2006/main" noGrp="1"/>
          </p:cNvSpPr>
          <p:nvPr/>
        </p:nvSpPr>
        <p:spPr>
          <a:xfrm xmlns:a="http://schemas.openxmlformats.org/drawingml/2006/main">
            <a:off x="914400" y="52006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7202A"/>
                </a:solidFill>
                <a:latin typeface="Aptos"/>
                <a:ea typeface="Aptos"/>
                <a:cs typeface="Aptos"/>
              </a:defRPr>
            </a:pPr>
            <a:r>
              <a:rPr sz="1163" b="1">
                <a:solidFill>
                  <a:srgbClr val="17202A"/>
                </a:solidFill>
                <a:latin typeface="Aptos"/>
                <a:ea typeface="Aptos"/>
                <a:cs typeface="Aptos"/>
              </a:rPr>
              <a:t>Stock flash/test fails</a:t>
            </a:r>
          </a:p>
        </p:txBody>
      </p:sp>
      <p:sp>
        <p:nvSpPr>
          <p:cNvPr id="38" name="">
            <a:extLst xmlns:a="http://schemas.openxmlformats.org/drawingml/2006/main">
              <a:ext uri="{FF2B5EF4-FFF2-40B4-BE49-F238E27FC236}">
                <a16:creationId xmlns:a16="http://schemas.microsoft.com/office/drawing/2014/main" id="{A0437070-FA05-4954-BB52-FBDBCFF34E4F}"/>
              </a:ext>
            </a:extLst>
          </p:cNvPr>
          <p:cNvSpPr>
            <a:spLocks xmlns:a="http://schemas.openxmlformats.org/drawingml/2006/main" noGrp="1"/>
          </p:cNvSpPr>
          <p:nvPr/>
        </p:nvSpPr>
        <p:spPr>
          <a:xfrm xmlns:a="http://schemas.openxmlformats.org/drawingml/2006/main">
            <a:off x="4171950" y="5172075"/>
            <a:ext cx="2190750" cy="266700"/>
          </a:xfrm>
          <a:prstGeom xmlns:a="http://schemas.openxmlformats.org/drawingml/2006/main" prst="rect">
            <a:avLst/>
          </a:prstGeom>
          <a:solidFill xmlns:a="http://schemas.openxmlformats.org/drawingml/2006/main">
            <a:srgbClr val="C84D3A"/>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509E3BD5-4269-49C1-B22C-E69FD65A5A12}"/>
              </a:ext>
            </a:extLst>
          </p:cNvPr>
          <p:cNvSpPr>
            <a:spLocks xmlns:a="http://schemas.openxmlformats.org/drawingml/2006/main" noGrp="1"/>
          </p:cNvSpPr>
          <p:nvPr/>
        </p:nvSpPr>
        <p:spPr>
          <a:xfrm xmlns:a="http://schemas.openxmlformats.org/drawingml/2006/main">
            <a:off x="4248150" y="5238750"/>
            <a:ext cx="20383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user / infra</a:t>
            </a:r>
          </a:p>
        </p:txBody>
      </p:sp>
      <p:sp>
        <p:nvSpPr>
          <p:cNvPr id="40" name="">
            <a:extLst xmlns:a="http://schemas.openxmlformats.org/drawingml/2006/main">
              <a:ext uri="{FF2B5EF4-FFF2-40B4-BE49-F238E27FC236}">
                <a16:creationId xmlns:a16="http://schemas.microsoft.com/office/drawing/2014/main" id="{11AD0CBC-D23F-404C-A1BA-5B40A978EC59}"/>
              </a:ext>
            </a:extLst>
          </p:cNvPr>
          <p:cNvSpPr>
            <a:spLocks xmlns:a="http://schemas.openxmlformats.org/drawingml/2006/main" noGrp="1"/>
          </p:cNvSpPr>
          <p:nvPr/>
        </p:nvSpPr>
        <p:spPr>
          <a:xfrm xmlns:a="http://schemas.openxmlformats.org/drawingml/2006/main">
            <a:off x="7620000" y="5200650"/>
            <a:ext cx="304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17202A"/>
                </a:solidFill>
                <a:latin typeface="Aptos"/>
                <a:ea typeface="Aptos"/>
                <a:cs typeface="Aptos"/>
              </a:defRPr>
            </a:pPr>
            <a:r>
              <a:rPr sz="1163" b="0">
                <a:solidFill>
                  <a:srgbClr val="17202A"/>
                </a:solidFill>
                <a:latin typeface="Aptos"/>
                <a:ea typeface="Aptos"/>
                <a:cs typeface="Aptos"/>
              </a:rPr>
              <a:t>not a patch failure</a:t>
            </a:r>
          </a:p>
        </p:txBody>
      </p:sp>
      <p:sp>
        <p:nvSpPr>
          <p:cNvPr id="41" name="">
            <a:extLst xmlns:a="http://schemas.openxmlformats.org/drawingml/2006/main">
              <a:ext uri="{FF2B5EF4-FFF2-40B4-BE49-F238E27FC236}">
                <a16:creationId xmlns:a16="http://schemas.microsoft.com/office/drawing/2014/main" id="{743B5250-9F30-4F86-BE4A-02EEB1BFB988}"/>
              </a:ext>
            </a:extLst>
          </p:cNvPr>
          <p:cNvSpPr>
            <a:spLocks xmlns:a="http://schemas.openxmlformats.org/drawingml/2006/main" noGrp="1"/>
          </p:cNvSpPr>
          <p:nvPr/>
        </p:nvSpPr>
        <p:spPr>
          <a:xfrm xmlns:a="http://schemas.openxmlformats.org/drawingml/2006/main">
            <a:off x="876300" y="5791200"/>
            <a:ext cx="9810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7202A"/>
                </a:solidFill>
                <a:latin typeface="Aptos"/>
                <a:ea typeface="Aptos"/>
                <a:cs typeface="Aptos"/>
              </a:defRPr>
            </a:pPr>
            <a:r>
              <a:rPr sz="1350" b="1">
                <a:solidFill>
                  <a:srgbClr val="17202A"/>
                </a:solidFill>
                <a:latin typeface="Aptos"/>
                <a:ea typeface="Aptos"/>
                <a:cs typeface="Aptos"/>
              </a:rPr>
              <a:t>Loop caps: plan/code bounces cap at 3; tester bounces cap at 2, then a stall artifact is written.</a:t>
            </a:r>
          </a:p>
        </p:txBody>
      </p:sp>
      <p:sp>
        <p:nvSpPr>
          <p:cNvPr id="42" name="">
            <a:extLst xmlns:a="http://schemas.openxmlformats.org/drawingml/2006/main">
              <a:ext uri="{FF2B5EF4-FFF2-40B4-BE49-F238E27FC236}">
                <a16:creationId xmlns:a16="http://schemas.microsoft.com/office/drawing/2014/main" id="{AE2BE885-290D-4DCC-B016-EE863612E2AD}"/>
              </a:ext>
            </a:extLst>
          </p:cNvPr>
          <p:cNvSpPr>
            <a:spLocks xmlns:a="http://schemas.openxmlformats.org/drawingml/2006/main" noGrp="1"/>
          </p:cNvSpPr>
          <p:nvPr/>
        </p:nvSpPr>
        <p:spPr>
          <a:xfrm xmlns:a="http://schemas.openxmlformats.org/drawingml/2006/main">
            <a:off x="495300" y="6705600"/>
            <a:ext cx="457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 multi-agent harness</a:t>
            </a:r>
          </a:p>
        </p:txBody>
      </p:sp>
      <p:sp>
        <p:nvSpPr>
          <p:cNvPr id="43" name="">
            <a:extLst xmlns:a="http://schemas.openxmlformats.org/drawingml/2006/main">
              <a:ext uri="{FF2B5EF4-FFF2-40B4-BE49-F238E27FC236}">
                <a16:creationId xmlns:a16="http://schemas.microsoft.com/office/drawing/2014/main" id="{1487E81E-ABE2-4ABA-A359-A35DBD90ECD5}"/>
              </a:ext>
            </a:extLst>
          </p:cNvPr>
          <p:cNvSpPr>
            <a:spLocks xmlns:a="http://schemas.openxmlformats.org/drawingml/2006/main" noGrp="1"/>
          </p:cNvSpPr>
          <p:nvPr/>
        </p:nvSpPr>
        <p:spPr>
          <a:xfrm xmlns:a="http://schemas.openxmlformats.org/drawingml/2006/main">
            <a:off x="10706100" y="6705600"/>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8707E"/>
                </a:solidFill>
                <a:latin typeface="Aptos"/>
                <a:ea typeface="Aptos"/>
                <a:cs typeface="Aptos"/>
              </a:defRPr>
            </a:pPr>
            <a:r>
              <a:rPr sz="713" b="0">
                <a:solidFill>
                  <a:srgbClr val="68707E"/>
                </a:solidFill>
                <a:latin typeface="Aptos"/>
                <a:ea typeface="Aptos"/>
                <a:cs typeface="Aptos"/>
              </a:rPr>
              <a:t>8 / 14</a:t>
            </a:r>
          </a:p>
        </p:txBody>
      </p:sp>
    </p:spTree>
    <p:extLst>
      <p:ext uri="{BB962C8B-B14F-4D97-AF65-F5344CB8AC3E}">
        <p14:creationId xmlns:p14="http://schemas.microsoft.com/office/powerpoint/2010/main" val="76679060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E0873CD6-5258-4038-A192-1AB27C774A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8EE50EFD-09C3-41F0-972C-3F08D9ABAF8B}"/>
              </a:ext>
            </a:extLst>
          </p:cNvPr>
          <p:cNvSpPr>
            <a:spLocks xmlns:a="http://schemas.openxmlformats.org/drawingml/2006/main" noGrp="1"/>
          </p:cNvSpPr>
          <p:nvPr/>
        </p:nvSpPr>
        <p:spPr>
          <a:xfrm xmlns:a="http://schemas.openxmlformats.org/drawingml/2006/main">
            <a:off x="495300" y="419100"/>
            <a:ext cx="304800" cy="381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51746B41-B296-46B9-AB28-219507EDFA1F}"/>
              </a:ext>
            </a:extLst>
          </p:cNvPr>
          <p:cNvSpPr>
            <a:spLocks xmlns:a="http://schemas.openxmlformats.org/drawingml/2006/main" noGrp="1"/>
          </p:cNvSpPr>
          <p:nvPr/>
        </p:nvSpPr>
        <p:spPr>
          <a:xfrm xmlns:a="http://schemas.openxmlformats.org/drawingml/2006/main">
            <a:off x="895350" y="285750"/>
            <a:ext cx="495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E7C7B"/>
                </a:solidFill>
                <a:latin typeface="Aptos"/>
                <a:ea typeface="Aptos"/>
                <a:cs typeface="Aptos"/>
              </a:defRPr>
            </a:pPr>
            <a:r>
              <a:rPr sz="975" b="1">
                <a:solidFill>
                  <a:srgbClr val="0E7C7B"/>
                </a:solidFill>
                <a:latin typeface="Aptos"/>
                <a:ea typeface="Aptos"/>
                <a:cs typeface="Aptos"/>
              </a:rPr>
              <a:t>VALIDATION</a:t>
            </a:r>
          </a:p>
        </p:txBody>
      </p:sp>
      <p:sp>
        <p:nvSpPr>
          <p:cNvPr id="4" name="">
            <a:extLst xmlns:a="http://schemas.openxmlformats.org/drawingml/2006/main">
              <a:ext uri="{FF2B5EF4-FFF2-40B4-BE49-F238E27FC236}">
                <a16:creationId xmlns:a16="http://schemas.microsoft.com/office/drawing/2014/main" id="{6CA1FD3E-992B-4FF3-8924-5D1B9852A49B}"/>
              </a:ext>
            </a:extLst>
          </p:cNvPr>
          <p:cNvSpPr>
            <a:spLocks xmlns:a="http://schemas.openxmlformats.org/drawingml/2006/main" noGrp="1"/>
          </p:cNvSpPr>
          <p:nvPr/>
        </p:nvSpPr>
        <p:spPr>
          <a:xfrm xmlns:a="http://schemas.openxmlformats.org/drawingml/2006/main">
            <a:off x="495300" y="666750"/>
            <a:ext cx="8382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The tester proves a win by comparing stock and feature on real hardware.</a:t>
            </a:r>
          </a:p>
        </p:txBody>
      </p:sp>
      <p:sp>
        <p:nvSpPr>
          <p:cNvPr id="5" name="">
            <a:extLst xmlns:a="http://schemas.openxmlformats.org/drawingml/2006/main">
              <a:ext uri="{FF2B5EF4-FFF2-40B4-BE49-F238E27FC236}">
                <a16:creationId xmlns:a16="http://schemas.microsoft.com/office/drawing/2014/main" id="{5B4575CA-36A3-43EE-A5CE-2F27DEBDA2F7}"/>
              </a:ext>
            </a:extLst>
          </p:cNvPr>
          <p:cNvSpPr>
            <a:spLocks xmlns:a="http://schemas.openxmlformats.org/drawingml/2006/main" noGrp="1"/>
          </p:cNvSpPr>
          <p:nvPr/>
        </p:nvSpPr>
        <p:spPr>
          <a:xfrm xmlns:a="http://schemas.openxmlformats.org/drawingml/2006/main">
            <a:off x="495300" y="1447800"/>
            <a:ext cx="11201400" cy="14288"/>
          </a:xfrm>
          <a:prstGeom xmlns:a="http://schemas.openxmlformats.org/drawingml/2006/main" prst="rect">
            <a:avLst/>
          </a:prstGeom>
          <a:solidFill xmlns:a="http://schemas.openxmlformats.org/drawingml/2006/main">
            <a:srgbClr val="C9C2B4"/>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FCBB0320-7878-4C16-B5FB-6DF2F1DAE49A}"/>
              </a:ext>
            </a:extLst>
          </p:cNvPr>
          <p:cNvSpPr>
            <a:spLocks xmlns:a="http://schemas.openxmlformats.org/drawingml/2006/main" noGrp="1"/>
          </p:cNvSpPr>
          <p:nvPr/>
        </p:nvSpPr>
        <p:spPr>
          <a:xfrm xmlns:a="http://schemas.openxmlformats.org/drawingml/2006/main">
            <a:off x="495300" y="6496050"/>
            <a:ext cx="800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.opencode/agents/kernel-tester-agent.md; .opencode/skills/ab-test-comparison.md</a:t>
            </a:r>
          </a:p>
        </p:txBody>
      </p:sp>
      <p:sp>
        <p:nvSpPr>
          <p:cNvPr id="7" name="">
            <a:extLst xmlns:a="http://schemas.openxmlformats.org/drawingml/2006/main">
              <a:ext uri="{FF2B5EF4-FFF2-40B4-BE49-F238E27FC236}">
                <a16:creationId xmlns:a16="http://schemas.microsoft.com/office/drawing/2014/main" id="{64EE02AB-413E-42BC-8D0C-8DCFDAB8EE54}"/>
              </a:ext>
            </a:extLst>
          </p:cNvPr>
          <p:cNvSpPr>
            <a:spLocks xmlns:a="http://schemas.openxmlformats.org/drawingml/2006/main" noGrp="1"/>
          </p:cNvSpPr>
          <p:nvPr/>
        </p:nvSpPr>
        <p:spPr>
          <a:xfrm xmlns:a="http://schemas.openxmlformats.org/drawingml/2006/main">
            <a:off x="628650" y="2095500"/>
            <a:ext cx="1581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C9C2B4"/>
            </a:solidFill>
            <a:prstDash val="solid"/>
          </a:ln>
        </p:spPr>
      </p:sp>
      <p:sp>
        <p:nvSpPr>
          <p:cNvPr id="8" name="">
            <a:extLst xmlns:a="http://schemas.openxmlformats.org/drawingml/2006/main">
              <a:ext uri="{FF2B5EF4-FFF2-40B4-BE49-F238E27FC236}">
                <a16:creationId xmlns:a16="http://schemas.microsoft.com/office/drawing/2014/main" id="{F1848682-D0A0-4536-8D8F-E30C411A2CF5}"/>
              </a:ext>
            </a:extLst>
          </p:cNvPr>
          <p:cNvSpPr>
            <a:spLocks xmlns:a="http://schemas.openxmlformats.org/drawingml/2006/main" noGrp="1"/>
          </p:cNvSpPr>
          <p:nvPr/>
        </p:nvSpPr>
        <p:spPr>
          <a:xfrm xmlns:a="http://schemas.openxmlformats.org/drawingml/2006/main">
            <a:off x="628650" y="2095500"/>
            <a:ext cx="323850" cy="11049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93C5324-0217-4693-883C-D318030F70B4}"/>
              </a:ext>
            </a:extLst>
          </p:cNvPr>
          <p:cNvSpPr>
            <a:spLocks xmlns:a="http://schemas.openxmlformats.org/drawingml/2006/main" noGrp="1"/>
          </p:cNvSpPr>
          <p:nvPr/>
        </p:nvSpPr>
        <p:spPr>
          <a:xfrm xmlns:a="http://schemas.openxmlformats.org/drawingml/2006/main">
            <a:off x="628650" y="25336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1C06FEAD-41E4-4AAB-82F6-5AF5B24C3B74}"/>
              </a:ext>
            </a:extLst>
          </p:cNvPr>
          <p:cNvSpPr>
            <a:spLocks xmlns:a="http://schemas.openxmlformats.org/drawingml/2006/main" noGrp="1"/>
          </p:cNvSpPr>
          <p:nvPr/>
        </p:nvSpPr>
        <p:spPr>
          <a:xfrm xmlns:a="http://schemas.openxmlformats.org/drawingml/2006/main">
            <a:off x="1047750" y="22288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Build + sign</a:t>
            </a:r>
          </a:p>
        </p:txBody>
      </p:sp>
      <p:sp>
        <p:nvSpPr>
          <p:cNvPr id="11" name="">
            <a:extLst xmlns:a="http://schemas.openxmlformats.org/drawingml/2006/main">
              <a:ext uri="{FF2B5EF4-FFF2-40B4-BE49-F238E27FC236}">
                <a16:creationId xmlns:a16="http://schemas.microsoft.com/office/drawing/2014/main" id="{A012C995-379F-43D1-9311-79EB52935411}"/>
              </a:ext>
            </a:extLst>
          </p:cNvPr>
          <p:cNvSpPr>
            <a:spLocks xmlns:a="http://schemas.openxmlformats.org/drawingml/2006/main" noGrp="1"/>
          </p:cNvSpPr>
          <p:nvPr/>
        </p:nvSpPr>
        <p:spPr>
          <a:xfrm xmlns:a="http://schemas.openxmlformats.org/drawingml/2006/main">
            <a:off x="1047750" y="2495550"/>
            <a:ext cx="10668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8707E"/>
                </a:solidFill>
                <a:latin typeface="Aptos"/>
                <a:ea typeface="Aptos"/>
                <a:cs typeface="Aptos"/>
              </a:defRPr>
            </a:pPr>
            <a:r>
              <a:rPr sz="863" b="0">
                <a:solidFill>
                  <a:srgbClr val="68707E"/>
                </a:solidFill>
                <a:latin typeface="Aptos"/>
                <a:ea typeface="Aptos"/>
                <a:cs typeface="Aptos"/>
              </a:rPr>
              <a:t>feature image only</a:t>
            </a:r>
          </a:p>
        </p:txBody>
      </p:sp>
      <p:sp>
        <p:nvSpPr>
          <p:cNvPr id="12" name="">
            <a:extLst xmlns:a="http://schemas.openxmlformats.org/drawingml/2006/main">
              <a:ext uri="{FF2B5EF4-FFF2-40B4-BE49-F238E27FC236}">
                <a16:creationId xmlns:a16="http://schemas.microsoft.com/office/drawing/2014/main" id="{61779B65-5DEF-46E4-84A8-934A1453BEF6}"/>
              </a:ext>
            </a:extLst>
          </p:cNvPr>
          <p:cNvSpPr>
            <a:spLocks xmlns:a="http://schemas.openxmlformats.org/drawingml/2006/main" noGrp="1"/>
          </p:cNvSpPr>
          <p:nvPr/>
        </p:nvSpPr>
        <p:spPr>
          <a:xfrm xmlns:a="http://schemas.openxmlformats.org/drawingml/2006/main">
            <a:off x="2247900" y="2533650"/>
            <a:ext cx="19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68707E"/>
                </a:solidFill>
                <a:latin typeface="Aptos"/>
                <a:ea typeface="Aptos"/>
                <a:cs typeface="Aptos"/>
              </a:defRPr>
            </a:pPr>
            <a:r>
              <a:rPr sz="1500" b="1">
                <a:solidFill>
                  <a:srgbClr val="68707E"/>
                </a:solidFill>
                <a:latin typeface="Aptos"/>
                <a:ea typeface="Aptos"/>
                <a:cs typeface="Aptos"/>
              </a:rPr>
              <a:t>&gt;</a:t>
            </a:r>
          </a:p>
        </p:txBody>
      </p:sp>
      <p:sp>
        <p:nvSpPr>
          <p:cNvPr id="13" name="">
            <a:extLst xmlns:a="http://schemas.openxmlformats.org/drawingml/2006/main">
              <a:ext uri="{FF2B5EF4-FFF2-40B4-BE49-F238E27FC236}">
                <a16:creationId xmlns:a16="http://schemas.microsoft.com/office/drawing/2014/main" id="{BEA01A7F-47BD-480D-93AC-2D3F983CD618}"/>
              </a:ext>
            </a:extLst>
          </p:cNvPr>
          <p:cNvSpPr>
            <a:spLocks xmlns:a="http://schemas.openxmlformats.org/drawingml/2006/main" noGrp="1"/>
          </p:cNvSpPr>
          <p:nvPr/>
        </p:nvSpPr>
        <p:spPr>
          <a:xfrm xmlns:a="http://schemas.openxmlformats.org/drawingml/2006/main">
            <a:off x="2476500" y="2095500"/>
            <a:ext cx="1581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C9C2B4"/>
            </a:solidFill>
            <a:prstDash val="solid"/>
          </a:ln>
        </p:spPr>
      </p:sp>
      <p:sp>
        <p:nvSpPr>
          <p:cNvPr id="14" name="">
            <a:extLst xmlns:a="http://schemas.openxmlformats.org/drawingml/2006/main">
              <a:ext uri="{FF2B5EF4-FFF2-40B4-BE49-F238E27FC236}">
                <a16:creationId xmlns:a16="http://schemas.microsoft.com/office/drawing/2014/main" id="{F3286BE5-B190-4323-9DFA-EACE23868A55}"/>
              </a:ext>
            </a:extLst>
          </p:cNvPr>
          <p:cNvSpPr>
            <a:spLocks xmlns:a="http://schemas.openxmlformats.org/drawingml/2006/main" noGrp="1"/>
          </p:cNvSpPr>
          <p:nvPr/>
        </p:nvSpPr>
        <p:spPr>
          <a:xfrm xmlns:a="http://schemas.openxmlformats.org/drawingml/2006/main">
            <a:off x="2476500" y="2095500"/>
            <a:ext cx="323850" cy="11049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6CE81EA5-98DB-4441-9E9D-0256A5F5AB90}"/>
              </a:ext>
            </a:extLst>
          </p:cNvPr>
          <p:cNvSpPr>
            <a:spLocks xmlns:a="http://schemas.openxmlformats.org/drawingml/2006/main" noGrp="1"/>
          </p:cNvSpPr>
          <p:nvPr/>
        </p:nvSpPr>
        <p:spPr>
          <a:xfrm xmlns:a="http://schemas.openxmlformats.org/drawingml/2006/main">
            <a:off x="2476500" y="25336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B44C3339-0525-46FC-99E9-CE992EA7BC46}"/>
              </a:ext>
            </a:extLst>
          </p:cNvPr>
          <p:cNvSpPr>
            <a:spLocks xmlns:a="http://schemas.openxmlformats.org/drawingml/2006/main" noGrp="1"/>
          </p:cNvSpPr>
          <p:nvPr/>
        </p:nvSpPr>
        <p:spPr>
          <a:xfrm xmlns:a="http://schemas.openxmlformats.org/drawingml/2006/main">
            <a:off x="2895600" y="22288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Flash stock</a:t>
            </a:r>
          </a:p>
        </p:txBody>
      </p:sp>
      <p:sp>
        <p:nvSpPr>
          <p:cNvPr id="17" name="">
            <a:extLst xmlns:a="http://schemas.openxmlformats.org/drawingml/2006/main">
              <a:ext uri="{FF2B5EF4-FFF2-40B4-BE49-F238E27FC236}">
                <a16:creationId xmlns:a16="http://schemas.microsoft.com/office/drawing/2014/main" id="{55E2CA1F-422C-4AFC-80B8-73D28F6AECB0}"/>
              </a:ext>
            </a:extLst>
          </p:cNvPr>
          <p:cNvSpPr>
            <a:spLocks xmlns:a="http://schemas.openxmlformats.org/drawingml/2006/main" noGrp="1"/>
          </p:cNvSpPr>
          <p:nvPr/>
        </p:nvSpPr>
        <p:spPr>
          <a:xfrm xmlns:a="http://schemas.openxmlformats.org/drawingml/2006/main">
            <a:off x="2895600" y="2495550"/>
            <a:ext cx="10668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8707E"/>
                </a:solidFill>
                <a:latin typeface="Aptos"/>
                <a:ea typeface="Aptos"/>
                <a:cs typeface="Aptos"/>
              </a:defRPr>
            </a:pPr>
            <a:r>
              <a:rPr sz="863" b="0">
                <a:solidFill>
                  <a:srgbClr val="68707E"/>
                </a:solidFill>
                <a:latin typeface="Aptos"/>
                <a:ea typeface="Aptos"/>
                <a:cs typeface="Aptos"/>
              </a:rPr>
              <a:t>relay + hdc + settle</a:t>
            </a:r>
          </a:p>
        </p:txBody>
      </p:sp>
      <p:sp>
        <p:nvSpPr>
          <p:cNvPr id="18" name="">
            <a:extLst xmlns:a="http://schemas.openxmlformats.org/drawingml/2006/main">
              <a:ext uri="{FF2B5EF4-FFF2-40B4-BE49-F238E27FC236}">
                <a16:creationId xmlns:a16="http://schemas.microsoft.com/office/drawing/2014/main" id="{63F80314-E33E-4BCC-B43A-A0BC3129C1F5}"/>
              </a:ext>
            </a:extLst>
          </p:cNvPr>
          <p:cNvSpPr>
            <a:spLocks xmlns:a="http://schemas.openxmlformats.org/drawingml/2006/main" noGrp="1"/>
          </p:cNvSpPr>
          <p:nvPr/>
        </p:nvSpPr>
        <p:spPr>
          <a:xfrm xmlns:a="http://schemas.openxmlformats.org/drawingml/2006/main">
            <a:off x="4095750" y="2533650"/>
            <a:ext cx="19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68707E"/>
                </a:solidFill>
                <a:latin typeface="Aptos"/>
                <a:ea typeface="Aptos"/>
                <a:cs typeface="Aptos"/>
              </a:defRPr>
            </a:pPr>
            <a:r>
              <a:rPr sz="1500" b="1">
                <a:solidFill>
                  <a:srgbClr val="68707E"/>
                </a:solidFill>
                <a:latin typeface="Aptos"/>
                <a:ea typeface="Aptos"/>
                <a:cs typeface="Aptos"/>
              </a:rPr>
              <a:t>&gt;</a:t>
            </a:r>
          </a:p>
        </p:txBody>
      </p:sp>
      <p:sp>
        <p:nvSpPr>
          <p:cNvPr id="19" name="">
            <a:extLst xmlns:a="http://schemas.openxmlformats.org/drawingml/2006/main">
              <a:ext uri="{FF2B5EF4-FFF2-40B4-BE49-F238E27FC236}">
                <a16:creationId xmlns:a16="http://schemas.microsoft.com/office/drawing/2014/main" id="{BE08D4F6-43E5-4F50-8E7B-54C236CAB36D}"/>
              </a:ext>
            </a:extLst>
          </p:cNvPr>
          <p:cNvSpPr>
            <a:spLocks xmlns:a="http://schemas.openxmlformats.org/drawingml/2006/main" noGrp="1"/>
          </p:cNvSpPr>
          <p:nvPr/>
        </p:nvSpPr>
        <p:spPr>
          <a:xfrm xmlns:a="http://schemas.openxmlformats.org/drawingml/2006/main">
            <a:off x="4324350" y="2095500"/>
            <a:ext cx="1581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C9C2B4"/>
            </a:solidFill>
            <a:prstDash val="solid"/>
          </a:ln>
        </p:spPr>
      </p:sp>
      <p:sp>
        <p:nvSpPr>
          <p:cNvPr id="20" name="">
            <a:extLst xmlns:a="http://schemas.openxmlformats.org/drawingml/2006/main">
              <a:ext uri="{FF2B5EF4-FFF2-40B4-BE49-F238E27FC236}">
                <a16:creationId xmlns:a16="http://schemas.microsoft.com/office/drawing/2014/main" id="{439F6181-B59E-430C-9348-C5459B525F6B}"/>
              </a:ext>
            </a:extLst>
          </p:cNvPr>
          <p:cNvSpPr>
            <a:spLocks xmlns:a="http://schemas.openxmlformats.org/drawingml/2006/main" noGrp="1"/>
          </p:cNvSpPr>
          <p:nvPr/>
        </p:nvSpPr>
        <p:spPr>
          <a:xfrm xmlns:a="http://schemas.openxmlformats.org/drawingml/2006/main">
            <a:off x="4324350" y="2095500"/>
            <a:ext cx="323850" cy="11049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727CA4BF-B28F-4386-AA16-C2A2CFD4E4A5}"/>
              </a:ext>
            </a:extLst>
          </p:cNvPr>
          <p:cNvSpPr>
            <a:spLocks xmlns:a="http://schemas.openxmlformats.org/drawingml/2006/main" noGrp="1"/>
          </p:cNvSpPr>
          <p:nvPr/>
        </p:nvSpPr>
        <p:spPr>
          <a:xfrm xmlns:a="http://schemas.openxmlformats.org/drawingml/2006/main">
            <a:off x="4324350" y="25336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3</a:t>
            </a:r>
          </a:p>
        </p:txBody>
      </p:sp>
      <p:sp>
        <p:nvSpPr>
          <p:cNvPr id="22" name="">
            <a:extLst xmlns:a="http://schemas.openxmlformats.org/drawingml/2006/main">
              <a:ext uri="{FF2B5EF4-FFF2-40B4-BE49-F238E27FC236}">
                <a16:creationId xmlns:a16="http://schemas.microsoft.com/office/drawing/2014/main" id="{A1E4D2E2-1092-4476-98AA-C0E430C50656}"/>
              </a:ext>
            </a:extLst>
          </p:cNvPr>
          <p:cNvSpPr>
            <a:spLocks xmlns:a="http://schemas.openxmlformats.org/drawingml/2006/main" noGrp="1"/>
          </p:cNvSpPr>
          <p:nvPr/>
        </p:nvSpPr>
        <p:spPr>
          <a:xfrm xmlns:a="http://schemas.openxmlformats.org/drawingml/2006/main">
            <a:off x="4743450" y="22288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Test stock</a:t>
            </a:r>
          </a:p>
        </p:txBody>
      </p:sp>
      <p:sp>
        <p:nvSpPr>
          <p:cNvPr id="23" name="">
            <a:extLst xmlns:a="http://schemas.openxmlformats.org/drawingml/2006/main">
              <a:ext uri="{FF2B5EF4-FFF2-40B4-BE49-F238E27FC236}">
                <a16:creationId xmlns:a16="http://schemas.microsoft.com/office/drawing/2014/main" id="{D107B495-5541-4139-86A1-677D37FE9676}"/>
              </a:ext>
            </a:extLst>
          </p:cNvPr>
          <p:cNvSpPr>
            <a:spLocks xmlns:a="http://schemas.openxmlformats.org/drawingml/2006/main" noGrp="1"/>
          </p:cNvSpPr>
          <p:nvPr/>
        </p:nvSpPr>
        <p:spPr>
          <a:xfrm xmlns:a="http://schemas.openxmlformats.org/drawingml/2006/main">
            <a:off x="4743450" y="2495550"/>
            <a:ext cx="10668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8707E"/>
                </a:solidFill>
                <a:latin typeface="Aptos"/>
                <a:ea typeface="Aptos"/>
                <a:cs typeface="Aptos"/>
              </a:defRPr>
            </a:pPr>
            <a:r>
              <a:rPr sz="863" b="0">
                <a:solidFill>
                  <a:srgbClr val="68707E"/>
                </a:solidFill>
                <a:latin typeface="Aptos"/>
                <a:ea typeface="Aptos"/>
                <a:cs typeface="Aptos"/>
              </a:rPr>
              <a:t>async instruction test</a:t>
            </a:r>
          </a:p>
        </p:txBody>
      </p:sp>
      <p:sp>
        <p:nvSpPr>
          <p:cNvPr id="24" name="">
            <a:extLst xmlns:a="http://schemas.openxmlformats.org/drawingml/2006/main">
              <a:ext uri="{FF2B5EF4-FFF2-40B4-BE49-F238E27FC236}">
                <a16:creationId xmlns:a16="http://schemas.microsoft.com/office/drawing/2014/main" id="{BD50BA3E-D0CC-4A15-B8BC-8B8671A6D0FE}"/>
              </a:ext>
            </a:extLst>
          </p:cNvPr>
          <p:cNvSpPr>
            <a:spLocks xmlns:a="http://schemas.openxmlformats.org/drawingml/2006/main" noGrp="1"/>
          </p:cNvSpPr>
          <p:nvPr/>
        </p:nvSpPr>
        <p:spPr>
          <a:xfrm xmlns:a="http://schemas.openxmlformats.org/drawingml/2006/main">
            <a:off x="5943600" y="2533650"/>
            <a:ext cx="19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68707E"/>
                </a:solidFill>
                <a:latin typeface="Aptos"/>
                <a:ea typeface="Aptos"/>
                <a:cs typeface="Aptos"/>
              </a:defRPr>
            </a:pPr>
            <a:r>
              <a:rPr sz="1500" b="1">
                <a:solidFill>
                  <a:srgbClr val="68707E"/>
                </a:solidFill>
                <a:latin typeface="Aptos"/>
                <a:ea typeface="Aptos"/>
                <a:cs typeface="Aptos"/>
              </a:rPr>
              <a:t>&gt;</a:t>
            </a:r>
          </a:p>
        </p:txBody>
      </p:sp>
      <p:sp>
        <p:nvSpPr>
          <p:cNvPr id="25" name="">
            <a:extLst xmlns:a="http://schemas.openxmlformats.org/drawingml/2006/main">
              <a:ext uri="{FF2B5EF4-FFF2-40B4-BE49-F238E27FC236}">
                <a16:creationId xmlns:a16="http://schemas.microsoft.com/office/drawing/2014/main" id="{E5435B8A-9698-40F4-8CA3-DC76C4BF98C8}"/>
              </a:ext>
            </a:extLst>
          </p:cNvPr>
          <p:cNvSpPr>
            <a:spLocks xmlns:a="http://schemas.openxmlformats.org/drawingml/2006/main" noGrp="1"/>
          </p:cNvSpPr>
          <p:nvPr/>
        </p:nvSpPr>
        <p:spPr>
          <a:xfrm xmlns:a="http://schemas.openxmlformats.org/drawingml/2006/main">
            <a:off x="6172200" y="2095500"/>
            <a:ext cx="1581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C9C2B4"/>
            </a:solidFill>
            <a:prstDash val="solid"/>
          </a:ln>
        </p:spPr>
      </p:sp>
      <p:sp>
        <p:nvSpPr>
          <p:cNvPr id="26" name="">
            <a:extLst xmlns:a="http://schemas.openxmlformats.org/drawingml/2006/main">
              <a:ext uri="{FF2B5EF4-FFF2-40B4-BE49-F238E27FC236}">
                <a16:creationId xmlns:a16="http://schemas.microsoft.com/office/drawing/2014/main" id="{3E32A905-85AC-4EE6-B9DE-80A7581F20FA}"/>
              </a:ext>
            </a:extLst>
          </p:cNvPr>
          <p:cNvSpPr>
            <a:spLocks xmlns:a="http://schemas.openxmlformats.org/drawingml/2006/main" noGrp="1"/>
          </p:cNvSpPr>
          <p:nvPr/>
        </p:nvSpPr>
        <p:spPr>
          <a:xfrm xmlns:a="http://schemas.openxmlformats.org/drawingml/2006/main">
            <a:off x="6172200" y="2095500"/>
            <a:ext cx="323850" cy="11049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E77DE230-45A3-4C6F-942B-C0356DD71872}"/>
              </a:ext>
            </a:extLst>
          </p:cNvPr>
          <p:cNvSpPr>
            <a:spLocks xmlns:a="http://schemas.openxmlformats.org/drawingml/2006/main" noGrp="1"/>
          </p:cNvSpPr>
          <p:nvPr/>
        </p:nvSpPr>
        <p:spPr>
          <a:xfrm xmlns:a="http://schemas.openxmlformats.org/drawingml/2006/main">
            <a:off x="6172200" y="25336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4</a:t>
            </a:r>
          </a:p>
        </p:txBody>
      </p:sp>
      <p:sp>
        <p:nvSpPr>
          <p:cNvPr id="28" name="">
            <a:extLst xmlns:a="http://schemas.openxmlformats.org/drawingml/2006/main">
              <a:ext uri="{FF2B5EF4-FFF2-40B4-BE49-F238E27FC236}">
                <a16:creationId xmlns:a16="http://schemas.microsoft.com/office/drawing/2014/main" id="{2E660485-4BD6-47E9-A6C7-A6FD6FBCCBF9}"/>
              </a:ext>
            </a:extLst>
          </p:cNvPr>
          <p:cNvSpPr>
            <a:spLocks xmlns:a="http://schemas.openxmlformats.org/drawingml/2006/main" noGrp="1"/>
          </p:cNvSpPr>
          <p:nvPr/>
        </p:nvSpPr>
        <p:spPr>
          <a:xfrm xmlns:a="http://schemas.openxmlformats.org/drawingml/2006/main">
            <a:off x="6591300" y="22288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Flash feature</a:t>
            </a:r>
          </a:p>
        </p:txBody>
      </p:sp>
      <p:sp>
        <p:nvSpPr>
          <p:cNvPr id="29" name="">
            <a:extLst xmlns:a="http://schemas.openxmlformats.org/drawingml/2006/main">
              <a:ext uri="{FF2B5EF4-FFF2-40B4-BE49-F238E27FC236}">
                <a16:creationId xmlns:a16="http://schemas.microsoft.com/office/drawing/2014/main" id="{F222ADA3-F505-43B1-B554-9C6058C512C7}"/>
              </a:ext>
            </a:extLst>
          </p:cNvPr>
          <p:cNvSpPr>
            <a:spLocks xmlns:a="http://schemas.openxmlformats.org/drawingml/2006/main" noGrp="1"/>
          </p:cNvSpPr>
          <p:nvPr/>
        </p:nvSpPr>
        <p:spPr>
          <a:xfrm xmlns:a="http://schemas.openxmlformats.org/drawingml/2006/main">
            <a:off x="6591300" y="2495550"/>
            <a:ext cx="10668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8707E"/>
                </a:solidFill>
                <a:latin typeface="Aptos"/>
                <a:ea typeface="Aptos"/>
                <a:cs typeface="Aptos"/>
              </a:defRPr>
            </a:pPr>
            <a:r>
              <a:rPr sz="863" b="0">
                <a:solidFill>
                  <a:srgbClr val="68707E"/>
                </a:solidFill>
                <a:latin typeface="Aptos"/>
                <a:ea typeface="Aptos"/>
                <a:cs typeface="Aptos"/>
              </a:rPr>
              <a:t>same device + settle</a:t>
            </a:r>
          </a:p>
        </p:txBody>
      </p:sp>
      <p:sp>
        <p:nvSpPr>
          <p:cNvPr id="30" name="">
            <a:extLst xmlns:a="http://schemas.openxmlformats.org/drawingml/2006/main">
              <a:ext uri="{FF2B5EF4-FFF2-40B4-BE49-F238E27FC236}">
                <a16:creationId xmlns:a16="http://schemas.microsoft.com/office/drawing/2014/main" id="{B434E2FE-0D85-4D60-A7E3-4CA8754441E2}"/>
              </a:ext>
            </a:extLst>
          </p:cNvPr>
          <p:cNvSpPr>
            <a:spLocks xmlns:a="http://schemas.openxmlformats.org/drawingml/2006/main" noGrp="1"/>
          </p:cNvSpPr>
          <p:nvPr/>
        </p:nvSpPr>
        <p:spPr>
          <a:xfrm xmlns:a="http://schemas.openxmlformats.org/drawingml/2006/main">
            <a:off x="7791450" y="2533650"/>
            <a:ext cx="19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68707E"/>
                </a:solidFill>
                <a:latin typeface="Aptos"/>
                <a:ea typeface="Aptos"/>
                <a:cs typeface="Aptos"/>
              </a:defRPr>
            </a:pPr>
            <a:r>
              <a:rPr sz="1500" b="1">
                <a:solidFill>
                  <a:srgbClr val="68707E"/>
                </a:solidFill>
                <a:latin typeface="Aptos"/>
                <a:ea typeface="Aptos"/>
                <a:cs typeface="Aptos"/>
              </a:rPr>
              <a:t>&gt;</a:t>
            </a:r>
          </a:p>
        </p:txBody>
      </p:sp>
      <p:sp>
        <p:nvSpPr>
          <p:cNvPr id="31" name="">
            <a:extLst xmlns:a="http://schemas.openxmlformats.org/drawingml/2006/main">
              <a:ext uri="{FF2B5EF4-FFF2-40B4-BE49-F238E27FC236}">
                <a16:creationId xmlns:a16="http://schemas.microsoft.com/office/drawing/2014/main" id="{187091EB-54C2-4FFF-A50B-0195A1532C0D}"/>
              </a:ext>
            </a:extLst>
          </p:cNvPr>
          <p:cNvSpPr>
            <a:spLocks xmlns:a="http://schemas.openxmlformats.org/drawingml/2006/main" noGrp="1"/>
          </p:cNvSpPr>
          <p:nvPr/>
        </p:nvSpPr>
        <p:spPr>
          <a:xfrm xmlns:a="http://schemas.openxmlformats.org/drawingml/2006/main">
            <a:off x="8020050" y="2095500"/>
            <a:ext cx="1581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C9C2B4"/>
            </a:solidFill>
            <a:prstDash val="solid"/>
          </a:ln>
        </p:spPr>
      </p:sp>
      <p:sp>
        <p:nvSpPr>
          <p:cNvPr id="32" name="">
            <a:extLst xmlns:a="http://schemas.openxmlformats.org/drawingml/2006/main">
              <a:ext uri="{FF2B5EF4-FFF2-40B4-BE49-F238E27FC236}">
                <a16:creationId xmlns:a16="http://schemas.microsoft.com/office/drawing/2014/main" id="{E125617C-627E-4D80-8A7F-3E36767E24AF}"/>
              </a:ext>
            </a:extLst>
          </p:cNvPr>
          <p:cNvSpPr>
            <a:spLocks xmlns:a="http://schemas.openxmlformats.org/drawingml/2006/main" noGrp="1"/>
          </p:cNvSpPr>
          <p:nvPr/>
        </p:nvSpPr>
        <p:spPr>
          <a:xfrm xmlns:a="http://schemas.openxmlformats.org/drawingml/2006/main">
            <a:off x="8020050" y="2095500"/>
            <a:ext cx="323850" cy="1104900"/>
          </a:xfrm>
          <a:prstGeom xmlns:a="http://schemas.openxmlformats.org/drawingml/2006/main" prst="rect">
            <a:avLst/>
          </a:prstGeom>
          <a:solidFill xmlns:a="http://schemas.openxmlformats.org/drawingml/2006/main">
            <a:srgbClr val="5E7E35"/>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02892851-8CB8-4048-85B4-0AC4DF6556EE}"/>
              </a:ext>
            </a:extLst>
          </p:cNvPr>
          <p:cNvSpPr>
            <a:spLocks xmlns:a="http://schemas.openxmlformats.org/drawingml/2006/main" noGrp="1"/>
          </p:cNvSpPr>
          <p:nvPr/>
        </p:nvSpPr>
        <p:spPr>
          <a:xfrm xmlns:a="http://schemas.openxmlformats.org/drawingml/2006/main">
            <a:off x="8020050" y="25336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5</a:t>
            </a:r>
          </a:p>
        </p:txBody>
      </p:sp>
      <p:sp>
        <p:nvSpPr>
          <p:cNvPr id="34" name="">
            <a:extLst xmlns:a="http://schemas.openxmlformats.org/drawingml/2006/main">
              <a:ext uri="{FF2B5EF4-FFF2-40B4-BE49-F238E27FC236}">
                <a16:creationId xmlns:a16="http://schemas.microsoft.com/office/drawing/2014/main" id="{A01796BF-D062-47A4-A207-2D315B50D6FA}"/>
              </a:ext>
            </a:extLst>
          </p:cNvPr>
          <p:cNvSpPr>
            <a:spLocks xmlns:a="http://schemas.openxmlformats.org/drawingml/2006/main" noGrp="1"/>
          </p:cNvSpPr>
          <p:nvPr/>
        </p:nvSpPr>
        <p:spPr>
          <a:xfrm xmlns:a="http://schemas.openxmlformats.org/drawingml/2006/main">
            <a:off x="8439150" y="22288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Test + compare</a:t>
            </a:r>
          </a:p>
        </p:txBody>
      </p:sp>
      <p:sp>
        <p:nvSpPr>
          <p:cNvPr id="35" name="">
            <a:extLst xmlns:a="http://schemas.openxmlformats.org/drawingml/2006/main">
              <a:ext uri="{FF2B5EF4-FFF2-40B4-BE49-F238E27FC236}">
                <a16:creationId xmlns:a16="http://schemas.microsoft.com/office/drawing/2014/main" id="{FF87D281-75F3-4937-8D72-F0E923F0FE67}"/>
              </a:ext>
            </a:extLst>
          </p:cNvPr>
          <p:cNvSpPr>
            <a:spLocks xmlns:a="http://schemas.openxmlformats.org/drawingml/2006/main" noGrp="1"/>
          </p:cNvSpPr>
          <p:nvPr/>
        </p:nvSpPr>
        <p:spPr>
          <a:xfrm xmlns:a="http://schemas.openxmlformats.org/drawingml/2006/main">
            <a:off x="8439150" y="2495550"/>
            <a:ext cx="10668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8707E"/>
                </a:solidFill>
                <a:latin typeface="Aptos"/>
                <a:ea typeface="Aptos"/>
                <a:cs typeface="Aptos"/>
              </a:defRPr>
            </a:pPr>
            <a:r>
              <a:rPr sz="863" b="0">
                <a:solidFill>
                  <a:srgbClr val="68707E"/>
                </a:solidFill>
                <a:latin typeface="Aptos"/>
                <a:ea typeface="Aptos"/>
                <a:cs typeface="Aptos"/>
              </a:rPr>
              <a:t>baseline_report -&gt; delta</a:t>
            </a:r>
          </a:p>
        </p:txBody>
      </p:sp>
      <p:sp>
        <p:nvSpPr>
          <p:cNvPr id="36" name="">
            <a:extLst xmlns:a="http://schemas.openxmlformats.org/drawingml/2006/main">
              <a:ext uri="{FF2B5EF4-FFF2-40B4-BE49-F238E27FC236}">
                <a16:creationId xmlns:a16="http://schemas.microsoft.com/office/drawing/2014/main" id="{0CBD678E-90AE-49E6-991E-0A1259601280}"/>
              </a:ext>
            </a:extLst>
          </p:cNvPr>
          <p:cNvSpPr>
            <a:spLocks xmlns:a="http://schemas.openxmlformats.org/drawingml/2006/main" noGrp="1"/>
          </p:cNvSpPr>
          <p:nvPr/>
        </p:nvSpPr>
        <p:spPr>
          <a:xfrm xmlns:a="http://schemas.openxmlformats.org/drawingml/2006/main">
            <a:off x="9639300" y="2533650"/>
            <a:ext cx="19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68707E"/>
                </a:solidFill>
                <a:latin typeface="Aptos"/>
                <a:ea typeface="Aptos"/>
                <a:cs typeface="Aptos"/>
              </a:defRPr>
            </a:pPr>
            <a:r>
              <a:rPr sz="1500" b="1">
                <a:solidFill>
                  <a:srgbClr val="68707E"/>
                </a:solidFill>
                <a:latin typeface="Aptos"/>
                <a:ea typeface="Aptos"/>
                <a:cs typeface="Aptos"/>
              </a:rPr>
              <a:t>&gt;</a:t>
            </a:r>
          </a:p>
        </p:txBody>
      </p:sp>
      <p:sp>
        <p:nvSpPr>
          <p:cNvPr id="37" name="">
            <a:extLst xmlns:a="http://schemas.openxmlformats.org/drawingml/2006/main">
              <a:ext uri="{FF2B5EF4-FFF2-40B4-BE49-F238E27FC236}">
                <a16:creationId xmlns:a16="http://schemas.microsoft.com/office/drawing/2014/main" id="{3D59AC37-7B4B-49B4-8BEB-28030B520462}"/>
              </a:ext>
            </a:extLst>
          </p:cNvPr>
          <p:cNvSpPr>
            <a:spLocks xmlns:a="http://schemas.openxmlformats.org/drawingml/2006/main" noGrp="1"/>
          </p:cNvSpPr>
          <p:nvPr/>
        </p:nvSpPr>
        <p:spPr>
          <a:xfrm xmlns:a="http://schemas.openxmlformats.org/drawingml/2006/main">
            <a:off x="9867900" y="2095500"/>
            <a:ext cx="158115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C9C2B4"/>
            </a:solidFill>
            <a:prstDash val="solid"/>
          </a:ln>
        </p:spPr>
      </p:sp>
      <p:sp>
        <p:nvSpPr>
          <p:cNvPr id="38" name="">
            <a:extLst xmlns:a="http://schemas.openxmlformats.org/drawingml/2006/main">
              <a:ext uri="{FF2B5EF4-FFF2-40B4-BE49-F238E27FC236}">
                <a16:creationId xmlns:a16="http://schemas.microsoft.com/office/drawing/2014/main" id="{B8A4E083-8D4B-4E93-969A-472FDA9DBD90}"/>
              </a:ext>
            </a:extLst>
          </p:cNvPr>
          <p:cNvSpPr>
            <a:spLocks xmlns:a="http://schemas.openxmlformats.org/drawingml/2006/main" noGrp="1"/>
          </p:cNvSpPr>
          <p:nvPr/>
        </p:nvSpPr>
        <p:spPr>
          <a:xfrm xmlns:a="http://schemas.openxmlformats.org/drawingml/2006/main">
            <a:off x="9867900" y="2095500"/>
            <a:ext cx="323850" cy="1104900"/>
          </a:xfrm>
          <a:prstGeom xmlns:a="http://schemas.openxmlformats.org/drawingml/2006/main" prst="rect">
            <a:avLst/>
          </a:prstGeom>
          <a:solidFill xmlns:a="http://schemas.openxmlformats.org/drawingml/2006/main">
            <a:srgbClr val="D98B21"/>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AE04D12C-273D-40C6-A7E5-CA56F5122AAE}"/>
              </a:ext>
            </a:extLst>
          </p:cNvPr>
          <p:cNvSpPr>
            <a:spLocks xmlns:a="http://schemas.openxmlformats.org/drawingml/2006/main" noGrp="1"/>
          </p:cNvSpPr>
          <p:nvPr/>
        </p:nvSpPr>
        <p:spPr>
          <a:xfrm xmlns:a="http://schemas.openxmlformats.org/drawingml/2006/main">
            <a:off x="9867900" y="2533650"/>
            <a:ext cx="32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6</a:t>
            </a:r>
          </a:p>
        </p:txBody>
      </p:sp>
      <p:sp>
        <p:nvSpPr>
          <p:cNvPr id="40" name="">
            <a:extLst xmlns:a="http://schemas.openxmlformats.org/drawingml/2006/main">
              <a:ext uri="{FF2B5EF4-FFF2-40B4-BE49-F238E27FC236}">
                <a16:creationId xmlns:a16="http://schemas.microsoft.com/office/drawing/2014/main" id="{BB84CB1C-D41C-43CC-8F41-A43C02F087E5}"/>
              </a:ext>
            </a:extLst>
          </p:cNvPr>
          <p:cNvSpPr>
            <a:spLocks xmlns:a="http://schemas.openxmlformats.org/drawingml/2006/main" noGrp="1"/>
          </p:cNvSpPr>
          <p:nvPr/>
        </p:nvSpPr>
        <p:spPr>
          <a:xfrm xmlns:a="http://schemas.openxmlformats.org/drawingml/2006/main">
            <a:off x="10287000" y="22288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Report verdict</a:t>
            </a:r>
          </a:p>
        </p:txBody>
      </p:sp>
      <p:sp>
        <p:nvSpPr>
          <p:cNvPr id="41" name="">
            <a:extLst xmlns:a="http://schemas.openxmlformats.org/drawingml/2006/main">
              <a:ext uri="{FF2B5EF4-FFF2-40B4-BE49-F238E27FC236}">
                <a16:creationId xmlns:a16="http://schemas.microsoft.com/office/drawing/2014/main" id="{D27C20D1-CF33-41A2-8655-1D11448BE5C2}"/>
              </a:ext>
            </a:extLst>
          </p:cNvPr>
          <p:cNvSpPr>
            <a:spLocks xmlns:a="http://schemas.openxmlformats.org/drawingml/2006/main" noGrp="1"/>
          </p:cNvSpPr>
          <p:nvPr/>
        </p:nvSpPr>
        <p:spPr>
          <a:xfrm xmlns:a="http://schemas.openxmlformats.org/drawingml/2006/main">
            <a:off x="10287000" y="2495550"/>
            <a:ext cx="10668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8707E"/>
                </a:solidFill>
                <a:latin typeface="Aptos"/>
                <a:ea typeface="Aptos"/>
                <a:cs typeface="Aptos"/>
              </a:defRPr>
            </a:pPr>
            <a:r>
              <a:rPr sz="863" b="0">
                <a:solidFill>
                  <a:srgbClr val="68707E"/>
                </a:solidFill>
                <a:latin typeface="Aptos"/>
                <a:ea typeface="Aptos"/>
                <a:cs typeface="Aptos"/>
              </a:rPr>
              <a:t>pass/fail/inconclusive/skipped</a:t>
            </a:r>
          </a:p>
        </p:txBody>
      </p:sp>
      <p:sp>
        <p:nvSpPr>
          <p:cNvPr id="42" name="">
            <a:extLst xmlns:a="http://schemas.openxmlformats.org/drawingml/2006/main">
              <a:ext uri="{FF2B5EF4-FFF2-40B4-BE49-F238E27FC236}">
                <a16:creationId xmlns:a16="http://schemas.microsoft.com/office/drawing/2014/main" id="{4B25EB66-2065-4744-8237-52037E43EC8F}"/>
              </a:ext>
            </a:extLst>
          </p:cNvPr>
          <p:cNvSpPr>
            <a:spLocks xmlns:a="http://schemas.openxmlformats.org/drawingml/2006/main" noGrp="1"/>
          </p:cNvSpPr>
          <p:nvPr/>
        </p:nvSpPr>
        <p:spPr>
          <a:xfrm xmlns:a="http://schemas.openxmlformats.org/drawingml/2006/main">
            <a:off x="781050" y="3848100"/>
            <a:ext cx="3009900" cy="1104900"/>
          </a:xfrm>
          <a:prstGeom xmlns:a="http://schemas.openxmlformats.org/drawingml/2006/main" prst="rect">
            <a:avLst/>
          </a:prstGeom>
          <a:solidFill xmlns:a="http://schemas.openxmlformats.org/drawingml/2006/main">
            <a:srgbClr val="E3EBD8"/>
          </a:solidFill>
          <a:ln xmlns:a="http://schemas.openxmlformats.org/drawingml/2006/main" w="9525">
            <a:solidFill>
              <a:srgbClr val="5E7E35"/>
            </a:solidFill>
            <a:prstDash val="solid"/>
          </a:ln>
        </p:spPr>
      </p:sp>
      <p:sp>
        <p:nvSpPr>
          <p:cNvPr id="43" name="">
            <a:extLst xmlns:a="http://schemas.openxmlformats.org/drawingml/2006/main">
              <a:ext uri="{FF2B5EF4-FFF2-40B4-BE49-F238E27FC236}">
                <a16:creationId xmlns:a16="http://schemas.microsoft.com/office/drawing/2014/main" id="{AF355DF6-8B6B-44AD-BD5F-099CA316BAEC}"/>
              </a:ext>
            </a:extLst>
          </p:cNvPr>
          <p:cNvSpPr>
            <a:spLocks xmlns:a="http://schemas.openxmlformats.org/drawingml/2006/main" noGrp="1"/>
          </p:cNvSpPr>
          <p:nvPr/>
        </p:nvSpPr>
        <p:spPr>
          <a:xfrm xmlns:a="http://schemas.openxmlformats.org/drawingml/2006/main">
            <a:off x="990600" y="4057650"/>
            <a:ext cx="95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5E7E35"/>
                </a:solidFill>
                <a:latin typeface="Aptos"/>
                <a:ea typeface="Aptos"/>
                <a:cs typeface="Aptos"/>
              </a:defRPr>
            </a:pPr>
            <a:r>
              <a:rPr sz="1725" b="1">
                <a:solidFill>
                  <a:srgbClr val="5E7E35"/>
                </a:solidFill>
                <a:latin typeface="Aptos"/>
                <a:ea typeface="Aptos"/>
                <a:cs typeface="Aptos"/>
              </a:rPr>
              <a:t>PASS</a:t>
            </a:r>
          </a:p>
        </p:txBody>
      </p:sp>
      <p:sp>
        <p:nvSpPr>
          <p:cNvPr id="44" name="">
            <a:extLst xmlns:a="http://schemas.openxmlformats.org/drawingml/2006/main">
              <a:ext uri="{FF2B5EF4-FFF2-40B4-BE49-F238E27FC236}">
                <a16:creationId xmlns:a16="http://schemas.microsoft.com/office/drawing/2014/main" id="{E6537D4D-C519-4246-9514-B5C7B086DD67}"/>
              </a:ext>
            </a:extLst>
          </p:cNvPr>
          <p:cNvSpPr>
            <a:spLocks xmlns:a="http://schemas.openxmlformats.org/drawingml/2006/main" noGrp="1"/>
          </p:cNvSpPr>
          <p:nvPr/>
        </p:nvSpPr>
        <p:spPr>
          <a:xfrm xmlns:a="http://schemas.openxmlformats.org/drawingml/2006/main">
            <a:off x="990600" y="4400550"/>
            <a:ext cx="23812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aggregate.delta &lt;= 0</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no missing pairs</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no crash or terminal test failure</a:t>
            </a:r>
          </a:p>
        </p:txBody>
      </p:sp>
      <p:sp>
        <p:nvSpPr>
          <p:cNvPr id="45" name="">
            <a:extLst xmlns:a="http://schemas.openxmlformats.org/drawingml/2006/main">
              <a:ext uri="{FF2B5EF4-FFF2-40B4-BE49-F238E27FC236}">
                <a16:creationId xmlns:a16="http://schemas.microsoft.com/office/drawing/2014/main" id="{BC6F677A-DAD5-403E-BC78-8D853F9270DB}"/>
              </a:ext>
            </a:extLst>
          </p:cNvPr>
          <p:cNvSpPr>
            <a:spLocks xmlns:a="http://schemas.openxmlformats.org/drawingml/2006/main" noGrp="1"/>
          </p:cNvSpPr>
          <p:nvPr/>
        </p:nvSpPr>
        <p:spPr>
          <a:xfrm xmlns:a="http://schemas.openxmlformats.org/drawingml/2006/main">
            <a:off x="4591050" y="3848100"/>
            <a:ext cx="3009900" cy="1104900"/>
          </a:xfrm>
          <a:prstGeom xmlns:a="http://schemas.openxmlformats.org/drawingml/2006/main" prst="rect">
            <a:avLst/>
          </a:prstGeom>
          <a:solidFill xmlns:a="http://schemas.openxmlformats.org/drawingml/2006/main">
            <a:srgbClr val="F1DAD4"/>
          </a:solidFill>
          <a:ln xmlns:a="http://schemas.openxmlformats.org/drawingml/2006/main" w="9525">
            <a:solidFill>
              <a:srgbClr val="C84D3A"/>
            </a:solidFill>
            <a:prstDash val="solid"/>
          </a:ln>
        </p:spPr>
      </p:sp>
      <p:sp>
        <p:nvSpPr>
          <p:cNvPr id="46" name="">
            <a:extLst xmlns:a="http://schemas.openxmlformats.org/drawingml/2006/main">
              <a:ext uri="{FF2B5EF4-FFF2-40B4-BE49-F238E27FC236}">
                <a16:creationId xmlns:a16="http://schemas.microsoft.com/office/drawing/2014/main" id="{581232B1-AF68-4842-BC24-3BF0F61565DA}"/>
              </a:ext>
            </a:extLst>
          </p:cNvPr>
          <p:cNvSpPr>
            <a:spLocks xmlns:a="http://schemas.openxmlformats.org/drawingml/2006/main" noGrp="1"/>
          </p:cNvSpPr>
          <p:nvPr/>
        </p:nvSpPr>
        <p:spPr>
          <a:xfrm xmlns:a="http://schemas.openxmlformats.org/drawingml/2006/main">
            <a:off x="4800600" y="4057650"/>
            <a:ext cx="95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C84D3A"/>
                </a:solidFill>
                <a:latin typeface="Aptos"/>
                <a:ea typeface="Aptos"/>
                <a:cs typeface="Aptos"/>
              </a:defRPr>
            </a:pPr>
            <a:r>
              <a:rPr sz="1725" b="1">
                <a:solidFill>
                  <a:srgbClr val="C84D3A"/>
                </a:solidFill>
                <a:latin typeface="Aptos"/>
                <a:ea typeface="Aptos"/>
                <a:cs typeface="Aptos"/>
              </a:rPr>
              <a:t>FAIL</a:t>
            </a:r>
          </a:p>
        </p:txBody>
      </p:sp>
      <p:sp>
        <p:nvSpPr>
          <p:cNvPr id="47" name="">
            <a:extLst xmlns:a="http://schemas.openxmlformats.org/drawingml/2006/main">
              <a:ext uri="{FF2B5EF4-FFF2-40B4-BE49-F238E27FC236}">
                <a16:creationId xmlns:a16="http://schemas.microsoft.com/office/drawing/2014/main" id="{984977C1-56ED-489E-A3E5-AE6FF5746F84}"/>
              </a:ext>
            </a:extLst>
          </p:cNvPr>
          <p:cNvSpPr>
            <a:spLocks xmlns:a="http://schemas.openxmlformats.org/drawingml/2006/main" noGrp="1"/>
          </p:cNvSpPr>
          <p:nvPr/>
        </p:nvSpPr>
        <p:spPr>
          <a:xfrm xmlns:a="http://schemas.openxmlformats.org/drawingml/2006/main">
            <a:off x="4800600" y="4400550"/>
            <a:ext cx="23812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delta &gt; 0</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feature flash fails</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build/sign breaks</a:t>
            </a:r>
          </a:p>
        </p:txBody>
      </p:sp>
      <p:sp>
        <p:nvSpPr>
          <p:cNvPr id="48" name="">
            <a:extLst xmlns:a="http://schemas.openxmlformats.org/drawingml/2006/main">
              <a:ext uri="{FF2B5EF4-FFF2-40B4-BE49-F238E27FC236}">
                <a16:creationId xmlns:a16="http://schemas.microsoft.com/office/drawing/2014/main" id="{F1D33634-A62A-4131-A20D-A42B5A490616}"/>
              </a:ext>
            </a:extLst>
          </p:cNvPr>
          <p:cNvSpPr>
            <a:spLocks xmlns:a="http://schemas.openxmlformats.org/drawingml/2006/main" noGrp="1"/>
          </p:cNvSpPr>
          <p:nvPr/>
        </p:nvSpPr>
        <p:spPr>
          <a:xfrm xmlns:a="http://schemas.openxmlformats.org/drawingml/2006/main">
            <a:off x="8401050" y="3848100"/>
            <a:ext cx="3009900" cy="1104900"/>
          </a:xfrm>
          <a:prstGeom xmlns:a="http://schemas.openxmlformats.org/drawingml/2006/main" prst="rect">
            <a:avLst/>
          </a:prstGeom>
          <a:solidFill xmlns:a="http://schemas.openxmlformats.org/drawingml/2006/main">
            <a:srgbClr val="F5E5C8"/>
          </a:solidFill>
          <a:ln xmlns:a="http://schemas.openxmlformats.org/drawingml/2006/main" w="9525">
            <a:solidFill>
              <a:srgbClr val="D98B21"/>
            </a:solidFill>
            <a:prstDash val="solid"/>
          </a:ln>
        </p:spPr>
      </p:sp>
      <p:sp>
        <p:nvSpPr>
          <p:cNvPr id="49" name="">
            <a:extLst xmlns:a="http://schemas.openxmlformats.org/drawingml/2006/main">
              <a:ext uri="{FF2B5EF4-FFF2-40B4-BE49-F238E27FC236}">
                <a16:creationId xmlns:a16="http://schemas.microsoft.com/office/drawing/2014/main" id="{69973741-7A95-4A6B-9D4D-965DEAD2CA35}"/>
              </a:ext>
            </a:extLst>
          </p:cNvPr>
          <p:cNvSpPr>
            <a:spLocks xmlns:a="http://schemas.openxmlformats.org/drawingml/2006/main" noGrp="1"/>
          </p:cNvSpPr>
          <p:nvPr/>
        </p:nvSpPr>
        <p:spPr>
          <a:xfrm xmlns:a="http://schemas.openxmlformats.org/drawingml/2006/main">
            <a:off x="8610600" y="405765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D98B21"/>
                </a:solidFill>
                <a:latin typeface="Aptos"/>
                <a:ea typeface="Aptos"/>
                <a:cs typeface="Aptos"/>
              </a:defRPr>
            </a:pPr>
            <a:r>
              <a:rPr sz="1575" b="1">
                <a:solidFill>
                  <a:srgbClr val="D98B21"/>
                </a:solidFill>
                <a:latin typeface="Aptos"/>
                <a:ea typeface="Aptos"/>
                <a:cs typeface="Aptos"/>
              </a:rPr>
              <a:t>INCONCLUSIVE / SKIPPED</a:t>
            </a:r>
          </a:p>
        </p:txBody>
      </p:sp>
      <p:sp>
        <p:nvSpPr>
          <p:cNvPr id="50" name="">
            <a:extLst xmlns:a="http://schemas.openxmlformats.org/drawingml/2006/main">
              <a:ext uri="{FF2B5EF4-FFF2-40B4-BE49-F238E27FC236}">
                <a16:creationId xmlns:a16="http://schemas.microsoft.com/office/drawing/2014/main" id="{B330A4D2-5F5A-4294-89B4-4F43E16DC989}"/>
              </a:ext>
            </a:extLst>
          </p:cNvPr>
          <p:cNvSpPr>
            <a:spLocks xmlns:a="http://schemas.openxmlformats.org/drawingml/2006/main" noGrp="1"/>
          </p:cNvSpPr>
          <p:nvPr/>
        </p:nvSpPr>
        <p:spPr>
          <a:xfrm xmlns:a="http://schemas.openxmlformats.org/drawingml/2006/main">
            <a:off x="8610600" y="4400550"/>
            <a:ext cx="23812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within noise, missing pairs,</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180-min ceiling, or infra failure</a:t>
            </a:r>
          </a:p>
        </p:txBody>
      </p:sp>
      <p:sp>
        <p:nvSpPr>
          <p:cNvPr id="51" name="">
            <a:extLst xmlns:a="http://schemas.openxmlformats.org/drawingml/2006/main">
              <a:ext uri="{FF2B5EF4-FFF2-40B4-BE49-F238E27FC236}">
                <a16:creationId xmlns:a16="http://schemas.microsoft.com/office/drawing/2014/main" id="{DEDF163E-9D5B-47DF-B598-60D089D057D4}"/>
              </a:ext>
            </a:extLst>
          </p:cNvPr>
          <p:cNvSpPr>
            <a:spLocks xmlns:a="http://schemas.openxmlformats.org/drawingml/2006/main" noGrp="1"/>
          </p:cNvSpPr>
          <p:nvPr/>
        </p:nvSpPr>
        <p:spPr>
          <a:xfrm xmlns:a="http://schemas.openxmlformats.org/drawingml/2006/main">
            <a:off x="952500" y="5695950"/>
            <a:ext cx="7239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Hard rule: feature-only test results do not count as proof.</a:t>
            </a:r>
          </a:p>
        </p:txBody>
      </p:sp>
      <p:sp>
        <p:nvSpPr>
          <p:cNvPr id="52" name="">
            <a:extLst xmlns:a="http://schemas.openxmlformats.org/drawingml/2006/main">
              <a:ext uri="{FF2B5EF4-FFF2-40B4-BE49-F238E27FC236}">
                <a16:creationId xmlns:a16="http://schemas.microsoft.com/office/drawing/2014/main" id="{C1EE5E67-05F8-4250-B408-570016D6BFFB}"/>
              </a:ext>
            </a:extLst>
          </p:cNvPr>
          <p:cNvSpPr>
            <a:spLocks xmlns:a="http://schemas.openxmlformats.org/drawingml/2006/main" noGrp="1"/>
          </p:cNvSpPr>
          <p:nvPr/>
        </p:nvSpPr>
        <p:spPr>
          <a:xfrm xmlns:a="http://schemas.openxmlformats.org/drawingml/2006/main">
            <a:off x="495300" y="6705600"/>
            <a:ext cx="457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 multi-agent harness</a:t>
            </a:r>
          </a:p>
        </p:txBody>
      </p:sp>
      <p:sp>
        <p:nvSpPr>
          <p:cNvPr id="53" name="">
            <a:extLst xmlns:a="http://schemas.openxmlformats.org/drawingml/2006/main">
              <a:ext uri="{FF2B5EF4-FFF2-40B4-BE49-F238E27FC236}">
                <a16:creationId xmlns:a16="http://schemas.microsoft.com/office/drawing/2014/main" id="{34E06A38-71A8-4A1F-B0CB-6228A1B4BB2C}"/>
              </a:ext>
            </a:extLst>
          </p:cNvPr>
          <p:cNvSpPr>
            <a:spLocks xmlns:a="http://schemas.openxmlformats.org/drawingml/2006/main" noGrp="1"/>
          </p:cNvSpPr>
          <p:nvPr/>
        </p:nvSpPr>
        <p:spPr>
          <a:xfrm xmlns:a="http://schemas.openxmlformats.org/drawingml/2006/main">
            <a:off x="10706100" y="6705600"/>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8707E"/>
                </a:solidFill>
                <a:latin typeface="Aptos"/>
                <a:ea typeface="Aptos"/>
                <a:cs typeface="Aptos"/>
              </a:defRPr>
            </a:pPr>
            <a:r>
              <a:rPr sz="713" b="0">
                <a:solidFill>
                  <a:srgbClr val="68707E"/>
                </a:solidFill>
                <a:latin typeface="Aptos"/>
                <a:ea typeface="Aptos"/>
                <a:cs typeface="Aptos"/>
              </a:rPr>
              <a:t>9 / 14</a:t>
            </a:r>
          </a:p>
        </p:txBody>
      </p:sp>
    </p:spTree>
    <p:extLst>
      <p:ext uri="{BB962C8B-B14F-4D97-AF65-F5344CB8AC3E}">
        <p14:creationId xmlns:p14="http://schemas.microsoft.com/office/powerpoint/2010/main" val="7880922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6B679B76-22E8-4CA8-82A5-0F094E2D5F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DEAFF06C-6C67-4B0C-86AC-C267E5602604}"/>
              </a:ext>
            </a:extLst>
          </p:cNvPr>
          <p:cNvSpPr>
            <a:spLocks xmlns:a="http://schemas.openxmlformats.org/drawingml/2006/main" noGrp="1"/>
          </p:cNvSpPr>
          <p:nvPr/>
        </p:nvSpPr>
        <p:spPr>
          <a:xfrm xmlns:a="http://schemas.openxmlformats.org/drawingml/2006/main">
            <a:off x="495300" y="419100"/>
            <a:ext cx="304800" cy="381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D3F91B25-E195-4380-A450-6ABD1FB20901}"/>
              </a:ext>
            </a:extLst>
          </p:cNvPr>
          <p:cNvSpPr>
            <a:spLocks xmlns:a="http://schemas.openxmlformats.org/drawingml/2006/main" noGrp="1"/>
          </p:cNvSpPr>
          <p:nvPr/>
        </p:nvSpPr>
        <p:spPr>
          <a:xfrm xmlns:a="http://schemas.openxmlformats.org/drawingml/2006/main">
            <a:off x="895350" y="285750"/>
            <a:ext cx="495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E7C7B"/>
                </a:solidFill>
                <a:latin typeface="Aptos"/>
                <a:ea typeface="Aptos"/>
                <a:cs typeface="Aptos"/>
              </a:defRPr>
            </a:pPr>
            <a:r>
              <a:rPr sz="975" b="1">
                <a:solidFill>
                  <a:srgbClr val="0E7C7B"/>
                </a:solidFill>
                <a:latin typeface="Aptos"/>
                <a:ea typeface="Aptos"/>
                <a:cs typeface="Aptos"/>
              </a:rPr>
              <a:t>POLICY AND TOOLS</a:t>
            </a:r>
          </a:p>
        </p:txBody>
      </p:sp>
      <p:sp>
        <p:nvSpPr>
          <p:cNvPr id="4" name="">
            <a:extLst xmlns:a="http://schemas.openxmlformats.org/drawingml/2006/main">
              <a:ext uri="{FF2B5EF4-FFF2-40B4-BE49-F238E27FC236}">
                <a16:creationId xmlns:a16="http://schemas.microsoft.com/office/drawing/2014/main" id="{B4442B62-3BC2-4933-B35F-29DC0918FA9D}"/>
              </a:ext>
            </a:extLst>
          </p:cNvPr>
          <p:cNvSpPr>
            <a:spLocks xmlns:a="http://schemas.openxmlformats.org/drawingml/2006/main" noGrp="1"/>
          </p:cNvSpPr>
          <p:nvPr/>
        </p:nvSpPr>
        <p:spPr>
          <a:xfrm xmlns:a="http://schemas.openxmlformats.org/drawingml/2006/main">
            <a:off x="495300" y="666750"/>
            <a:ext cx="8382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Skills encode process; MCP servers execute work.</a:t>
            </a:r>
          </a:p>
        </p:txBody>
      </p:sp>
      <p:sp>
        <p:nvSpPr>
          <p:cNvPr id="5" name="">
            <a:extLst xmlns:a="http://schemas.openxmlformats.org/drawingml/2006/main">
              <a:ext uri="{FF2B5EF4-FFF2-40B4-BE49-F238E27FC236}">
                <a16:creationId xmlns:a16="http://schemas.microsoft.com/office/drawing/2014/main" id="{691CCF8A-2A25-4C7D-9110-16B0DCB98447}"/>
              </a:ext>
            </a:extLst>
          </p:cNvPr>
          <p:cNvSpPr>
            <a:spLocks xmlns:a="http://schemas.openxmlformats.org/drawingml/2006/main" noGrp="1"/>
          </p:cNvSpPr>
          <p:nvPr/>
        </p:nvSpPr>
        <p:spPr>
          <a:xfrm xmlns:a="http://schemas.openxmlformats.org/drawingml/2006/main">
            <a:off x="495300" y="1447800"/>
            <a:ext cx="11201400" cy="14288"/>
          </a:xfrm>
          <a:prstGeom xmlns:a="http://schemas.openxmlformats.org/drawingml/2006/main" prst="rect">
            <a:avLst/>
          </a:prstGeom>
          <a:solidFill xmlns:a="http://schemas.openxmlformats.org/drawingml/2006/main">
            <a:srgbClr val="C9C2B4"/>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C9DCF86-3577-4305-9C41-CED476819788}"/>
              </a:ext>
            </a:extLst>
          </p:cNvPr>
          <p:cNvSpPr>
            <a:spLocks xmlns:a="http://schemas.openxmlformats.org/drawingml/2006/main" noGrp="1"/>
          </p:cNvSpPr>
          <p:nvPr/>
        </p:nvSpPr>
        <p:spPr>
          <a:xfrm xmlns:a="http://schemas.openxmlformats.org/drawingml/2006/main">
            <a:off x="495300" y="6496050"/>
            <a:ext cx="800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.opencode/commands/optimize_generic.md; configs/pipeline_profiles.yaml</a:t>
            </a:r>
          </a:p>
        </p:txBody>
      </p:sp>
      <p:sp>
        <p:nvSpPr>
          <p:cNvPr id="7" name="">
            <a:extLst xmlns:a="http://schemas.openxmlformats.org/drawingml/2006/main">
              <a:ext uri="{FF2B5EF4-FFF2-40B4-BE49-F238E27FC236}">
                <a16:creationId xmlns:a16="http://schemas.microsoft.com/office/drawing/2014/main" id="{98D15C88-0606-4B1E-8D1D-0910DF7B9770}"/>
              </a:ext>
            </a:extLst>
          </p:cNvPr>
          <p:cNvSpPr>
            <a:spLocks xmlns:a="http://schemas.openxmlformats.org/drawingml/2006/main" noGrp="1"/>
          </p:cNvSpPr>
          <p:nvPr/>
        </p:nvSpPr>
        <p:spPr>
          <a:xfrm xmlns:a="http://schemas.openxmlformats.org/drawingml/2006/main">
            <a:off x="685800" y="1790700"/>
            <a:ext cx="4953000" cy="3333750"/>
          </a:xfrm>
          <a:prstGeom xmlns:a="http://schemas.openxmlformats.org/drawingml/2006/main" prst="rect">
            <a:avLst/>
          </a:prstGeom>
          <a:solidFill xmlns:a="http://schemas.openxmlformats.org/drawingml/2006/main">
            <a:srgbClr val="E3E5F6"/>
          </a:solidFill>
          <a:ln xmlns:a="http://schemas.openxmlformats.org/drawingml/2006/main" w="9525">
            <a:solidFill>
              <a:srgbClr val="C9C2B4"/>
            </a:solidFill>
            <a:prstDash val="solid"/>
          </a:ln>
        </p:spPr>
      </p:sp>
      <p:sp>
        <p:nvSpPr>
          <p:cNvPr id="8" name="">
            <a:extLst xmlns:a="http://schemas.openxmlformats.org/drawingml/2006/main">
              <a:ext uri="{FF2B5EF4-FFF2-40B4-BE49-F238E27FC236}">
                <a16:creationId xmlns:a16="http://schemas.microsoft.com/office/drawing/2014/main" id="{B516343A-446C-4BD5-B0D1-CA19D62DE131}"/>
              </a:ext>
            </a:extLst>
          </p:cNvPr>
          <p:cNvSpPr>
            <a:spLocks xmlns:a="http://schemas.openxmlformats.org/drawingml/2006/main" noGrp="1"/>
          </p:cNvSpPr>
          <p:nvPr/>
        </p:nvSpPr>
        <p:spPr>
          <a:xfrm xmlns:a="http://schemas.openxmlformats.org/drawingml/2006/main">
            <a:off x="685800" y="1790700"/>
            <a:ext cx="4953000" cy="304800"/>
          </a:xfrm>
          <a:prstGeom xmlns:a="http://schemas.openxmlformats.org/drawingml/2006/main" prst="rect">
            <a:avLst/>
          </a:prstGeom>
          <a:solidFill xmlns:a="http://schemas.openxmlformats.org/drawingml/2006/main">
            <a:srgbClr val="3B4AA4"/>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BEDFE6F-D409-4C9D-839D-7CB24249216B}"/>
              </a:ext>
            </a:extLst>
          </p:cNvPr>
          <p:cNvSpPr>
            <a:spLocks xmlns:a="http://schemas.openxmlformats.org/drawingml/2006/main" noGrp="1"/>
          </p:cNvSpPr>
          <p:nvPr/>
        </p:nvSpPr>
        <p:spPr>
          <a:xfrm xmlns:a="http://schemas.openxmlformats.org/drawingml/2006/main">
            <a:off x="819150" y="1838325"/>
            <a:ext cx="4686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Skill packs loaded by /optimize_generic</a:t>
            </a:r>
          </a:p>
        </p:txBody>
      </p:sp>
      <p:sp>
        <p:nvSpPr>
          <p:cNvPr id="10" name="">
            <a:extLst xmlns:a="http://schemas.openxmlformats.org/drawingml/2006/main">
              <a:ext uri="{FF2B5EF4-FFF2-40B4-BE49-F238E27FC236}">
                <a16:creationId xmlns:a16="http://schemas.microsoft.com/office/drawing/2014/main" id="{C000E08E-EBFC-4C4B-8BBE-DCD6506BE8A3}"/>
              </a:ext>
            </a:extLst>
          </p:cNvPr>
          <p:cNvSpPr>
            <a:spLocks xmlns:a="http://schemas.openxmlformats.org/drawingml/2006/main" noGrp="1"/>
          </p:cNvSpPr>
          <p:nvPr/>
        </p:nvSpPr>
        <p:spPr>
          <a:xfrm xmlns:a="http://schemas.openxmlformats.org/drawingml/2006/main">
            <a:off x="838200" y="2228850"/>
            <a:ext cx="4648200" cy="2781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instruction-count-first</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research-discipline</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optimization-funnel</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handoff-contract</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implementation-guardrails</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validation-flight-check</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memory-accumulation</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iterative-optimization</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language-config</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stage-gate-enforcement</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build-and-sign</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flash-device-operations</a:t>
            </a:r>
          </a:p>
          <a:p xmlns:a="http://schemas.openxmlformats.org/drawingml/2006/main">
            <a:pPr algn="l">
              <a:defRPr sz="1200" b="0">
                <a:solidFill>
                  <a:srgbClr val="17202A"/>
                </a:solidFill>
                <a:latin typeface="Aptos"/>
                <a:ea typeface="Aptos"/>
                <a:cs typeface="Aptos"/>
              </a:defRPr>
            </a:pPr>
            <a:r>
              <a:rPr sz="1200" b="0">
                <a:solidFill>
                  <a:srgbClr val="17202A"/>
                </a:solidFill>
                <a:latin typeface="Aptos"/>
                <a:ea typeface="Aptos"/>
                <a:cs typeface="Aptos"/>
              </a:rPr>
              <a:t>ab-test-comparison</a:t>
            </a:r>
          </a:p>
        </p:txBody>
      </p:sp>
      <p:sp>
        <p:nvSpPr>
          <p:cNvPr id="11" name="">
            <a:extLst xmlns:a="http://schemas.openxmlformats.org/drawingml/2006/main">
              <a:ext uri="{FF2B5EF4-FFF2-40B4-BE49-F238E27FC236}">
                <a16:creationId xmlns:a16="http://schemas.microsoft.com/office/drawing/2014/main" id="{935CCBC5-E3A8-45C1-8A9A-A78F049B0FDA}"/>
              </a:ext>
            </a:extLst>
          </p:cNvPr>
          <p:cNvSpPr>
            <a:spLocks xmlns:a="http://schemas.openxmlformats.org/drawingml/2006/main" noGrp="1"/>
          </p:cNvSpPr>
          <p:nvPr/>
        </p:nvSpPr>
        <p:spPr>
          <a:xfrm xmlns:a="http://schemas.openxmlformats.org/drawingml/2006/main">
            <a:off x="6553200" y="1790700"/>
            <a:ext cx="4953000" cy="3333750"/>
          </a:xfrm>
          <a:prstGeom xmlns:a="http://schemas.openxmlformats.org/drawingml/2006/main" prst="rect">
            <a:avLst/>
          </a:prstGeom>
          <a:solidFill xmlns:a="http://schemas.openxmlformats.org/drawingml/2006/main">
            <a:srgbClr val="DCEEEB"/>
          </a:solidFill>
          <a:ln xmlns:a="http://schemas.openxmlformats.org/drawingml/2006/main" w="9525">
            <a:solidFill>
              <a:srgbClr val="C9C2B4"/>
            </a:solidFill>
            <a:prstDash val="solid"/>
          </a:ln>
        </p:spPr>
      </p:sp>
      <p:sp>
        <p:nvSpPr>
          <p:cNvPr id="12" name="">
            <a:extLst xmlns:a="http://schemas.openxmlformats.org/drawingml/2006/main">
              <a:ext uri="{FF2B5EF4-FFF2-40B4-BE49-F238E27FC236}">
                <a16:creationId xmlns:a16="http://schemas.microsoft.com/office/drawing/2014/main" id="{AC790E0F-8CD5-4D3C-989E-31078E14EC78}"/>
              </a:ext>
            </a:extLst>
          </p:cNvPr>
          <p:cNvSpPr>
            <a:spLocks xmlns:a="http://schemas.openxmlformats.org/drawingml/2006/main" noGrp="1"/>
          </p:cNvSpPr>
          <p:nvPr/>
        </p:nvSpPr>
        <p:spPr>
          <a:xfrm xmlns:a="http://schemas.openxmlformats.org/drawingml/2006/main">
            <a:off x="6553200" y="1790700"/>
            <a:ext cx="4953000" cy="3048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AFA170E-2F9F-4459-94BB-0368DECEF521}"/>
              </a:ext>
            </a:extLst>
          </p:cNvPr>
          <p:cNvSpPr>
            <a:spLocks xmlns:a="http://schemas.openxmlformats.org/drawingml/2006/main" noGrp="1"/>
          </p:cNvSpPr>
          <p:nvPr/>
        </p:nvSpPr>
        <p:spPr>
          <a:xfrm xmlns:a="http://schemas.openxmlformats.org/drawingml/2006/main">
            <a:off x="6686550" y="1838325"/>
            <a:ext cx="4686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MCP toolbelt used by agents</a:t>
            </a:r>
          </a:p>
        </p:txBody>
      </p:sp>
      <p:sp>
        <p:nvSpPr>
          <p:cNvPr id="14" name="">
            <a:extLst xmlns:a="http://schemas.openxmlformats.org/drawingml/2006/main">
              <a:ext uri="{FF2B5EF4-FFF2-40B4-BE49-F238E27FC236}">
                <a16:creationId xmlns:a16="http://schemas.microsoft.com/office/drawing/2014/main" id="{5DFBA693-0DBB-419E-AF33-47F8A0921EDA}"/>
              </a:ext>
            </a:extLst>
          </p:cNvPr>
          <p:cNvSpPr>
            <a:spLocks xmlns:a="http://schemas.openxmlformats.org/drawingml/2006/main" noGrp="1"/>
          </p:cNvSpPr>
          <p:nvPr/>
        </p:nvSpPr>
        <p:spPr>
          <a:xfrm xmlns:a="http://schemas.openxmlformats.org/drawingml/2006/main">
            <a:off x="6705600" y="2228850"/>
            <a:ext cx="4648200" cy="2781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Sequential Thinking: step planning</a:t>
            </a:r>
          </a:p>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Kernel Index: symbol and code search</a:t>
            </a:r>
          </a:p>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Build: compile and sign kernel image</a:t>
            </a:r>
          </a:p>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Flash: stock/feature device flashing</a:t>
            </a:r>
          </a:p>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Auto-Test: async instruction-count tests</a:t>
            </a:r>
          </a:p>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Git: inspect diffs and exported patches</a:t>
            </a:r>
          </a:p>
        </p:txBody>
      </p:sp>
      <p:sp>
        <p:nvSpPr>
          <p:cNvPr id="15" name="">
            <a:extLst xmlns:a="http://schemas.openxmlformats.org/drawingml/2006/main">
              <a:ext uri="{FF2B5EF4-FFF2-40B4-BE49-F238E27FC236}">
                <a16:creationId xmlns:a16="http://schemas.microsoft.com/office/drawing/2014/main" id="{42455647-2FC3-4806-A3F3-6319BE96874B}"/>
              </a:ext>
            </a:extLst>
          </p:cNvPr>
          <p:cNvSpPr>
            <a:spLocks xmlns:a="http://schemas.openxmlformats.org/drawingml/2006/main" noGrp="1"/>
          </p:cNvSpPr>
          <p:nvPr/>
        </p:nvSpPr>
        <p:spPr>
          <a:xfrm xmlns:a="http://schemas.openxmlformats.org/drawingml/2006/main">
            <a:off x="876300" y="5715000"/>
            <a:ext cx="9906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7202A"/>
                </a:solidFill>
                <a:latin typeface="Aptos"/>
                <a:ea typeface="Aptos"/>
                <a:cs typeface="Aptos"/>
              </a:defRPr>
            </a:pPr>
            <a:r>
              <a:rPr sz="1500" b="1">
                <a:solidFill>
                  <a:srgbClr val="17202A"/>
                </a:solidFill>
                <a:latin typeface="Aptos"/>
                <a:ea typeface="Aptos"/>
                <a:cs typeface="Aptos"/>
              </a:rPr>
              <a:t>Implementation split: prompts define role behavior, skills define reusable policy, MCP servers provide side effects.</a:t>
            </a:r>
          </a:p>
        </p:txBody>
      </p:sp>
      <p:sp>
        <p:nvSpPr>
          <p:cNvPr id="16" name="">
            <a:extLst xmlns:a="http://schemas.openxmlformats.org/drawingml/2006/main">
              <a:ext uri="{FF2B5EF4-FFF2-40B4-BE49-F238E27FC236}">
                <a16:creationId xmlns:a16="http://schemas.microsoft.com/office/drawing/2014/main" id="{C9CF578F-D540-491C-ADD3-8CF9713682F6}"/>
              </a:ext>
            </a:extLst>
          </p:cNvPr>
          <p:cNvSpPr>
            <a:spLocks xmlns:a="http://schemas.openxmlformats.org/drawingml/2006/main" noGrp="1"/>
          </p:cNvSpPr>
          <p:nvPr/>
        </p:nvSpPr>
        <p:spPr>
          <a:xfrm xmlns:a="http://schemas.openxmlformats.org/drawingml/2006/main">
            <a:off x="495300" y="6705600"/>
            <a:ext cx="457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 multi-agent harness</a:t>
            </a:r>
          </a:p>
        </p:txBody>
      </p:sp>
      <p:sp>
        <p:nvSpPr>
          <p:cNvPr id="17" name="">
            <a:extLst xmlns:a="http://schemas.openxmlformats.org/drawingml/2006/main">
              <a:ext uri="{FF2B5EF4-FFF2-40B4-BE49-F238E27FC236}">
                <a16:creationId xmlns:a16="http://schemas.microsoft.com/office/drawing/2014/main" id="{01354EA7-F0B1-4BF0-85B2-072E4A090413}"/>
              </a:ext>
            </a:extLst>
          </p:cNvPr>
          <p:cNvSpPr>
            <a:spLocks xmlns:a="http://schemas.openxmlformats.org/drawingml/2006/main" noGrp="1"/>
          </p:cNvSpPr>
          <p:nvPr/>
        </p:nvSpPr>
        <p:spPr>
          <a:xfrm xmlns:a="http://schemas.openxmlformats.org/drawingml/2006/main">
            <a:off x="10706100" y="6705600"/>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8707E"/>
                </a:solidFill>
                <a:latin typeface="Aptos"/>
                <a:ea typeface="Aptos"/>
                <a:cs typeface="Aptos"/>
              </a:defRPr>
            </a:pPr>
            <a:r>
              <a:rPr sz="713" b="0">
                <a:solidFill>
                  <a:srgbClr val="68707E"/>
                </a:solidFill>
                <a:latin typeface="Aptos"/>
                <a:ea typeface="Aptos"/>
                <a:cs typeface="Aptos"/>
              </a:rPr>
              <a:t>10 / 14</a:t>
            </a:r>
          </a:p>
        </p:txBody>
      </p:sp>
    </p:spTree>
    <p:extLst>
      <p:ext uri="{BB962C8B-B14F-4D97-AF65-F5344CB8AC3E}">
        <p14:creationId xmlns:p14="http://schemas.microsoft.com/office/powerpoint/2010/main" val="136657739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6B81C937-834F-40E7-AA32-4BE673B20A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4EDE0997-E79A-4C17-8E94-D4B4AB127638}"/>
              </a:ext>
            </a:extLst>
          </p:cNvPr>
          <p:cNvSpPr>
            <a:spLocks xmlns:a="http://schemas.openxmlformats.org/drawingml/2006/main" noGrp="1"/>
          </p:cNvSpPr>
          <p:nvPr/>
        </p:nvSpPr>
        <p:spPr>
          <a:xfrm xmlns:a="http://schemas.openxmlformats.org/drawingml/2006/main">
            <a:off x="495300" y="419100"/>
            <a:ext cx="304800" cy="381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BFC39804-B220-4E9E-999A-132BD066B1D9}"/>
              </a:ext>
            </a:extLst>
          </p:cNvPr>
          <p:cNvSpPr>
            <a:spLocks xmlns:a="http://schemas.openxmlformats.org/drawingml/2006/main" noGrp="1"/>
          </p:cNvSpPr>
          <p:nvPr/>
        </p:nvSpPr>
        <p:spPr>
          <a:xfrm xmlns:a="http://schemas.openxmlformats.org/drawingml/2006/main">
            <a:off x="895350" y="285750"/>
            <a:ext cx="495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E7C7B"/>
                </a:solidFill>
                <a:latin typeface="Aptos"/>
                <a:ea typeface="Aptos"/>
                <a:cs typeface="Aptos"/>
              </a:defRPr>
            </a:pPr>
            <a:r>
              <a:rPr sz="975" b="1">
                <a:solidFill>
                  <a:srgbClr val="0E7C7B"/>
                </a:solidFill>
                <a:latin typeface="Aptos"/>
                <a:ea typeface="Aptos"/>
                <a:cs typeface="Aptos"/>
              </a:rPr>
              <a:t>RUN MEMORY</a:t>
            </a:r>
          </a:p>
        </p:txBody>
      </p:sp>
      <p:sp>
        <p:nvSpPr>
          <p:cNvPr id="4" name="">
            <a:extLst xmlns:a="http://schemas.openxmlformats.org/drawingml/2006/main">
              <a:ext uri="{FF2B5EF4-FFF2-40B4-BE49-F238E27FC236}">
                <a16:creationId xmlns:a16="http://schemas.microsoft.com/office/drawing/2014/main" id="{F55C68DE-5534-4074-9331-3C253ABB96E9}"/>
              </a:ext>
            </a:extLst>
          </p:cNvPr>
          <p:cNvSpPr>
            <a:spLocks xmlns:a="http://schemas.openxmlformats.org/drawingml/2006/main" noGrp="1"/>
          </p:cNvSpPr>
          <p:nvPr/>
        </p:nvSpPr>
        <p:spPr>
          <a:xfrm xmlns:a="http://schemas.openxmlformats.org/drawingml/2006/main">
            <a:off x="495300" y="666750"/>
            <a:ext cx="8382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Artifacts and memory make every run inspectable and reusable.</a:t>
            </a:r>
          </a:p>
        </p:txBody>
      </p:sp>
      <p:sp>
        <p:nvSpPr>
          <p:cNvPr id="5" name="">
            <a:extLst xmlns:a="http://schemas.openxmlformats.org/drawingml/2006/main">
              <a:ext uri="{FF2B5EF4-FFF2-40B4-BE49-F238E27FC236}">
                <a16:creationId xmlns:a16="http://schemas.microsoft.com/office/drawing/2014/main" id="{328B1A9F-53C8-41CD-A9DA-59F7DA3B3DDC}"/>
              </a:ext>
            </a:extLst>
          </p:cNvPr>
          <p:cNvSpPr>
            <a:spLocks xmlns:a="http://schemas.openxmlformats.org/drawingml/2006/main" noGrp="1"/>
          </p:cNvSpPr>
          <p:nvPr/>
        </p:nvSpPr>
        <p:spPr>
          <a:xfrm xmlns:a="http://schemas.openxmlformats.org/drawingml/2006/main">
            <a:off x="495300" y="1447800"/>
            <a:ext cx="11201400" cy="14288"/>
          </a:xfrm>
          <a:prstGeom xmlns:a="http://schemas.openxmlformats.org/drawingml/2006/main" prst="rect">
            <a:avLst/>
          </a:prstGeom>
          <a:solidFill xmlns:a="http://schemas.openxmlformats.org/drawingml/2006/main">
            <a:srgbClr val="C9C2B4"/>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C6F8DF5-4212-4B73-9F6C-0F75FB1A091D}"/>
              </a:ext>
            </a:extLst>
          </p:cNvPr>
          <p:cNvSpPr>
            <a:spLocks xmlns:a="http://schemas.openxmlformats.org/drawingml/2006/main" noGrp="1"/>
          </p:cNvSpPr>
          <p:nvPr/>
        </p:nvSpPr>
        <p:spPr>
          <a:xfrm xmlns:a="http://schemas.openxmlformats.org/drawingml/2006/main">
            <a:off x="495300" y="6496050"/>
            <a:ext cx="800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.opencode/docs/memory_system.md; .opencode/skills/handoff-contract.md</a:t>
            </a:r>
          </a:p>
        </p:txBody>
      </p:sp>
      <p:sp>
        <p:nvSpPr>
          <p:cNvPr id="7" name="">
            <a:extLst xmlns:a="http://schemas.openxmlformats.org/drawingml/2006/main">
              <a:ext uri="{FF2B5EF4-FFF2-40B4-BE49-F238E27FC236}">
                <a16:creationId xmlns:a16="http://schemas.microsoft.com/office/drawing/2014/main" id="{E6A1810F-F1EE-401E-9C23-F24F0FD9DF31}"/>
              </a:ext>
            </a:extLst>
          </p:cNvPr>
          <p:cNvSpPr>
            <a:spLocks xmlns:a="http://schemas.openxmlformats.org/drawingml/2006/main" noGrp="1"/>
          </p:cNvSpPr>
          <p:nvPr/>
        </p:nvSpPr>
        <p:spPr>
          <a:xfrm xmlns:a="http://schemas.openxmlformats.org/drawingml/2006/main">
            <a:off x="742950" y="1790700"/>
            <a:ext cx="4514850" cy="400050"/>
          </a:xfrm>
          <a:prstGeom xmlns:a="http://schemas.openxmlformats.org/drawingml/2006/main" prst="rect">
            <a:avLst/>
          </a:prstGeom>
          <a:solidFill xmlns:a="http://schemas.openxmlformats.org/drawingml/2006/main">
            <a:srgbClr val="ECE7DC"/>
          </a:solidFill>
          <a:ln xmlns:a="http://schemas.openxmlformats.org/drawingml/2006/main" w="7620">
            <a:solidFill>
              <a:srgbClr val="C9C2B4"/>
            </a:solidFill>
            <a:prstDash val="solid"/>
          </a:ln>
        </p:spPr>
      </p:sp>
      <p:sp>
        <p:nvSpPr>
          <p:cNvPr id="8" name="">
            <a:extLst xmlns:a="http://schemas.openxmlformats.org/drawingml/2006/main">
              <a:ext uri="{FF2B5EF4-FFF2-40B4-BE49-F238E27FC236}">
                <a16:creationId xmlns:a16="http://schemas.microsoft.com/office/drawing/2014/main" id="{F48F5A8B-DB63-4056-9329-C5A566A24BAD}"/>
              </a:ext>
            </a:extLst>
          </p:cNvPr>
          <p:cNvSpPr>
            <a:spLocks xmlns:a="http://schemas.openxmlformats.org/drawingml/2006/main" noGrp="1"/>
          </p:cNvSpPr>
          <p:nvPr/>
        </p:nvSpPr>
        <p:spPr>
          <a:xfrm xmlns:a="http://schemas.openxmlformats.org/drawingml/2006/main">
            <a:off x="742950" y="1790700"/>
            <a:ext cx="76200" cy="40005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20765A3-84DA-4600-932E-38F5AC6CE5FB}"/>
              </a:ext>
            </a:extLst>
          </p:cNvPr>
          <p:cNvSpPr>
            <a:spLocks xmlns:a="http://schemas.openxmlformats.org/drawingml/2006/main" noGrp="1"/>
          </p:cNvSpPr>
          <p:nvPr/>
        </p:nvSpPr>
        <p:spPr>
          <a:xfrm xmlns:a="http://schemas.openxmlformats.org/drawingml/2006/main">
            <a:off x="990600" y="188595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Mono"/>
                <a:ea typeface="Aptos Mono"/>
                <a:cs typeface="Aptos Mono"/>
              </a:defRPr>
            </a:pPr>
            <a:r>
              <a:rPr sz="1125" b="1">
                <a:solidFill>
                  <a:srgbClr val="17202A"/>
                </a:solidFill>
                <a:latin typeface="Aptos Mono"/>
                <a:ea typeface="Aptos Mono"/>
                <a:cs typeface="Aptos Mono"/>
              </a:rPr>
              <a:t>.opencode/docs/</a:t>
            </a:r>
          </a:p>
        </p:txBody>
      </p:sp>
      <p:sp>
        <p:nvSpPr>
          <p:cNvPr id="10" name="">
            <a:extLst xmlns:a="http://schemas.openxmlformats.org/drawingml/2006/main">
              <a:ext uri="{FF2B5EF4-FFF2-40B4-BE49-F238E27FC236}">
                <a16:creationId xmlns:a16="http://schemas.microsoft.com/office/drawing/2014/main" id="{EF68C6A8-3AD7-44A6-A2B0-F61492356C73}"/>
              </a:ext>
            </a:extLst>
          </p:cNvPr>
          <p:cNvSpPr>
            <a:spLocks xmlns:a="http://schemas.openxmlformats.org/drawingml/2006/main" noGrp="1"/>
          </p:cNvSpPr>
          <p:nvPr/>
        </p:nvSpPr>
        <p:spPr>
          <a:xfrm xmlns:a="http://schemas.openxmlformats.org/drawingml/2006/main">
            <a:off x="2895600" y="188595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8707E"/>
                </a:solidFill>
                <a:latin typeface="Aptos"/>
                <a:ea typeface="Aptos"/>
                <a:cs typeface="Aptos"/>
              </a:defRPr>
            </a:pPr>
            <a:r>
              <a:rPr sz="1050" b="0">
                <a:solidFill>
                  <a:srgbClr val="68707E"/>
                </a:solidFill>
                <a:latin typeface="Aptos"/>
                <a:ea typeface="Aptos"/>
                <a:cs typeface="Aptos"/>
              </a:rPr>
              <a:t>design docs and bootstrap notes</a:t>
            </a:r>
          </a:p>
        </p:txBody>
      </p:sp>
      <p:sp>
        <p:nvSpPr>
          <p:cNvPr id="11" name="">
            <a:extLst xmlns:a="http://schemas.openxmlformats.org/drawingml/2006/main">
              <a:ext uri="{FF2B5EF4-FFF2-40B4-BE49-F238E27FC236}">
                <a16:creationId xmlns:a16="http://schemas.microsoft.com/office/drawing/2014/main" id="{DB7C7BE3-6FB9-4A2C-A853-85DDA7EC180F}"/>
              </a:ext>
            </a:extLst>
          </p:cNvPr>
          <p:cNvSpPr>
            <a:spLocks xmlns:a="http://schemas.openxmlformats.org/drawingml/2006/main" noGrp="1"/>
          </p:cNvSpPr>
          <p:nvPr/>
        </p:nvSpPr>
        <p:spPr>
          <a:xfrm xmlns:a="http://schemas.openxmlformats.org/drawingml/2006/main">
            <a:off x="742950" y="2324100"/>
            <a:ext cx="45148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C9C2B4"/>
            </a:solidFill>
            <a:prstDash val="solid"/>
          </a:ln>
        </p:spPr>
      </p:sp>
      <p:sp>
        <p:nvSpPr>
          <p:cNvPr id="12" name="">
            <a:extLst xmlns:a="http://schemas.openxmlformats.org/drawingml/2006/main">
              <a:ext uri="{FF2B5EF4-FFF2-40B4-BE49-F238E27FC236}">
                <a16:creationId xmlns:a16="http://schemas.microsoft.com/office/drawing/2014/main" id="{666EEA44-1F5E-427B-AAC2-B0FEF219C03F}"/>
              </a:ext>
            </a:extLst>
          </p:cNvPr>
          <p:cNvSpPr>
            <a:spLocks xmlns:a="http://schemas.openxmlformats.org/drawingml/2006/main" noGrp="1"/>
          </p:cNvSpPr>
          <p:nvPr/>
        </p:nvSpPr>
        <p:spPr>
          <a:xfrm xmlns:a="http://schemas.openxmlformats.org/drawingml/2006/main">
            <a:off x="742950" y="2324100"/>
            <a:ext cx="76200" cy="400050"/>
          </a:xfrm>
          <a:prstGeom xmlns:a="http://schemas.openxmlformats.org/drawingml/2006/main" prst="rect">
            <a:avLst/>
          </a:prstGeom>
          <a:solidFill xmlns:a="http://schemas.openxmlformats.org/drawingml/2006/main">
            <a:srgbClr val="3B4AA4"/>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553F8B0C-8ECC-4010-BAA7-EE048B56F819}"/>
              </a:ext>
            </a:extLst>
          </p:cNvPr>
          <p:cNvSpPr>
            <a:spLocks xmlns:a="http://schemas.openxmlformats.org/drawingml/2006/main" noGrp="1"/>
          </p:cNvSpPr>
          <p:nvPr/>
        </p:nvSpPr>
        <p:spPr>
          <a:xfrm xmlns:a="http://schemas.openxmlformats.org/drawingml/2006/main">
            <a:off x="990600" y="241935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Mono"/>
                <a:ea typeface="Aptos Mono"/>
                <a:cs typeface="Aptos Mono"/>
              </a:defRPr>
            </a:pPr>
            <a:r>
              <a:rPr sz="1125" b="1">
                <a:solidFill>
                  <a:srgbClr val="17202A"/>
                </a:solidFill>
                <a:latin typeface="Aptos Mono"/>
                <a:ea typeface="Aptos Mono"/>
                <a:cs typeface="Aptos Mono"/>
              </a:rPr>
              <a:t>.opencode/plans/</a:t>
            </a:r>
          </a:p>
        </p:txBody>
      </p:sp>
      <p:sp>
        <p:nvSpPr>
          <p:cNvPr id="14" name="">
            <a:extLst xmlns:a="http://schemas.openxmlformats.org/drawingml/2006/main">
              <a:ext uri="{FF2B5EF4-FFF2-40B4-BE49-F238E27FC236}">
                <a16:creationId xmlns:a16="http://schemas.microsoft.com/office/drawing/2014/main" id="{8BFAB4CE-886E-4E04-BA74-3CE13E9DEA77}"/>
              </a:ext>
            </a:extLst>
          </p:cNvPr>
          <p:cNvSpPr>
            <a:spLocks xmlns:a="http://schemas.openxmlformats.org/drawingml/2006/main" noGrp="1"/>
          </p:cNvSpPr>
          <p:nvPr/>
        </p:nvSpPr>
        <p:spPr>
          <a:xfrm xmlns:a="http://schemas.openxmlformats.org/drawingml/2006/main">
            <a:off x="2895600" y="241935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8707E"/>
                </a:solidFill>
                <a:latin typeface="Aptos"/>
                <a:ea typeface="Aptos"/>
                <a:cs typeface="Aptos"/>
              </a:defRPr>
            </a:pPr>
            <a:r>
              <a:rPr sz="1050" b="0">
                <a:solidFill>
                  <a:srgbClr val="68707E"/>
                </a:solidFill>
                <a:latin typeface="Aptos"/>
                <a:ea typeface="Aptos"/>
                <a:cs typeface="Aptos"/>
              </a:rPr>
              <a:t>approved implementation plans</a:t>
            </a:r>
          </a:p>
        </p:txBody>
      </p:sp>
      <p:sp>
        <p:nvSpPr>
          <p:cNvPr id="15" name="">
            <a:extLst xmlns:a="http://schemas.openxmlformats.org/drawingml/2006/main">
              <a:ext uri="{FF2B5EF4-FFF2-40B4-BE49-F238E27FC236}">
                <a16:creationId xmlns:a16="http://schemas.microsoft.com/office/drawing/2014/main" id="{F2BA42B3-605E-4FBD-853C-6F292F310CD9}"/>
              </a:ext>
            </a:extLst>
          </p:cNvPr>
          <p:cNvSpPr>
            <a:spLocks xmlns:a="http://schemas.openxmlformats.org/drawingml/2006/main" noGrp="1"/>
          </p:cNvSpPr>
          <p:nvPr/>
        </p:nvSpPr>
        <p:spPr>
          <a:xfrm xmlns:a="http://schemas.openxmlformats.org/drawingml/2006/main">
            <a:off x="742950" y="2857500"/>
            <a:ext cx="4514850" cy="400050"/>
          </a:xfrm>
          <a:prstGeom xmlns:a="http://schemas.openxmlformats.org/drawingml/2006/main" prst="rect">
            <a:avLst/>
          </a:prstGeom>
          <a:solidFill xmlns:a="http://schemas.openxmlformats.org/drawingml/2006/main">
            <a:srgbClr val="ECE7DC"/>
          </a:solidFill>
          <a:ln xmlns:a="http://schemas.openxmlformats.org/drawingml/2006/main" w="7620">
            <a:solidFill>
              <a:srgbClr val="C9C2B4"/>
            </a:solidFill>
            <a:prstDash val="solid"/>
          </a:ln>
        </p:spPr>
      </p:sp>
      <p:sp>
        <p:nvSpPr>
          <p:cNvPr id="16" name="">
            <a:extLst xmlns:a="http://schemas.openxmlformats.org/drawingml/2006/main">
              <a:ext uri="{FF2B5EF4-FFF2-40B4-BE49-F238E27FC236}">
                <a16:creationId xmlns:a16="http://schemas.microsoft.com/office/drawing/2014/main" id="{C730757C-14FC-4363-BF1C-88A2DB93AF24}"/>
              </a:ext>
            </a:extLst>
          </p:cNvPr>
          <p:cNvSpPr>
            <a:spLocks xmlns:a="http://schemas.openxmlformats.org/drawingml/2006/main" noGrp="1"/>
          </p:cNvSpPr>
          <p:nvPr/>
        </p:nvSpPr>
        <p:spPr>
          <a:xfrm xmlns:a="http://schemas.openxmlformats.org/drawingml/2006/main">
            <a:off x="742950" y="2857500"/>
            <a:ext cx="76200" cy="400050"/>
          </a:xfrm>
          <a:prstGeom xmlns:a="http://schemas.openxmlformats.org/drawingml/2006/main" prst="rect">
            <a:avLst/>
          </a:prstGeom>
          <a:solidFill xmlns:a="http://schemas.openxmlformats.org/drawingml/2006/main">
            <a:srgbClr val="D98B21"/>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6AA95EAE-329E-4BC7-BBF3-B524F0545AF7}"/>
              </a:ext>
            </a:extLst>
          </p:cNvPr>
          <p:cNvSpPr>
            <a:spLocks xmlns:a="http://schemas.openxmlformats.org/drawingml/2006/main" noGrp="1"/>
          </p:cNvSpPr>
          <p:nvPr/>
        </p:nvSpPr>
        <p:spPr>
          <a:xfrm xmlns:a="http://schemas.openxmlformats.org/drawingml/2006/main">
            <a:off x="990600" y="295275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Mono"/>
                <a:ea typeface="Aptos Mono"/>
                <a:cs typeface="Aptos Mono"/>
              </a:defRPr>
            </a:pPr>
            <a:r>
              <a:rPr sz="1125" b="1">
                <a:solidFill>
                  <a:srgbClr val="17202A"/>
                </a:solidFill>
                <a:latin typeface="Aptos Mono"/>
                <a:ea typeface="Aptos Mono"/>
                <a:cs typeface="Aptos Mono"/>
              </a:rPr>
              <a:t>.opencode/reviews/</a:t>
            </a:r>
          </a:p>
        </p:txBody>
      </p:sp>
      <p:sp>
        <p:nvSpPr>
          <p:cNvPr id="18" name="">
            <a:extLst xmlns:a="http://schemas.openxmlformats.org/drawingml/2006/main">
              <a:ext uri="{FF2B5EF4-FFF2-40B4-BE49-F238E27FC236}">
                <a16:creationId xmlns:a16="http://schemas.microsoft.com/office/drawing/2014/main" id="{F84B9EAD-8C55-40CE-A2DA-3CB77F1B6630}"/>
              </a:ext>
            </a:extLst>
          </p:cNvPr>
          <p:cNvSpPr>
            <a:spLocks xmlns:a="http://schemas.openxmlformats.org/drawingml/2006/main" noGrp="1"/>
          </p:cNvSpPr>
          <p:nvPr/>
        </p:nvSpPr>
        <p:spPr>
          <a:xfrm xmlns:a="http://schemas.openxmlformats.org/drawingml/2006/main">
            <a:off x="2895600" y="295275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8707E"/>
                </a:solidFill>
                <a:latin typeface="Aptos"/>
                <a:ea typeface="Aptos"/>
                <a:cs typeface="Aptos"/>
              </a:defRPr>
            </a:pPr>
            <a:r>
              <a:rPr sz="1050" b="0">
                <a:solidFill>
                  <a:srgbClr val="68707E"/>
                </a:solidFill>
                <a:latin typeface="Aptos"/>
                <a:ea typeface="Aptos"/>
                <a:cs typeface="Aptos"/>
              </a:rPr>
              <a:t>plan and code review outputs</a:t>
            </a:r>
          </a:p>
        </p:txBody>
      </p:sp>
      <p:sp>
        <p:nvSpPr>
          <p:cNvPr id="19" name="">
            <a:extLst xmlns:a="http://schemas.openxmlformats.org/drawingml/2006/main">
              <a:ext uri="{FF2B5EF4-FFF2-40B4-BE49-F238E27FC236}">
                <a16:creationId xmlns:a16="http://schemas.microsoft.com/office/drawing/2014/main" id="{272833B7-AB30-4C50-819D-8A4367274448}"/>
              </a:ext>
            </a:extLst>
          </p:cNvPr>
          <p:cNvSpPr>
            <a:spLocks xmlns:a="http://schemas.openxmlformats.org/drawingml/2006/main" noGrp="1"/>
          </p:cNvSpPr>
          <p:nvPr/>
        </p:nvSpPr>
        <p:spPr>
          <a:xfrm xmlns:a="http://schemas.openxmlformats.org/drawingml/2006/main">
            <a:off x="742950" y="3390900"/>
            <a:ext cx="45148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C9C2B4"/>
            </a:solidFill>
            <a:prstDash val="solid"/>
          </a:ln>
        </p:spPr>
      </p:sp>
      <p:sp>
        <p:nvSpPr>
          <p:cNvPr id="20" name="">
            <a:extLst xmlns:a="http://schemas.openxmlformats.org/drawingml/2006/main">
              <a:ext uri="{FF2B5EF4-FFF2-40B4-BE49-F238E27FC236}">
                <a16:creationId xmlns:a16="http://schemas.microsoft.com/office/drawing/2014/main" id="{480C6094-6436-4FD2-ABAE-98DCDE077B01}"/>
              </a:ext>
            </a:extLst>
          </p:cNvPr>
          <p:cNvSpPr>
            <a:spLocks xmlns:a="http://schemas.openxmlformats.org/drawingml/2006/main" noGrp="1"/>
          </p:cNvSpPr>
          <p:nvPr/>
        </p:nvSpPr>
        <p:spPr>
          <a:xfrm xmlns:a="http://schemas.openxmlformats.org/drawingml/2006/main">
            <a:off x="742950" y="3390900"/>
            <a:ext cx="76200" cy="400050"/>
          </a:xfrm>
          <a:prstGeom xmlns:a="http://schemas.openxmlformats.org/drawingml/2006/main" prst="rect">
            <a:avLst/>
          </a:prstGeom>
          <a:solidFill xmlns:a="http://schemas.openxmlformats.org/drawingml/2006/main">
            <a:srgbClr val="5E7E35"/>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877A3A42-4E2A-417D-AC2D-C7D9731F1EEC}"/>
              </a:ext>
            </a:extLst>
          </p:cNvPr>
          <p:cNvSpPr>
            <a:spLocks xmlns:a="http://schemas.openxmlformats.org/drawingml/2006/main" noGrp="1"/>
          </p:cNvSpPr>
          <p:nvPr/>
        </p:nvSpPr>
        <p:spPr>
          <a:xfrm xmlns:a="http://schemas.openxmlformats.org/drawingml/2006/main">
            <a:off x="990600" y="348615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Mono"/>
                <a:ea typeface="Aptos Mono"/>
                <a:cs typeface="Aptos Mono"/>
              </a:defRPr>
            </a:pPr>
            <a:r>
              <a:rPr sz="1125" b="1">
                <a:solidFill>
                  <a:srgbClr val="17202A"/>
                </a:solidFill>
                <a:latin typeface="Aptos Mono"/>
                <a:ea typeface="Aptos Mono"/>
                <a:cs typeface="Aptos Mono"/>
              </a:rPr>
              <a:t>.opencode/patches/</a:t>
            </a:r>
          </a:p>
        </p:txBody>
      </p:sp>
      <p:sp>
        <p:nvSpPr>
          <p:cNvPr id="22" name="">
            <a:extLst xmlns:a="http://schemas.openxmlformats.org/drawingml/2006/main">
              <a:ext uri="{FF2B5EF4-FFF2-40B4-BE49-F238E27FC236}">
                <a16:creationId xmlns:a16="http://schemas.microsoft.com/office/drawing/2014/main" id="{9805B7BE-404D-495D-BBF5-4C6202935430}"/>
              </a:ext>
            </a:extLst>
          </p:cNvPr>
          <p:cNvSpPr>
            <a:spLocks xmlns:a="http://schemas.openxmlformats.org/drawingml/2006/main" noGrp="1"/>
          </p:cNvSpPr>
          <p:nvPr/>
        </p:nvSpPr>
        <p:spPr>
          <a:xfrm xmlns:a="http://schemas.openxmlformats.org/drawingml/2006/main">
            <a:off x="2895600" y="348615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8707E"/>
                </a:solidFill>
                <a:latin typeface="Aptos"/>
                <a:ea typeface="Aptos"/>
                <a:cs typeface="Aptos"/>
              </a:defRPr>
            </a:pPr>
            <a:r>
              <a:rPr sz="1050" b="0">
                <a:solidFill>
                  <a:srgbClr val="68707E"/>
                </a:solidFill>
                <a:latin typeface="Aptos"/>
                <a:ea typeface="Aptos"/>
                <a:cs typeface="Aptos"/>
              </a:rPr>
              <a:t>exported patch payloads</a:t>
            </a:r>
          </a:p>
        </p:txBody>
      </p:sp>
      <p:sp>
        <p:nvSpPr>
          <p:cNvPr id="23" name="">
            <a:extLst xmlns:a="http://schemas.openxmlformats.org/drawingml/2006/main">
              <a:ext uri="{FF2B5EF4-FFF2-40B4-BE49-F238E27FC236}">
                <a16:creationId xmlns:a16="http://schemas.microsoft.com/office/drawing/2014/main" id="{9DC7CA9A-B19C-4260-91D5-B4BB9F97AF88}"/>
              </a:ext>
            </a:extLst>
          </p:cNvPr>
          <p:cNvSpPr>
            <a:spLocks xmlns:a="http://schemas.openxmlformats.org/drawingml/2006/main" noGrp="1"/>
          </p:cNvSpPr>
          <p:nvPr/>
        </p:nvSpPr>
        <p:spPr>
          <a:xfrm xmlns:a="http://schemas.openxmlformats.org/drawingml/2006/main">
            <a:off x="742950" y="3924300"/>
            <a:ext cx="4514850" cy="400050"/>
          </a:xfrm>
          <a:prstGeom xmlns:a="http://schemas.openxmlformats.org/drawingml/2006/main" prst="rect">
            <a:avLst/>
          </a:prstGeom>
          <a:solidFill xmlns:a="http://schemas.openxmlformats.org/drawingml/2006/main">
            <a:srgbClr val="ECE7DC"/>
          </a:solidFill>
          <a:ln xmlns:a="http://schemas.openxmlformats.org/drawingml/2006/main" w="7620">
            <a:solidFill>
              <a:srgbClr val="C9C2B4"/>
            </a:solidFill>
            <a:prstDash val="solid"/>
          </a:ln>
        </p:spPr>
      </p:sp>
      <p:sp>
        <p:nvSpPr>
          <p:cNvPr id="24" name="">
            <a:extLst xmlns:a="http://schemas.openxmlformats.org/drawingml/2006/main">
              <a:ext uri="{FF2B5EF4-FFF2-40B4-BE49-F238E27FC236}">
                <a16:creationId xmlns:a16="http://schemas.microsoft.com/office/drawing/2014/main" id="{D3E6724D-2253-4BB9-B1BB-AAFD9D5355D1}"/>
              </a:ext>
            </a:extLst>
          </p:cNvPr>
          <p:cNvSpPr>
            <a:spLocks xmlns:a="http://schemas.openxmlformats.org/drawingml/2006/main" noGrp="1"/>
          </p:cNvSpPr>
          <p:nvPr/>
        </p:nvSpPr>
        <p:spPr>
          <a:xfrm xmlns:a="http://schemas.openxmlformats.org/drawingml/2006/main">
            <a:off x="742950" y="3924300"/>
            <a:ext cx="76200" cy="400050"/>
          </a:xfrm>
          <a:prstGeom xmlns:a="http://schemas.openxmlformats.org/drawingml/2006/main" prst="rect">
            <a:avLst/>
          </a:prstGeom>
          <a:solidFill xmlns:a="http://schemas.openxmlformats.org/drawingml/2006/main">
            <a:srgbClr val="C84D3A"/>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D20E170D-6F58-40E0-9489-BA7BFC45DFCB}"/>
              </a:ext>
            </a:extLst>
          </p:cNvPr>
          <p:cNvSpPr>
            <a:spLocks xmlns:a="http://schemas.openxmlformats.org/drawingml/2006/main" noGrp="1"/>
          </p:cNvSpPr>
          <p:nvPr/>
        </p:nvSpPr>
        <p:spPr>
          <a:xfrm xmlns:a="http://schemas.openxmlformats.org/drawingml/2006/main">
            <a:off x="990600" y="401955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Mono"/>
                <a:ea typeface="Aptos Mono"/>
                <a:cs typeface="Aptos Mono"/>
              </a:defRPr>
            </a:pPr>
            <a:r>
              <a:rPr sz="1125" b="1">
                <a:solidFill>
                  <a:srgbClr val="17202A"/>
                </a:solidFill>
                <a:latin typeface="Aptos Mono"/>
                <a:ea typeface="Aptos Mono"/>
                <a:cs typeface="Aptos Mono"/>
              </a:rPr>
              <a:t>.opencode/bench/</a:t>
            </a:r>
          </a:p>
        </p:txBody>
      </p:sp>
      <p:sp>
        <p:nvSpPr>
          <p:cNvPr id="26" name="">
            <a:extLst xmlns:a="http://schemas.openxmlformats.org/drawingml/2006/main">
              <a:ext uri="{FF2B5EF4-FFF2-40B4-BE49-F238E27FC236}">
                <a16:creationId xmlns:a16="http://schemas.microsoft.com/office/drawing/2014/main" id="{C060019A-CCD9-4C6B-A5AC-771E0007C898}"/>
              </a:ext>
            </a:extLst>
          </p:cNvPr>
          <p:cNvSpPr>
            <a:spLocks xmlns:a="http://schemas.openxmlformats.org/drawingml/2006/main" noGrp="1"/>
          </p:cNvSpPr>
          <p:nvPr/>
        </p:nvSpPr>
        <p:spPr>
          <a:xfrm xmlns:a="http://schemas.openxmlformats.org/drawingml/2006/main">
            <a:off x="2895600" y="401955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8707E"/>
                </a:solidFill>
                <a:latin typeface="Aptos"/>
                <a:ea typeface="Aptos"/>
                <a:cs typeface="Aptos"/>
              </a:defRPr>
            </a:pPr>
            <a:r>
              <a:rPr sz="1050" b="0">
                <a:solidFill>
                  <a:srgbClr val="68707E"/>
                </a:solidFill>
                <a:latin typeface="Aptos"/>
                <a:ea typeface="Aptos"/>
                <a:cs typeface="Aptos"/>
              </a:rPr>
              <a:t>after-patch notes and validation reports</a:t>
            </a:r>
          </a:p>
        </p:txBody>
      </p:sp>
      <p:sp>
        <p:nvSpPr>
          <p:cNvPr id="27" name="">
            <a:extLst xmlns:a="http://schemas.openxmlformats.org/drawingml/2006/main">
              <a:ext uri="{FF2B5EF4-FFF2-40B4-BE49-F238E27FC236}">
                <a16:creationId xmlns:a16="http://schemas.microsoft.com/office/drawing/2014/main" id="{6ED31826-7892-44BD-A9DF-9EE56BC92F8E}"/>
              </a:ext>
            </a:extLst>
          </p:cNvPr>
          <p:cNvSpPr>
            <a:spLocks xmlns:a="http://schemas.openxmlformats.org/drawingml/2006/main" noGrp="1"/>
          </p:cNvSpPr>
          <p:nvPr/>
        </p:nvSpPr>
        <p:spPr>
          <a:xfrm xmlns:a="http://schemas.openxmlformats.org/drawingml/2006/main">
            <a:off x="742950" y="4457700"/>
            <a:ext cx="45148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C9C2B4"/>
            </a:solidFill>
            <a:prstDash val="solid"/>
          </a:ln>
        </p:spPr>
      </p:sp>
      <p:sp>
        <p:nvSpPr>
          <p:cNvPr id="28" name="">
            <a:extLst xmlns:a="http://schemas.openxmlformats.org/drawingml/2006/main">
              <a:ext uri="{FF2B5EF4-FFF2-40B4-BE49-F238E27FC236}">
                <a16:creationId xmlns:a16="http://schemas.microsoft.com/office/drawing/2014/main" id="{EA552E10-88EB-4BFF-AC65-67CB8E777F88}"/>
              </a:ext>
            </a:extLst>
          </p:cNvPr>
          <p:cNvSpPr>
            <a:spLocks xmlns:a="http://schemas.openxmlformats.org/drawingml/2006/main" noGrp="1"/>
          </p:cNvSpPr>
          <p:nvPr/>
        </p:nvSpPr>
        <p:spPr>
          <a:xfrm xmlns:a="http://schemas.openxmlformats.org/drawingml/2006/main">
            <a:off x="742950" y="4457700"/>
            <a:ext cx="76200" cy="400050"/>
          </a:xfrm>
          <a:prstGeom xmlns:a="http://schemas.openxmlformats.org/drawingml/2006/main" prst="rect">
            <a:avLst/>
          </a:prstGeom>
          <a:solidFill xmlns:a="http://schemas.openxmlformats.org/drawingml/2006/main">
            <a:srgbClr val="273142"/>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E321146F-DE89-45BD-82F7-2AC8B3DD90FA}"/>
              </a:ext>
            </a:extLst>
          </p:cNvPr>
          <p:cNvSpPr>
            <a:spLocks xmlns:a="http://schemas.openxmlformats.org/drawingml/2006/main" noGrp="1"/>
          </p:cNvSpPr>
          <p:nvPr/>
        </p:nvSpPr>
        <p:spPr>
          <a:xfrm xmlns:a="http://schemas.openxmlformats.org/drawingml/2006/main">
            <a:off x="990600" y="455295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Mono"/>
                <a:ea typeface="Aptos Mono"/>
                <a:cs typeface="Aptos Mono"/>
              </a:defRPr>
            </a:pPr>
            <a:r>
              <a:rPr sz="1125" b="1">
                <a:solidFill>
                  <a:srgbClr val="17202A"/>
                </a:solidFill>
                <a:latin typeface="Aptos Mono"/>
                <a:ea typeface="Aptos Mono"/>
                <a:cs typeface="Aptos Mono"/>
              </a:rPr>
              <a:t>.opencode/state/</a:t>
            </a:r>
          </a:p>
        </p:txBody>
      </p:sp>
      <p:sp>
        <p:nvSpPr>
          <p:cNvPr id="30" name="">
            <a:extLst xmlns:a="http://schemas.openxmlformats.org/drawingml/2006/main">
              <a:ext uri="{FF2B5EF4-FFF2-40B4-BE49-F238E27FC236}">
                <a16:creationId xmlns:a16="http://schemas.microsoft.com/office/drawing/2014/main" id="{1E960E4E-77D4-4C77-A74D-5431F4F64A1F}"/>
              </a:ext>
            </a:extLst>
          </p:cNvPr>
          <p:cNvSpPr>
            <a:spLocks xmlns:a="http://schemas.openxmlformats.org/drawingml/2006/main" noGrp="1"/>
          </p:cNvSpPr>
          <p:nvPr/>
        </p:nvSpPr>
        <p:spPr>
          <a:xfrm xmlns:a="http://schemas.openxmlformats.org/drawingml/2006/main">
            <a:off x="2895600" y="455295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8707E"/>
                </a:solidFill>
                <a:latin typeface="Aptos"/>
                <a:ea typeface="Aptos"/>
                <a:cs typeface="Aptos"/>
              </a:defRPr>
            </a:pPr>
            <a:r>
              <a:rPr sz="1050" b="0">
                <a:solidFill>
                  <a:srgbClr val="68707E"/>
                </a:solidFill>
                <a:latin typeface="Aptos"/>
                <a:ea typeface="Aptos"/>
                <a:cs typeface="Aptos"/>
              </a:rPr>
              <a:t>current task, bad plans, iteration state</a:t>
            </a:r>
          </a:p>
        </p:txBody>
      </p:sp>
      <p:sp>
        <p:nvSpPr>
          <p:cNvPr id="31" name="">
            <a:extLst xmlns:a="http://schemas.openxmlformats.org/drawingml/2006/main">
              <a:ext uri="{FF2B5EF4-FFF2-40B4-BE49-F238E27FC236}">
                <a16:creationId xmlns:a16="http://schemas.microsoft.com/office/drawing/2014/main" id="{5DD7A02B-2205-4242-AA0E-2D664E7F1A2D}"/>
              </a:ext>
            </a:extLst>
          </p:cNvPr>
          <p:cNvSpPr>
            <a:spLocks xmlns:a="http://schemas.openxmlformats.org/drawingml/2006/main" noGrp="1"/>
          </p:cNvSpPr>
          <p:nvPr/>
        </p:nvSpPr>
        <p:spPr>
          <a:xfrm xmlns:a="http://schemas.openxmlformats.org/drawingml/2006/main">
            <a:off x="6286500" y="1885950"/>
            <a:ext cx="4495800" cy="1123950"/>
          </a:xfrm>
          <a:prstGeom xmlns:a="http://schemas.openxmlformats.org/drawingml/2006/main" prst="rect">
            <a:avLst/>
          </a:prstGeom>
          <a:solidFill xmlns:a="http://schemas.openxmlformats.org/drawingml/2006/main">
            <a:srgbClr val="DCEEEB"/>
          </a:solidFill>
          <a:ln xmlns:a="http://schemas.openxmlformats.org/drawingml/2006/main" w="9525">
            <a:solidFill>
              <a:srgbClr val="C9C2B4"/>
            </a:solidFill>
            <a:prstDash val="solid"/>
          </a:ln>
        </p:spPr>
      </p:sp>
      <p:sp>
        <p:nvSpPr>
          <p:cNvPr id="32" name="">
            <a:extLst xmlns:a="http://schemas.openxmlformats.org/drawingml/2006/main">
              <a:ext uri="{FF2B5EF4-FFF2-40B4-BE49-F238E27FC236}">
                <a16:creationId xmlns:a16="http://schemas.microsoft.com/office/drawing/2014/main" id="{A72C32EC-CA1B-4786-A3F3-EE8550C03E25}"/>
              </a:ext>
            </a:extLst>
          </p:cNvPr>
          <p:cNvSpPr>
            <a:spLocks xmlns:a="http://schemas.openxmlformats.org/drawingml/2006/main" noGrp="1"/>
          </p:cNvSpPr>
          <p:nvPr/>
        </p:nvSpPr>
        <p:spPr>
          <a:xfrm xmlns:a="http://schemas.openxmlformats.org/drawingml/2006/main">
            <a:off x="6286500" y="1885950"/>
            <a:ext cx="4495800" cy="3048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117B3FED-5AC2-4366-9F41-27AF0A3159C8}"/>
              </a:ext>
            </a:extLst>
          </p:cNvPr>
          <p:cNvSpPr>
            <a:spLocks xmlns:a="http://schemas.openxmlformats.org/drawingml/2006/main" noGrp="1"/>
          </p:cNvSpPr>
          <p:nvPr/>
        </p:nvSpPr>
        <p:spPr>
          <a:xfrm xmlns:a="http://schemas.openxmlformats.org/drawingml/2006/main">
            <a:off x="6419850" y="1933575"/>
            <a:ext cx="4229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Target/subsystem memory</a:t>
            </a:r>
          </a:p>
        </p:txBody>
      </p:sp>
      <p:sp>
        <p:nvSpPr>
          <p:cNvPr id="34" name="">
            <a:extLst xmlns:a="http://schemas.openxmlformats.org/drawingml/2006/main">
              <a:ext uri="{FF2B5EF4-FFF2-40B4-BE49-F238E27FC236}">
                <a16:creationId xmlns:a16="http://schemas.microsoft.com/office/drawing/2014/main" id="{570D4B7E-73C2-487C-8942-8DF95B452551}"/>
              </a:ext>
            </a:extLst>
          </p:cNvPr>
          <p:cNvSpPr>
            <a:spLocks xmlns:a="http://schemas.openxmlformats.org/drawingml/2006/main" noGrp="1"/>
          </p:cNvSpPr>
          <p:nvPr/>
        </p:nvSpPr>
        <p:spPr>
          <a:xfrm xmlns:a="http://schemas.openxmlformats.org/drawingml/2006/main">
            <a:off x="6438900" y="2324100"/>
            <a:ext cx="4191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Stable structural findings, global lessons, reusable validation heuristics.</a:t>
            </a:r>
          </a:p>
        </p:txBody>
      </p:sp>
      <p:sp>
        <p:nvSpPr>
          <p:cNvPr id="35" name="">
            <a:extLst xmlns:a="http://schemas.openxmlformats.org/drawingml/2006/main">
              <a:ext uri="{FF2B5EF4-FFF2-40B4-BE49-F238E27FC236}">
                <a16:creationId xmlns:a16="http://schemas.microsoft.com/office/drawing/2014/main" id="{AB5B3BCA-EB95-4FA0-98A4-DC3F9201AACE}"/>
              </a:ext>
            </a:extLst>
          </p:cNvPr>
          <p:cNvSpPr>
            <a:spLocks xmlns:a="http://schemas.openxmlformats.org/drawingml/2006/main" noGrp="1"/>
          </p:cNvSpPr>
          <p:nvPr/>
        </p:nvSpPr>
        <p:spPr>
          <a:xfrm xmlns:a="http://schemas.openxmlformats.org/drawingml/2006/main">
            <a:off x="6286500" y="3333750"/>
            <a:ext cx="4495800" cy="1123950"/>
          </a:xfrm>
          <a:prstGeom xmlns:a="http://schemas.openxmlformats.org/drawingml/2006/main" prst="rect">
            <a:avLst/>
          </a:prstGeom>
          <a:solidFill xmlns:a="http://schemas.openxmlformats.org/drawingml/2006/main">
            <a:srgbClr val="E3E5F6"/>
          </a:solidFill>
          <a:ln xmlns:a="http://schemas.openxmlformats.org/drawingml/2006/main" w="9525">
            <a:solidFill>
              <a:srgbClr val="C9C2B4"/>
            </a:solidFill>
            <a:prstDash val="solid"/>
          </a:ln>
        </p:spPr>
      </p:sp>
      <p:sp>
        <p:nvSpPr>
          <p:cNvPr id="36" name="">
            <a:extLst xmlns:a="http://schemas.openxmlformats.org/drawingml/2006/main">
              <a:ext uri="{FF2B5EF4-FFF2-40B4-BE49-F238E27FC236}">
                <a16:creationId xmlns:a16="http://schemas.microsoft.com/office/drawing/2014/main" id="{D3DF3769-B17A-4C9D-A534-DB45D81A9375}"/>
              </a:ext>
            </a:extLst>
          </p:cNvPr>
          <p:cNvSpPr>
            <a:spLocks xmlns:a="http://schemas.openxmlformats.org/drawingml/2006/main" noGrp="1"/>
          </p:cNvSpPr>
          <p:nvPr/>
        </p:nvSpPr>
        <p:spPr>
          <a:xfrm xmlns:a="http://schemas.openxmlformats.org/drawingml/2006/main">
            <a:off x="6286500" y="3333750"/>
            <a:ext cx="4495800" cy="304800"/>
          </a:xfrm>
          <a:prstGeom xmlns:a="http://schemas.openxmlformats.org/drawingml/2006/main" prst="rect">
            <a:avLst/>
          </a:prstGeom>
          <a:solidFill xmlns:a="http://schemas.openxmlformats.org/drawingml/2006/main">
            <a:srgbClr val="3B4AA4"/>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188488BB-65F6-44EC-A6F0-E101ADAD2EBC}"/>
              </a:ext>
            </a:extLst>
          </p:cNvPr>
          <p:cNvSpPr>
            <a:spLocks xmlns:a="http://schemas.openxmlformats.org/drawingml/2006/main" noGrp="1"/>
          </p:cNvSpPr>
          <p:nvPr/>
        </p:nvSpPr>
        <p:spPr>
          <a:xfrm xmlns:a="http://schemas.openxmlformats.org/drawingml/2006/main">
            <a:off x="6419850" y="3381375"/>
            <a:ext cx="4229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Human decisions + idea ledger</a:t>
            </a:r>
          </a:p>
        </p:txBody>
      </p:sp>
      <p:sp>
        <p:nvSpPr>
          <p:cNvPr id="38" name="">
            <a:extLst xmlns:a="http://schemas.openxmlformats.org/drawingml/2006/main">
              <a:ext uri="{FF2B5EF4-FFF2-40B4-BE49-F238E27FC236}">
                <a16:creationId xmlns:a16="http://schemas.microsoft.com/office/drawing/2014/main" id="{6A71B9EA-7640-46F6-B68D-34E39BD2C68F}"/>
              </a:ext>
            </a:extLst>
          </p:cNvPr>
          <p:cNvSpPr>
            <a:spLocks xmlns:a="http://schemas.openxmlformats.org/drawingml/2006/main" noGrp="1"/>
          </p:cNvSpPr>
          <p:nvPr/>
        </p:nvSpPr>
        <p:spPr>
          <a:xfrm xmlns:a="http://schemas.openxmlformats.org/drawingml/2006/main">
            <a:off x="6438900" y="3771900"/>
            <a:ext cx="4191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2A"/>
                </a:solidFill>
                <a:latin typeface="Aptos"/>
                <a:ea typeface="Aptos"/>
                <a:cs typeface="Aptos"/>
              </a:defRPr>
            </a:pPr>
            <a:r>
              <a:rPr sz="1275" b="0">
                <a:solidFill>
                  <a:srgbClr val="17202A"/>
                </a:solidFill>
                <a:latin typeface="Aptos"/>
                <a:ea typeface="Aptos"/>
                <a:cs typeface="Aptos"/>
              </a:rPr>
              <a:t>Chronological verdicts plus approved, landed, rejected, and deferred mechanisms.</a:t>
            </a:r>
          </a:p>
        </p:txBody>
      </p:sp>
      <p:sp>
        <p:nvSpPr>
          <p:cNvPr id="39" name="">
            <a:extLst xmlns:a="http://schemas.openxmlformats.org/drawingml/2006/main">
              <a:ext uri="{FF2B5EF4-FFF2-40B4-BE49-F238E27FC236}">
                <a16:creationId xmlns:a16="http://schemas.microsoft.com/office/drawing/2014/main" id="{5985B49E-190D-4F45-B414-2AFCBD5769C4}"/>
              </a:ext>
            </a:extLst>
          </p:cNvPr>
          <p:cNvSpPr>
            <a:spLocks xmlns:a="http://schemas.openxmlformats.org/drawingml/2006/main" noGrp="1"/>
          </p:cNvSpPr>
          <p:nvPr/>
        </p:nvSpPr>
        <p:spPr>
          <a:xfrm xmlns:a="http://schemas.openxmlformats.org/drawingml/2006/main">
            <a:off x="895350" y="5753100"/>
            <a:ext cx="10001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7202A"/>
                </a:solidFill>
                <a:latin typeface="Aptos"/>
                <a:ea typeface="Aptos"/>
                <a:cs typeface="Aptos"/>
              </a:defRPr>
            </a:pPr>
            <a:r>
              <a:rPr sz="1425" b="1">
                <a:solidFill>
                  <a:srgbClr val="17202A"/>
                </a:solidFill>
                <a:latin typeface="Aptos"/>
                <a:ea typeface="Aptos"/>
                <a:cs typeface="Aptos"/>
              </a:rPr>
              <a:t>Rule of thumb: transient detail goes to docs/bench; stable reusable learning is promoted to memory.</a:t>
            </a:r>
          </a:p>
        </p:txBody>
      </p:sp>
      <p:sp>
        <p:nvSpPr>
          <p:cNvPr id="40" name="">
            <a:extLst xmlns:a="http://schemas.openxmlformats.org/drawingml/2006/main">
              <a:ext uri="{FF2B5EF4-FFF2-40B4-BE49-F238E27FC236}">
                <a16:creationId xmlns:a16="http://schemas.microsoft.com/office/drawing/2014/main" id="{200E95AD-2EF5-45DA-9705-C5CD9CF048C3}"/>
              </a:ext>
            </a:extLst>
          </p:cNvPr>
          <p:cNvSpPr>
            <a:spLocks xmlns:a="http://schemas.openxmlformats.org/drawingml/2006/main" noGrp="1"/>
          </p:cNvSpPr>
          <p:nvPr/>
        </p:nvSpPr>
        <p:spPr>
          <a:xfrm xmlns:a="http://schemas.openxmlformats.org/drawingml/2006/main">
            <a:off x="495300" y="6705600"/>
            <a:ext cx="457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 multi-agent harness</a:t>
            </a:r>
          </a:p>
        </p:txBody>
      </p:sp>
      <p:sp>
        <p:nvSpPr>
          <p:cNvPr id="41" name="">
            <a:extLst xmlns:a="http://schemas.openxmlformats.org/drawingml/2006/main">
              <a:ext uri="{FF2B5EF4-FFF2-40B4-BE49-F238E27FC236}">
                <a16:creationId xmlns:a16="http://schemas.microsoft.com/office/drawing/2014/main" id="{3E25C85F-B62B-4BF4-8373-CAC4884DCDC4}"/>
              </a:ext>
            </a:extLst>
          </p:cNvPr>
          <p:cNvSpPr>
            <a:spLocks xmlns:a="http://schemas.openxmlformats.org/drawingml/2006/main" noGrp="1"/>
          </p:cNvSpPr>
          <p:nvPr/>
        </p:nvSpPr>
        <p:spPr>
          <a:xfrm xmlns:a="http://schemas.openxmlformats.org/drawingml/2006/main">
            <a:off x="10706100" y="6705600"/>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8707E"/>
                </a:solidFill>
                <a:latin typeface="Aptos"/>
                <a:ea typeface="Aptos"/>
                <a:cs typeface="Aptos"/>
              </a:defRPr>
            </a:pPr>
            <a:r>
              <a:rPr sz="713" b="0">
                <a:solidFill>
                  <a:srgbClr val="68707E"/>
                </a:solidFill>
                <a:latin typeface="Aptos"/>
                <a:ea typeface="Aptos"/>
                <a:cs typeface="Aptos"/>
              </a:rPr>
              <a:t>11 / 14</a:t>
            </a:r>
          </a:p>
        </p:txBody>
      </p:sp>
    </p:spTree>
    <p:extLst>
      <p:ext uri="{BB962C8B-B14F-4D97-AF65-F5344CB8AC3E}">
        <p14:creationId xmlns:p14="http://schemas.microsoft.com/office/powerpoint/2010/main" val="189254996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30F87C9F-7D79-4DEF-82B3-696D31DE96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23436CCE-0055-443E-A6A1-309BC7655A50}"/>
              </a:ext>
            </a:extLst>
          </p:cNvPr>
          <p:cNvSpPr>
            <a:spLocks xmlns:a="http://schemas.openxmlformats.org/drawingml/2006/main" noGrp="1"/>
          </p:cNvSpPr>
          <p:nvPr/>
        </p:nvSpPr>
        <p:spPr>
          <a:xfrm xmlns:a="http://schemas.openxmlformats.org/drawingml/2006/main">
            <a:off x="495300" y="419100"/>
            <a:ext cx="304800" cy="381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99A3AFCE-FE4B-4753-A7B2-29DA900F570E}"/>
              </a:ext>
            </a:extLst>
          </p:cNvPr>
          <p:cNvSpPr>
            <a:spLocks xmlns:a="http://schemas.openxmlformats.org/drawingml/2006/main" noGrp="1"/>
          </p:cNvSpPr>
          <p:nvPr/>
        </p:nvSpPr>
        <p:spPr>
          <a:xfrm xmlns:a="http://schemas.openxmlformats.org/drawingml/2006/main">
            <a:off x="895350" y="285750"/>
            <a:ext cx="495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E7C7B"/>
                </a:solidFill>
                <a:latin typeface="Aptos"/>
                <a:ea typeface="Aptos"/>
                <a:cs typeface="Aptos"/>
              </a:defRPr>
            </a:pPr>
            <a:r>
              <a:rPr sz="975" b="1">
                <a:solidFill>
                  <a:srgbClr val="0E7C7B"/>
                </a:solidFill>
                <a:latin typeface="Aptos"/>
                <a:ea typeface="Aptos"/>
                <a:cs typeface="Aptos"/>
              </a:rPr>
              <a:t>HOW TO RUN</a:t>
            </a:r>
          </a:p>
        </p:txBody>
      </p:sp>
      <p:sp>
        <p:nvSpPr>
          <p:cNvPr id="4" name="">
            <a:extLst xmlns:a="http://schemas.openxmlformats.org/drawingml/2006/main">
              <a:ext uri="{FF2B5EF4-FFF2-40B4-BE49-F238E27FC236}">
                <a16:creationId xmlns:a16="http://schemas.microsoft.com/office/drawing/2014/main" id="{7F71982B-6329-4049-9330-AD697D9D87DC}"/>
              </a:ext>
            </a:extLst>
          </p:cNvPr>
          <p:cNvSpPr>
            <a:spLocks xmlns:a="http://schemas.openxmlformats.org/drawingml/2006/main" noGrp="1"/>
          </p:cNvSpPr>
          <p:nvPr/>
        </p:nvSpPr>
        <p:spPr>
          <a:xfrm xmlns:a="http://schemas.openxmlformats.org/drawingml/2006/main">
            <a:off x="495300" y="666750"/>
            <a:ext cx="8382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Choose a profile, set the target, then launch the slash command.</a:t>
            </a:r>
          </a:p>
        </p:txBody>
      </p:sp>
      <p:sp>
        <p:nvSpPr>
          <p:cNvPr id="5" name="">
            <a:extLst xmlns:a="http://schemas.openxmlformats.org/drawingml/2006/main">
              <a:ext uri="{FF2B5EF4-FFF2-40B4-BE49-F238E27FC236}">
                <a16:creationId xmlns:a16="http://schemas.microsoft.com/office/drawing/2014/main" id="{644C5990-C7EE-4ADF-AC9E-117F7BA35E49}"/>
              </a:ext>
            </a:extLst>
          </p:cNvPr>
          <p:cNvSpPr>
            <a:spLocks xmlns:a="http://schemas.openxmlformats.org/drawingml/2006/main" noGrp="1"/>
          </p:cNvSpPr>
          <p:nvPr/>
        </p:nvSpPr>
        <p:spPr>
          <a:xfrm xmlns:a="http://schemas.openxmlformats.org/drawingml/2006/main">
            <a:off x="495300" y="1447800"/>
            <a:ext cx="11201400" cy="14288"/>
          </a:xfrm>
          <a:prstGeom xmlns:a="http://schemas.openxmlformats.org/drawingml/2006/main" prst="rect">
            <a:avLst/>
          </a:prstGeom>
          <a:solidFill xmlns:a="http://schemas.openxmlformats.org/drawingml/2006/main">
            <a:srgbClr val="C9C2B4"/>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C6825235-64C1-4529-9202-A6F60E9F678E}"/>
              </a:ext>
            </a:extLst>
          </p:cNvPr>
          <p:cNvSpPr>
            <a:spLocks xmlns:a="http://schemas.openxmlformats.org/drawingml/2006/main" noGrp="1"/>
          </p:cNvSpPr>
          <p:nvPr/>
        </p:nvSpPr>
        <p:spPr>
          <a:xfrm xmlns:a="http://schemas.openxmlformats.org/drawingml/2006/main">
            <a:off x="495300" y="6496050"/>
            <a:ext cx="800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.opencode/commands/optimize_generic.md; configs/pipeline_profiles.yaml</a:t>
            </a:r>
          </a:p>
        </p:txBody>
      </p:sp>
      <p:sp>
        <p:nvSpPr>
          <p:cNvPr id="7" name="">
            <a:extLst xmlns:a="http://schemas.openxmlformats.org/drawingml/2006/main">
              <a:ext uri="{FF2B5EF4-FFF2-40B4-BE49-F238E27FC236}">
                <a16:creationId xmlns:a16="http://schemas.microsoft.com/office/drawing/2014/main" id="{1D5BC66D-2C85-47A2-819F-111E815F69F3}"/>
              </a:ext>
            </a:extLst>
          </p:cNvPr>
          <p:cNvSpPr>
            <a:spLocks xmlns:a="http://schemas.openxmlformats.org/drawingml/2006/main" noGrp="1"/>
          </p:cNvSpPr>
          <p:nvPr/>
        </p:nvSpPr>
        <p:spPr>
          <a:xfrm xmlns:a="http://schemas.openxmlformats.org/drawingml/2006/main">
            <a:off x="723900" y="1847850"/>
            <a:ext cx="4705350" cy="2247900"/>
          </a:xfrm>
          <a:prstGeom xmlns:a="http://schemas.openxmlformats.org/drawingml/2006/main" prst="rect">
            <a:avLst/>
          </a:prstGeom>
          <a:solidFill xmlns:a="http://schemas.openxmlformats.org/drawingml/2006/main">
            <a:srgbClr val="27314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902FE60D-4767-4FDB-9143-1C5A85AD6352}"/>
              </a:ext>
            </a:extLst>
          </p:cNvPr>
          <p:cNvSpPr>
            <a:spLocks xmlns:a="http://schemas.openxmlformats.org/drawingml/2006/main" noGrp="1"/>
          </p:cNvSpPr>
          <p:nvPr/>
        </p:nvSpPr>
        <p:spPr>
          <a:xfrm xmlns:a="http://schemas.openxmlformats.org/drawingml/2006/main">
            <a:off x="876300" y="1981200"/>
            <a:ext cx="4400550" cy="2019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7F4EE"/>
                </a:solidFill>
                <a:latin typeface="Aptos Mono"/>
                <a:ea typeface="Aptos Mono"/>
                <a:cs typeface="Aptos Mono"/>
              </a:defRPr>
            </a:pPr>
            <a:r>
              <a:rPr sz="1275" b="0">
                <a:solidFill>
                  <a:srgbClr val="F7F4EE"/>
                </a:solidFill>
                <a:latin typeface="Aptos Mono"/>
                <a:ea typeface="Aptos Mono"/>
                <a:cs typeface="Aptos Mono"/>
              </a:rPr>
              <a:t># Full automated run</a:t>
            </a:r>
          </a:p>
          <a:p xmlns:a="http://schemas.openxmlformats.org/drawingml/2006/main">
            <a:pPr algn="l">
              <a:defRPr sz="1275" b="0">
                <a:solidFill>
                  <a:srgbClr val="F7F4EE"/>
                </a:solidFill>
                <a:latin typeface="Aptos Mono"/>
                <a:ea typeface="Aptos Mono"/>
                <a:cs typeface="Aptos Mono"/>
              </a:defRPr>
            </a:pPr>
            <a:r>
              <a:rPr sz="1275" b="0">
                <a:solidFill>
                  <a:srgbClr val="F7F4EE"/>
                </a:solidFill>
                <a:latin typeface="Aptos Mono"/>
                <a:ea typeface="Aptos Mono"/>
                <a:cs typeface="Aptos Mono"/>
              </a:rPr>
              <a:t>/optimize_generic</a:t>
            </a:r>
          </a:p>
          <a:p xmlns:a="http://schemas.openxmlformats.org/drawingml/2006/main">
            <a:r>
              <a:t/>
            </a:r>
          </a:p>
          <a:p xmlns:a="http://schemas.openxmlformats.org/drawingml/2006/main">
            <a:pPr algn="l">
              <a:defRPr sz="1275" b="0">
                <a:solidFill>
                  <a:srgbClr val="F7F4EE"/>
                </a:solidFill>
                <a:latin typeface="Aptos Mono"/>
                <a:ea typeface="Aptos Mono"/>
                <a:cs typeface="Aptos Mono"/>
              </a:defRPr>
            </a:pPr>
            <a:r>
              <a:rPr sz="1275" b="0">
                <a:solidFill>
                  <a:srgbClr val="F7F4EE"/>
                </a:solidFill>
                <a:latin typeface="Aptos Mono"/>
                <a:ea typeface="Aptos Mono"/>
                <a:cs typeface="Aptos Mono"/>
              </a:rPr>
              <a:t>Profile: generic_full</a:t>
            </a:r>
          </a:p>
          <a:p xmlns:a="http://schemas.openxmlformats.org/drawingml/2006/main">
            <a:pPr algn="l">
              <a:defRPr sz="1275" b="0">
                <a:solidFill>
                  <a:srgbClr val="F7F4EE"/>
                </a:solidFill>
                <a:latin typeface="Aptos Mono"/>
                <a:ea typeface="Aptos Mono"/>
                <a:cs typeface="Aptos Mono"/>
              </a:defRPr>
            </a:pPr>
            <a:r>
              <a:rPr sz="1275" b="0">
                <a:solidFill>
                  <a:srgbClr val="F7F4EE"/>
                </a:solidFill>
                <a:latin typeface="Aptos Mono"/>
                <a:ea typeface="Aptos Mono"/>
                <a:cs typeface="Aptos Mono"/>
              </a:rPr>
              <a:t>Target: sysmgr/pwrmgr</a:t>
            </a:r>
          </a:p>
          <a:p xmlns:a="http://schemas.openxmlformats.org/drawingml/2006/main">
            <a:pPr algn="l">
              <a:defRPr sz="1275" b="0">
                <a:solidFill>
                  <a:srgbClr val="F7F4EE"/>
                </a:solidFill>
                <a:latin typeface="Aptos Mono"/>
                <a:ea typeface="Aptos Mono"/>
                <a:cs typeface="Aptos Mono"/>
              </a:defRPr>
            </a:pPr>
            <a:r>
              <a:rPr sz="1275" b="0">
                <a:solidFill>
                  <a:srgbClr val="F7F4EE"/>
                </a:solidFill>
                <a:latin typeface="Aptos Mono"/>
                <a:ea typeface="Aptos Mono"/>
                <a:cs typeface="Aptos Mono"/>
              </a:rPr>
              <a:t>Objective: full pipeline optimization</a:t>
            </a:r>
          </a:p>
          <a:p xmlns:a="http://schemas.openxmlformats.org/drawingml/2006/main">
            <a:pPr algn="l">
              <a:defRPr sz="1275" b="0">
                <a:solidFill>
                  <a:srgbClr val="F7F4EE"/>
                </a:solidFill>
                <a:latin typeface="Aptos Mono"/>
                <a:ea typeface="Aptos Mono"/>
                <a:cs typeface="Aptos Mono"/>
              </a:defRPr>
            </a:pPr>
            <a:r>
              <a:rPr sz="1275" b="0">
                <a:solidFill>
                  <a:srgbClr val="F7F4EE"/>
                </a:solidFill>
                <a:latin typeface="Aptos Mono"/>
                <a:ea typeface="Aptos Mono"/>
                <a:cs typeface="Aptos Mono"/>
              </a:rPr>
              <a:t>Auto-Iterate: 1   # set N for close-loop passes</a:t>
            </a:r>
          </a:p>
        </p:txBody>
      </p:sp>
      <p:sp>
        <p:nvSpPr>
          <p:cNvPr id="9" name="">
            <a:extLst xmlns:a="http://schemas.openxmlformats.org/drawingml/2006/main">
              <a:ext uri="{FF2B5EF4-FFF2-40B4-BE49-F238E27FC236}">
                <a16:creationId xmlns:a16="http://schemas.microsoft.com/office/drawing/2014/main" id="{B7FF8D64-06C3-48F3-B382-A0F69A8FBD30}"/>
              </a:ext>
            </a:extLst>
          </p:cNvPr>
          <p:cNvSpPr>
            <a:spLocks xmlns:a="http://schemas.openxmlformats.org/drawingml/2006/main" noGrp="1"/>
          </p:cNvSpPr>
          <p:nvPr/>
        </p:nvSpPr>
        <p:spPr>
          <a:xfrm xmlns:a="http://schemas.openxmlformats.org/drawingml/2006/main">
            <a:off x="6096000" y="1790700"/>
            <a:ext cx="5143500" cy="514350"/>
          </a:xfrm>
          <a:prstGeom xmlns:a="http://schemas.openxmlformats.org/drawingml/2006/main" prst="rect">
            <a:avLst/>
          </a:prstGeom>
          <a:solidFill xmlns:a="http://schemas.openxmlformats.org/drawingml/2006/main">
            <a:srgbClr val="27314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4F41D73-3F67-4105-AFE6-9DB897B40819}"/>
              </a:ext>
            </a:extLst>
          </p:cNvPr>
          <p:cNvSpPr>
            <a:spLocks xmlns:a="http://schemas.openxmlformats.org/drawingml/2006/main" noGrp="1"/>
          </p:cNvSpPr>
          <p:nvPr/>
        </p:nvSpPr>
        <p:spPr>
          <a:xfrm xmlns:a="http://schemas.openxmlformats.org/drawingml/2006/main">
            <a:off x="6305550" y="196215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Pipeline profile</a:t>
            </a:r>
          </a:p>
        </p:txBody>
      </p:sp>
      <p:sp>
        <p:nvSpPr>
          <p:cNvPr id="11" name="">
            <a:extLst xmlns:a="http://schemas.openxmlformats.org/drawingml/2006/main">
              <a:ext uri="{FF2B5EF4-FFF2-40B4-BE49-F238E27FC236}">
                <a16:creationId xmlns:a16="http://schemas.microsoft.com/office/drawing/2014/main" id="{9AB4A480-459C-4805-B5F2-427F801E393F}"/>
              </a:ext>
            </a:extLst>
          </p:cNvPr>
          <p:cNvSpPr>
            <a:spLocks xmlns:a="http://schemas.openxmlformats.org/drawingml/2006/main" noGrp="1"/>
          </p:cNvSpPr>
          <p:nvPr/>
        </p:nvSpPr>
        <p:spPr>
          <a:xfrm xmlns:a="http://schemas.openxmlformats.org/drawingml/2006/main">
            <a:off x="8496300" y="196215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Best fit</a:t>
            </a:r>
          </a:p>
        </p:txBody>
      </p:sp>
      <p:sp>
        <p:nvSpPr>
          <p:cNvPr id="12" name="">
            <a:extLst xmlns:a="http://schemas.openxmlformats.org/drawingml/2006/main">
              <a:ext uri="{FF2B5EF4-FFF2-40B4-BE49-F238E27FC236}">
                <a16:creationId xmlns:a16="http://schemas.microsoft.com/office/drawing/2014/main" id="{6517BE18-B743-49C5-B471-B76A9BD95296}"/>
              </a:ext>
            </a:extLst>
          </p:cNvPr>
          <p:cNvSpPr>
            <a:spLocks xmlns:a="http://schemas.openxmlformats.org/drawingml/2006/main" noGrp="1"/>
          </p:cNvSpPr>
          <p:nvPr/>
        </p:nvSpPr>
        <p:spPr>
          <a:xfrm xmlns:a="http://schemas.openxmlformats.org/drawingml/2006/main">
            <a:off x="6096000" y="2305050"/>
            <a:ext cx="5143500" cy="514350"/>
          </a:xfrm>
          <a:prstGeom xmlns:a="http://schemas.openxmlformats.org/drawingml/2006/main" prst="rect">
            <a:avLst/>
          </a:prstGeom>
          <a:solidFill xmlns:a="http://schemas.openxmlformats.org/drawingml/2006/main">
            <a:srgbClr val="ECE7DC"/>
          </a:solidFill>
          <a:ln xmlns:a="http://schemas.openxmlformats.org/drawingml/2006/main" w="6668">
            <a:solidFill>
              <a:srgbClr val="C9C2B4"/>
            </a:solidFill>
            <a:prstDash val="solid"/>
          </a:ln>
        </p:spPr>
      </p:sp>
      <p:sp>
        <p:nvSpPr>
          <p:cNvPr id="13" name="">
            <a:extLst xmlns:a="http://schemas.openxmlformats.org/drawingml/2006/main">
              <a:ext uri="{FF2B5EF4-FFF2-40B4-BE49-F238E27FC236}">
                <a16:creationId xmlns:a16="http://schemas.microsoft.com/office/drawing/2014/main" id="{F6AC7EC6-F0BC-44B4-823A-5B13476338C1}"/>
              </a:ext>
            </a:extLst>
          </p:cNvPr>
          <p:cNvSpPr>
            <a:spLocks xmlns:a="http://schemas.openxmlformats.org/drawingml/2006/main" noGrp="1"/>
          </p:cNvSpPr>
          <p:nvPr/>
        </p:nvSpPr>
        <p:spPr>
          <a:xfrm xmlns:a="http://schemas.openxmlformats.org/drawingml/2006/main">
            <a:off x="6305550" y="246697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2A"/>
                </a:solidFill>
                <a:latin typeface="Aptos Mono"/>
                <a:ea typeface="Aptos Mono"/>
                <a:cs typeface="Aptos Mono"/>
              </a:defRPr>
            </a:pPr>
            <a:r>
              <a:rPr sz="1050" b="1">
                <a:solidFill>
                  <a:srgbClr val="17202A"/>
                </a:solidFill>
                <a:latin typeface="Aptos Mono"/>
                <a:ea typeface="Aptos Mono"/>
                <a:cs typeface="Aptos Mono"/>
              </a:rPr>
              <a:t>generic_full</a:t>
            </a:r>
          </a:p>
        </p:txBody>
      </p:sp>
      <p:sp>
        <p:nvSpPr>
          <p:cNvPr id="14" name="">
            <a:extLst xmlns:a="http://schemas.openxmlformats.org/drawingml/2006/main">
              <a:ext uri="{FF2B5EF4-FFF2-40B4-BE49-F238E27FC236}">
                <a16:creationId xmlns:a16="http://schemas.microsoft.com/office/drawing/2014/main" id="{B73E972C-0AE8-409F-94CE-C4E72EEBF8DC}"/>
              </a:ext>
            </a:extLst>
          </p:cNvPr>
          <p:cNvSpPr>
            <a:spLocks xmlns:a="http://schemas.openxmlformats.org/drawingml/2006/main" noGrp="1"/>
          </p:cNvSpPr>
          <p:nvPr/>
        </p:nvSpPr>
        <p:spPr>
          <a:xfrm xmlns:a="http://schemas.openxmlformats.org/drawingml/2006/main">
            <a:off x="8496300" y="2466975"/>
            <a:ext cx="2286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7202A"/>
                </a:solidFill>
                <a:latin typeface="Aptos"/>
                <a:ea typeface="Aptos"/>
                <a:cs typeface="Aptos"/>
              </a:defRPr>
            </a:pPr>
            <a:r>
              <a:rPr sz="1050" b="0">
                <a:solidFill>
                  <a:srgbClr val="17202A"/>
                </a:solidFill>
                <a:latin typeface="Aptos"/>
                <a:ea typeface="Aptos"/>
                <a:cs typeface="Aptos"/>
              </a:rPr>
              <a:t>domain-agnostic full run</a:t>
            </a:r>
          </a:p>
        </p:txBody>
      </p:sp>
      <p:sp>
        <p:nvSpPr>
          <p:cNvPr id="15" name="">
            <a:extLst xmlns:a="http://schemas.openxmlformats.org/drawingml/2006/main">
              <a:ext uri="{FF2B5EF4-FFF2-40B4-BE49-F238E27FC236}">
                <a16:creationId xmlns:a16="http://schemas.microsoft.com/office/drawing/2014/main" id="{3051C1D8-2952-4005-A361-CA9262819514}"/>
              </a:ext>
            </a:extLst>
          </p:cNvPr>
          <p:cNvSpPr>
            <a:spLocks xmlns:a="http://schemas.openxmlformats.org/drawingml/2006/main" noGrp="1"/>
          </p:cNvSpPr>
          <p:nvPr/>
        </p:nvSpPr>
        <p:spPr>
          <a:xfrm xmlns:a="http://schemas.openxmlformats.org/drawingml/2006/main">
            <a:off x="6096000" y="2819400"/>
            <a:ext cx="5143500" cy="514350"/>
          </a:xfrm>
          <a:prstGeom xmlns:a="http://schemas.openxmlformats.org/drawingml/2006/main" prst="rect">
            <a:avLst/>
          </a:prstGeom>
          <a:solidFill xmlns:a="http://schemas.openxmlformats.org/drawingml/2006/main">
            <a:srgbClr val="FFFFFF"/>
          </a:solidFill>
          <a:ln xmlns:a="http://schemas.openxmlformats.org/drawingml/2006/main" w="6668">
            <a:solidFill>
              <a:srgbClr val="C9C2B4"/>
            </a:solidFill>
            <a:prstDash val="solid"/>
          </a:ln>
        </p:spPr>
      </p:sp>
      <p:sp>
        <p:nvSpPr>
          <p:cNvPr id="16" name="">
            <a:extLst xmlns:a="http://schemas.openxmlformats.org/drawingml/2006/main">
              <a:ext uri="{FF2B5EF4-FFF2-40B4-BE49-F238E27FC236}">
                <a16:creationId xmlns:a16="http://schemas.microsoft.com/office/drawing/2014/main" id="{06A244BF-746E-4D6A-91D7-C330D35C686D}"/>
              </a:ext>
            </a:extLst>
          </p:cNvPr>
          <p:cNvSpPr>
            <a:spLocks xmlns:a="http://schemas.openxmlformats.org/drawingml/2006/main" noGrp="1"/>
          </p:cNvSpPr>
          <p:nvPr/>
        </p:nvSpPr>
        <p:spPr>
          <a:xfrm xmlns:a="http://schemas.openxmlformats.org/drawingml/2006/main">
            <a:off x="6305550" y="298132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2A"/>
                </a:solidFill>
                <a:latin typeface="Aptos Mono"/>
                <a:ea typeface="Aptos Mono"/>
                <a:cs typeface="Aptos Mono"/>
              </a:defRPr>
            </a:pPr>
            <a:r>
              <a:rPr sz="1050" b="1">
                <a:solidFill>
                  <a:srgbClr val="17202A"/>
                </a:solidFill>
                <a:latin typeface="Aptos Mono"/>
                <a:ea typeface="Aptos Mono"/>
                <a:cs typeface="Aptos Mono"/>
              </a:rPr>
              <a:t>hyperhold_full</a:t>
            </a:r>
          </a:p>
        </p:txBody>
      </p:sp>
      <p:sp>
        <p:nvSpPr>
          <p:cNvPr id="17" name="">
            <a:extLst xmlns:a="http://schemas.openxmlformats.org/drawingml/2006/main">
              <a:ext uri="{FF2B5EF4-FFF2-40B4-BE49-F238E27FC236}">
                <a16:creationId xmlns:a16="http://schemas.microsoft.com/office/drawing/2014/main" id="{16E36483-7D76-4AA0-8AAF-C75CDD2C656E}"/>
              </a:ext>
            </a:extLst>
          </p:cNvPr>
          <p:cNvSpPr>
            <a:spLocks xmlns:a="http://schemas.openxmlformats.org/drawingml/2006/main" noGrp="1"/>
          </p:cNvSpPr>
          <p:nvPr/>
        </p:nvSpPr>
        <p:spPr>
          <a:xfrm xmlns:a="http://schemas.openxmlformats.org/drawingml/2006/main">
            <a:off x="8496300" y="2981325"/>
            <a:ext cx="2286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7202A"/>
                </a:solidFill>
                <a:latin typeface="Aptos"/>
                <a:ea typeface="Aptos"/>
                <a:cs typeface="Aptos"/>
              </a:defRPr>
            </a:pPr>
            <a:r>
              <a:rPr sz="1050" b="0">
                <a:solidFill>
                  <a:srgbClr val="17202A"/>
                </a:solidFill>
                <a:latin typeface="Aptos"/>
                <a:ea typeface="Aptos"/>
                <a:cs typeface="Aptos"/>
              </a:rPr>
              <a:t>swap / hpio / zsmalloc</a:t>
            </a:r>
          </a:p>
        </p:txBody>
      </p:sp>
      <p:sp>
        <p:nvSpPr>
          <p:cNvPr id="18" name="">
            <a:extLst xmlns:a="http://schemas.openxmlformats.org/drawingml/2006/main">
              <a:ext uri="{FF2B5EF4-FFF2-40B4-BE49-F238E27FC236}">
                <a16:creationId xmlns:a16="http://schemas.microsoft.com/office/drawing/2014/main" id="{A6BFFFC3-3939-4242-99C7-305098C5B7B4}"/>
              </a:ext>
            </a:extLst>
          </p:cNvPr>
          <p:cNvSpPr>
            <a:spLocks xmlns:a="http://schemas.openxmlformats.org/drawingml/2006/main" noGrp="1"/>
          </p:cNvSpPr>
          <p:nvPr/>
        </p:nvSpPr>
        <p:spPr>
          <a:xfrm xmlns:a="http://schemas.openxmlformats.org/drawingml/2006/main">
            <a:off x="6096000" y="3333750"/>
            <a:ext cx="5143500" cy="514350"/>
          </a:xfrm>
          <a:prstGeom xmlns:a="http://schemas.openxmlformats.org/drawingml/2006/main" prst="rect">
            <a:avLst/>
          </a:prstGeom>
          <a:solidFill xmlns:a="http://schemas.openxmlformats.org/drawingml/2006/main">
            <a:srgbClr val="ECE7DC"/>
          </a:solidFill>
          <a:ln xmlns:a="http://schemas.openxmlformats.org/drawingml/2006/main" w="6668">
            <a:solidFill>
              <a:srgbClr val="C9C2B4"/>
            </a:solidFill>
            <a:prstDash val="solid"/>
          </a:ln>
        </p:spPr>
      </p:sp>
      <p:sp>
        <p:nvSpPr>
          <p:cNvPr id="19" name="">
            <a:extLst xmlns:a="http://schemas.openxmlformats.org/drawingml/2006/main">
              <a:ext uri="{FF2B5EF4-FFF2-40B4-BE49-F238E27FC236}">
                <a16:creationId xmlns:a16="http://schemas.microsoft.com/office/drawing/2014/main" id="{D636AB78-9169-461E-9AF6-636BCBA91AF7}"/>
              </a:ext>
            </a:extLst>
          </p:cNvPr>
          <p:cNvSpPr>
            <a:spLocks xmlns:a="http://schemas.openxmlformats.org/drawingml/2006/main" noGrp="1"/>
          </p:cNvSpPr>
          <p:nvPr/>
        </p:nvSpPr>
        <p:spPr>
          <a:xfrm xmlns:a="http://schemas.openxmlformats.org/drawingml/2006/main">
            <a:off x="6305550" y="349567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2A"/>
                </a:solidFill>
                <a:latin typeface="Aptos Mono"/>
                <a:ea typeface="Aptos Mono"/>
                <a:cs typeface="Aptos Mono"/>
              </a:defRPr>
            </a:pPr>
            <a:r>
              <a:rPr sz="1050" b="1">
                <a:solidFill>
                  <a:srgbClr val="17202A"/>
                </a:solidFill>
                <a:latin typeface="Aptos Mono"/>
                <a:ea typeface="Aptos Mono"/>
                <a:cs typeface="Aptos Mono"/>
              </a:rPr>
              <a:t>memmgr_reclaim_full</a:t>
            </a:r>
          </a:p>
        </p:txBody>
      </p:sp>
      <p:sp>
        <p:nvSpPr>
          <p:cNvPr id="20" name="">
            <a:extLst xmlns:a="http://schemas.openxmlformats.org/drawingml/2006/main">
              <a:ext uri="{FF2B5EF4-FFF2-40B4-BE49-F238E27FC236}">
                <a16:creationId xmlns:a16="http://schemas.microsoft.com/office/drawing/2014/main" id="{F43FB012-3FAC-4995-9146-8E1A490C93E7}"/>
              </a:ext>
            </a:extLst>
          </p:cNvPr>
          <p:cNvSpPr>
            <a:spLocks xmlns:a="http://schemas.openxmlformats.org/drawingml/2006/main" noGrp="1"/>
          </p:cNvSpPr>
          <p:nvPr/>
        </p:nvSpPr>
        <p:spPr>
          <a:xfrm xmlns:a="http://schemas.openxmlformats.org/drawingml/2006/main">
            <a:off x="8496300" y="3495675"/>
            <a:ext cx="2286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7202A"/>
                </a:solidFill>
                <a:latin typeface="Aptos"/>
                <a:ea typeface="Aptos"/>
                <a:cs typeface="Aptos"/>
              </a:defRPr>
            </a:pPr>
            <a:r>
              <a:rPr sz="1050" b="0">
                <a:solidFill>
                  <a:srgbClr val="17202A"/>
                </a:solidFill>
                <a:latin typeface="Aptos"/>
                <a:ea typeface="Aptos"/>
                <a:cs typeface="Aptos"/>
              </a:rPr>
              <a:t>reclaim / allocator / vmpressure</a:t>
            </a:r>
          </a:p>
        </p:txBody>
      </p:sp>
      <p:sp>
        <p:nvSpPr>
          <p:cNvPr id="21" name="">
            <a:extLst xmlns:a="http://schemas.openxmlformats.org/drawingml/2006/main">
              <a:ext uri="{FF2B5EF4-FFF2-40B4-BE49-F238E27FC236}">
                <a16:creationId xmlns:a16="http://schemas.microsoft.com/office/drawing/2014/main" id="{CEA0894B-736F-4AF0-9262-0EA3F591CF59}"/>
              </a:ext>
            </a:extLst>
          </p:cNvPr>
          <p:cNvSpPr>
            <a:spLocks xmlns:a="http://schemas.openxmlformats.org/drawingml/2006/main" noGrp="1"/>
          </p:cNvSpPr>
          <p:nvPr/>
        </p:nvSpPr>
        <p:spPr>
          <a:xfrm xmlns:a="http://schemas.openxmlformats.org/drawingml/2006/main">
            <a:off x="6096000" y="3848100"/>
            <a:ext cx="5143500" cy="514350"/>
          </a:xfrm>
          <a:prstGeom xmlns:a="http://schemas.openxmlformats.org/drawingml/2006/main" prst="rect">
            <a:avLst/>
          </a:prstGeom>
          <a:solidFill xmlns:a="http://schemas.openxmlformats.org/drawingml/2006/main">
            <a:srgbClr val="FFFFFF"/>
          </a:solidFill>
          <a:ln xmlns:a="http://schemas.openxmlformats.org/drawingml/2006/main" w="6668">
            <a:solidFill>
              <a:srgbClr val="C9C2B4"/>
            </a:solidFill>
            <a:prstDash val="solid"/>
          </a:ln>
        </p:spPr>
      </p:sp>
      <p:sp>
        <p:nvSpPr>
          <p:cNvPr id="22" name="">
            <a:extLst xmlns:a="http://schemas.openxmlformats.org/drawingml/2006/main">
              <a:ext uri="{FF2B5EF4-FFF2-40B4-BE49-F238E27FC236}">
                <a16:creationId xmlns:a16="http://schemas.microsoft.com/office/drawing/2014/main" id="{1C43F218-6C3A-4CAB-97D6-3AB5DDA8F890}"/>
              </a:ext>
            </a:extLst>
          </p:cNvPr>
          <p:cNvSpPr>
            <a:spLocks xmlns:a="http://schemas.openxmlformats.org/drawingml/2006/main" noGrp="1"/>
          </p:cNvSpPr>
          <p:nvPr/>
        </p:nvSpPr>
        <p:spPr>
          <a:xfrm xmlns:a="http://schemas.openxmlformats.org/drawingml/2006/main">
            <a:off x="6305550" y="401002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2A"/>
                </a:solidFill>
                <a:latin typeface="Aptos Mono"/>
                <a:ea typeface="Aptos Mono"/>
                <a:cs typeface="Aptos Mono"/>
              </a:defRPr>
            </a:pPr>
            <a:r>
              <a:rPr sz="1050" b="1">
                <a:solidFill>
                  <a:srgbClr val="17202A"/>
                </a:solidFill>
                <a:latin typeface="Aptos Mono"/>
                <a:ea typeface="Aptos Mono"/>
                <a:cs typeface="Aptos Mono"/>
              </a:rPr>
              <a:t>sync_review</a:t>
            </a:r>
          </a:p>
        </p:txBody>
      </p:sp>
      <p:sp>
        <p:nvSpPr>
          <p:cNvPr id="23" name="">
            <a:extLst xmlns:a="http://schemas.openxmlformats.org/drawingml/2006/main">
              <a:ext uri="{FF2B5EF4-FFF2-40B4-BE49-F238E27FC236}">
                <a16:creationId xmlns:a16="http://schemas.microsoft.com/office/drawing/2014/main" id="{BBEFCED1-BB1C-44BF-A056-AC50569E4982}"/>
              </a:ext>
            </a:extLst>
          </p:cNvPr>
          <p:cNvSpPr>
            <a:spLocks xmlns:a="http://schemas.openxmlformats.org/drawingml/2006/main" noGrp="1"/>
          </p:cNvSpPr>
          <p:nvPr/>
        </p:nvSpPr>
        <p:spPr>
          <a:xfrm xmlns:a="http://schemas.openxmlformats.org/drawingml/2006/main">
            <a:off x="8496300" y="4010025"/>
            <a:ext cx="2286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7202A"/>
                </a:solidFill>
                <a:latin typeface="Aptos"/>
                <a:ea typeface="Aptos"/>
                <a:cs typeface="Aptos"/>
              </a:defRPr>
            </a:pPr>
            <a:r>
              <a:rPr sz="1050" b="0">
                <a:solidFill>
                  <a:srgbClr val="17202A"/>
                </a:solidFill>
                <a:latin typeface="Aptos"/>
                <a:ea typeface="Aptos"/>
                <a:cs typeface="Aptos"/>
              </a:rPr>
              <a:t>locks, waiters, refcount risk</a:t>
            </a:r>
          </a:p>
        </p:txBody>
      </p:sp>
      <p:sp>
        <p:nvSpPr>
          <p:cNvPr id="24" name="">
            <a:extLst xmlns:a="http://schemas.openxmlformats.org/drawingml/2006/main">
              <a:ext uri="{FF2B5EF4-FFF2-40B4-BE49-F238E27FC236}">
                <a16:creationId xmlns:a16="http://schemas.microsoft.com/office/drawing/2014/main" id="{25FCB67C-5873-4089-8FC7-7BB32C402546}"/>
              </a:ext>
            </a:extLst>
          </p:cNvPr>
          <p:cNvSpPr>
            <a:spLocks xmlns:a="http://schemas.openxmlformats.org/drawingml/2006/main" noGrp="1"/>
          </p:cNvSpPr>
          <p:nvPr/>
        </p:nvSpPr>
        <p:spPr>
          <a:xfrm xmlns:a="http://schemas.openxmlformats.org/drawingml/2006/main">
            <a:off x="6096000" y="4362450"/>
            <a:ext cx="5143500" cy="514350"/>
          </a:xfrm>
          <a:prstGeom xmlns:a="http://schemas.openxmlformats.org/drawingml/2006/main" prst="rect">
            <a:avLst/>
          </a:prstGeom>
          <a:solidFill xmlns:a="http://schemas.openxmlformats.org/drawingml/2006/main">
            <a:srgbClr val="ECE7DC"/>
          </a:solidFill>
          <a:ln xmlns:a="http://schemas.openxmlformats.org/drawingml/2006/main" w="6668">
            <a:solidFill>
              <a:srgbClr val="C9C2B4"/>
            </a:solidFill>
            <a:prstDash val="solid"/>
          </a:ln>
        </p:spPr>
      </p:sp>
      <p:sp>
        <p:nvSpPr>
          <p:cNvPr id="25" name="">
            <a:extLst xmlns:a="http://schemas.openxmlformats.org/drawingml/2006/main">
              <a:ext uri="{FF2B5EF4-FFF2-40B4-BE49-F238E27FC236}">
                <a16:creationId xmlns:a16="http://schemas.microsoft.com/office/drawing/2014/main" id="{6017D507-1A5D-41B1-AFCB-563411516F2E}"/>
              </a:ext>
            </a:extLst>
          </p:cNvPr>
          <p:cNvSpPr>
            <a:spLocks xmlns:a="http://schemas.openxmlformats.org/drawingml/2006/main" noGrp="1"/>
          </p:cNvSpPr>
          <p:nvPr/>
        </p:nvSpPr>
        <p:spPr>
          <a:xfrm xmlns:a="http://schemas.openxmlformats.org/drawingml/2006/main">
            <a:off x="6305550" y="452437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2A"/>
                </a:solidFill>
                <a:latin typeface="Aptos Mono"/>
                <a:ea typeface="Aptos Mono"/>
                <a:cs typeface="Aptos Mono"/>
              </a:defRPr>
            </a:pPr>
            <a:r>
              <a:rPr sz="1050" b="1">
                <a:solidFill>
                  <a:srgbClr val="17202A"/>
                </a:solidFill>
                <a:latin typeface="Aptos Mono"/>
                <a:ea typeface="Aptos Mono"/>
                <a:cs typeface="Aptos Mono"/>
              </a:rPr>
              <a:t>workqueue_full</a:t>
            </a:r>
          </a:p>
        </p:txBody>
      </p:sp>
      <p:sp>
        <p:nvSpPr>
          <p:cNvPr id="26" name="">
            <a:extLst xmlns:a="http://schemas.openxmlformats.org/drawingml/2006/main">
              <a:ext uri="{FF2B5EF4-FFF2-40B4-BE49-F238E27FC236}">
                <a16:creationId xmlns:a16="http://schemas.microsoft.com/office/drawing/2014/main" id="{6B541CB2-B19B-4FB4-9127-5E4A978E0B91}"/>
              </a:ext>
            </a:extLst>
          </p:cNvPr>
          <p:cNvSpPr>
            <a:spLocks xmlns:a="http://schemas.openxmlformats.org/drawingml/2006/main" noGrp="1"/>
          </p:cNvSpPr>
          <p:nvPr/>
        </p:nvSpPr>
        <p:spPr>
          <a:xfrm xmlns:a="http://schemas.openxmlformats.org/drawingml/2006/main">
            <a:off x="8496300" y="4524375"/>
            <a:ext cx="2286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7202A"/>
                </a:solidFill>
                <a:latin typeface="Aptos"/>
                <a:ea typeface="Aptos"/>
                <a:cs typeface="Aptos"/>
              </a:defRPr>
            </a:pPr>
            <a:r>
              <a:rPr sz="1050" b="0">
                <a:solidFill>
                  <a:srgbClr val="17202A"/>
                </a:solidFill>
                <a:latin typeface="Aptos"/>
                <a:ea typeface="Aptos"/>
                <a:cs typeface="Aptos"/>
              </a:rPr>
              <a:t>workqueue / thread-pool paths</a:t>
            </a:r>
          </a:p>
        </p:txBody>
      </p:sp>
      <p:sp>
        <p:nvSpPr>
          <p:cNvPr id="27" name="">
            <a:extLst xmlns:a="http://schemas.openxmlformats.org/drawingml/2006/main">
              <a:ext uri="{FF2B5EF4-FFF2-40B4-BE49-F238E27FC236}">
                <a16:creationId xmlns:a16="http://schemas.microsoft.com/office/drawing/2014/main" id="{332B6643-0546-4B7F-89FB-6B8393E2CB23}"/>
              </a:ext>
            </a:extLst>
          </p:cNvPr>
          <p:cNvSpPr>
            <a:spLocks xmlns:a="http://schemas.openxmlformats.org/drawingml/2006/main" noGrp="1"/>
          </p:cNvSpPr>
          <p:nvPr/>
        </p:nvSpPr>
        <p:spPr>
          <a:xfrm xmlns:a="http://schemas.openxmlformats.org/drawingml/2006/main">
            <a:off x="819150" y="4724400"/>
            <a:ext cx="4953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2A"/>
                </a:solidFill>
                <a:latin typeface="Aptos"/>
                <a:ea typeface="Aptos"/>
                <a:cs typeface="Aptos"/>
              </a:defRPr>
            </a:pPr>
            <a:r>
              <a:rPr sz="1275" b="1">
                <a:solidFill>
                  <a:srgbClr val="17202A"/>
                </a:solidFill>
                <a:latin typeface="Aptos"/>
                <a:ea typeface="Aptos"/>
                <a:cs typeface="Aptos"/>
              </a:rPr>
              <a:t>Operational note: .opencode/config.yaml currently sets agent prose language to zh-CN.</a:t>
            </a:r>
          </a:p>
        </p:txBody>
      </p:sp>
      <p:sp>
        <p:nvSpPr>
          <p:cNvPr id="28" name="">
            <a:extLst xmlns:a="http://schemas.openxmlformats.org/drawingml/2006/main">
              <a:ext uri="{FF2B5EF4-FFF2-40B4-BE49-F238E27FC236}">
                <a16:creationId xmlns:a16="http://schemas.microsoft.com/office/drawing/2014/main" id="{E5A3548D-0CCA-44C9-86E4-83CE0E83FF33}"/>
              </a:ext>
            </a:extLst>
          </p:cNvPr>
          <p:cNvSpPr>
            <a:spLocks xmlns:a="http://schemas.openxmlformats.org/drawingml/2006/main" noGrp="1"/>
          </p:cNvSpPr>
          <p:nvPr/>
        </p:nvSpPr>
        <p:spPr>
          <a:xfrm xmlns:a="http://schemas.openxmlformats.org/drawingml/2006/main">
            <a:off x="819150" y="5429250"/>
            <a:ext cx="9906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For iterative optimization, Auto-Iterate counts successful passes only; failed recoverable bounces do not burn the pass budget.</a:t>
            </a:r>
          </a:p>
        </p:txBody>
      </p:sp>
      <p:sp>
        <p:nvSpPr>
          <p:cNvPr id="29" name="">
            <a:extLst xmlns:a="http://schemas.openxmlformats.org/drawingml/2006/main">
              <a:ext uri="{FF2B5EF4-FFF2-40B4-BE49-F238E27FC236}">
                <a16:creationId xmlns:a16="http://schemas.microsoft.com/office/drawing/2014/main" id="{982B9B88-FE37-40A6-96A8-D6F300B58201}"/>
              </a:ext>
            </a:extLst>
          </p:cNvPr>
          <p:cNvSpPr>
            <a:spLocks xmlns:a="http://schemas.openxmlformats.org/drawingml/2006/main" noGrp="1"/>
          </p:cNvSpPr>
          <p:nvPr/>
        </p:nvSpPr>
        <p:spPr>
          <a:xfrm xmlns:a="http://schemas.openxmlformats.org/drawingml/2006/main">
            <a:off x="495300" y="6705600"/>
            <a:ext cx="457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 multi-agent harness</a:t>
            </a:r>
          </a:p>
        </p:txBody>
      </p:sp>
      <p:sp>
        <p:nvSpPr>
          <p:cNvPr id="30" name="">
            <a:extLst xmlns:a="http://schemas.openxmlformats.org/drawingml/2006/main">
              <a:ext uri="{FF2B5EF4-FFF2-40B4-BE49-F238E27FC236}">
                <a16:creationId xmlns:a16="http://schemas.microsoft.com/office/drawing/2014/main" id="{C0171B18-1C21-48F2-93B4-889DDE8D3432}"/>
              </a:ext>
            </a:extLst>
          </p:cNvPr>
          <p:cNvSpPr>
            <a:spLocks xmlns:a="http://schemas.openxmlformats.org/drawingml/2006/main" noGrp="1"/>
          </p:cNvSpPr>
          <p:nvPr/>
        </p:nvSpPr>
        <p:spPr>
          <a:xfrm xmlns:a="http://schemas.openxmlformats.org/drawingml/2006/main">
            <a:off x="10706100" y="6705600"/>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8707E"/>
                </a:solidFill>
                <a:latin typeface="Aptos"/>
                <a:ea typeface="Aptos"/>
                <a:cs typeface="Aptos"/>
              </a:defRPr>
            </a:pPr>
            <a:r>
              <a:rPr sz="713" b="0">
                <a:solidFill>
                  <a:srgbClr val="68707E"/>
                </a:solidFill>
                <a:latin typeface="Aptos"/>
                <a:ea typeface="Aptos"/>
                <a:cs typeface="Aptos"/>
              </a:rPr>
              <a:t>12 / 14</a:t>
            </a:r>
          </a:p>
        </p:txBody>
      </p:sp>
    </p:spTree>
    <p:extLst>
      <p:ext uri="{BB962C8B-B14F-4D97-AF65-F5344CB8AC3E}">
        <p14:creationId xmlns:p14="http://schemas.microsoft.com/office/powerpoint/2010/main" val="131675235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DFF284A4-6018-49D4-8EAC-5C28BC2D20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E"/>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78B1FF1A-F538-41BB-B69D-4ED54D1785F0}"/>
              </a:ext>
            </a:extLst>
          </p:cNvPr>
          <p:cNvSpPr>
            <a:spLocks xmlns:a="http://schemas.openxmlformats.org/drawingml/2006/main" noGrp="1"/>
          </p:cNvSpPr>
          <p:nvPr/>
        </p:nvSpPr>
        <p:spPr>
          <a:xfrm xmlns:a="http://schemas.openxmlformats.org/drawingml/2006/main">
            <a:off x="495300" y="419100"/>
            <a:ext cx="304800" cy="381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0EA1E607-EA11-4F03-8B43-30FAC8A12D32}"/>
              </a:ext>
            </a:extLst>
          </p:cNvPr>
          <p:cNvSpPr>
            <a:spLocks xmlns:a="http://schemas.openxmlformats.org/drawingml/2006/main" noGrp="1"/>
          </p:cNvSpPr>
          <p:nvPr/>
        </p:nvSpPr>
        <p:spPr>
          <a:xfrm xmlns:a="http://schemas.openxmlformats.org/drawingml/2006/main">
            <a:off x="895350" y="285750"/>
            <a:ext cx="495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E7C7B"/>
                </a:solidFill>
                <a:latin typeface="Aptos"/>
                <a:ea typeface="Aptos"/>
                <a:cs typeface="Aptos"/>
              </a:defRPr>
            </a:pPr>
            <a:r>
              <a:rPr sz="975" b="1">
                <a:solidFill>
                  <a:srgbClr val="0E7C7B"/>
                </a:solidFill>
                <a:latin typeface="Aptos"/>
                <a:ea typeface="Aptos"/>
                <a:cs typeface="Aptos"/>
              </a:rPr>
              <a:t>IMPLEMENTATION MAP</a:t>
            </a:r>
          </a:p>
        </p:txBody>
      </p:sp>
      <p:sp>
        <p:nvSpPr>
          <p:cNvPr id="4" name="">
            <a:extLst xmlns:a="http://schemas.openxmlformats.org/drawingml/2006/main">
              <a:ext uri="{FF2B5EF4-FFF2-40B4-BE49-F238E27FC236}">
                <a16:creationId xmlns:a16="http://schemas.microsoft.com/office/drawing/2014/main" id="{A184F837-0C5E-4AB0-B8D4-59A0FDDB07D2}"/>
              </a:ext>
            </a:extLst>
          </p:cNvPr>
          <p:cNvSpPr>
            <a:spLocks xmlns:a="http://schemas.openxmlformats.org/drawingml/2006/main" noGrp="1"/>
          </p:cNvSpPr>
          <p:nvPr/>
        </p:nvSpPr>
        <p:spPr>
          <a:xfrm xmlns:a="http://schemas.openxmlformats.org/drawingml/2006/main">
            <a:off x="495300" y="666750"/>
            <a:ext cx="8382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.opencode is a filesystem-backed harness, not a hidden runtime.</a:t>
            </a:r>
          </a:p>
        </p:txBody>
      </p:sp>
      <p:sp>
        <p:nvSpPr>
          <p:cNvPr id="5" name="">
            <a:extLst xmlns:a="http://schemas.openxmlformats.org/drawingml/2006/main">
              <a:ext uri="{FF2B5EF4-FFF2-40B4-BE49-F238E27FC236}">
                <a16:creationId xmlns:a16="http://schemas.microsoft.com/office/drawing/2014/main" id="{D7647846-70F5-465C-8BA0-99690D6CE28F}"/>
              </a:ext>
            </a:extLst>
          </p:cNvPr>
          <p:cNvSpPr>
            <a:spLocks xmlns:a="http://schemas.openxmlformats.org/drawingml/2006/main" noGrp="1"/>
          </p:cNvSpPr>
          <p:nvPr/>
        </p:nvSpPr>
        <p:spPr>
          <a:xfrm xmlns:a="http://schemas.openxmlformats.org/drawingml/2006/main">
            <a:off x="495300" y="1447800"/>
            <a:ext cx="11201400" cy="14288"/>
          </a:xfrm>
          <a:prstGeom xmlns:a="http://schemas.openxmlformats.org/drawingml/2006/main" prst="rect">
            <a:avLst/>
          </a:prstGeom>
          <a:solidFill xmlns:a="http://schemas.openxmlformats.org/drawingml/2006/main">
            <a:srgbClr val="C9C2B4"/>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B0A1401-7FEB-4A2B-BAEA-F3700D3C8488}"/>
              </a:ext>
            </a:extLst>
          </p:cNvPr>
          <p:cNvSpPr>
            <a:spLocks xmlns:a="http://schemas.openxmlformats.org/drawingml/2006/main" noGrp="1"/>
          </p:cNvSpPr>
          <p:nvPr/>
        </p:nvSpPr>
        <p:spPr>
          <a:xfrm xmlns:a="http://schemas.openxmlformats.org/drawingml/2006/main">
            <a:off x="495300" y="6496050"/>
            <a:ext cx="8001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.opencode/README.md; repository tree</a:t>
            </a:r>
          </a:p>
        </p:txBody>
      </p:sp>
      <p:sp>
        <p:nvSpPr>
          <p:cNvPr id="7" name="">
            <a:extLst xmlns:a="http://schemas.openxmlformats.org/drawingml/2006/main">
              <a:ext uri="{FF2B5EF4-FFF2-40B4-BE49-F238E27FC236}">
                <a16:creationId xmlns:a16="http://schemas.microsoft.com/office/drawing/2014/main" id="{C28BF88D-4560-40EA-B274-A007E52DEA73}"/>
              </a:ext>
            </a:extLst>
          </p:cNvPr>
          <p:cNvSpPr>
            <a:spLocks xmlns:a="http://schemas.openxmlformats.org/drawingml/2006/main" noGrp="1"/>
          </p:cNvSpPr>
          <p:nvPr/>
        </p:nvSpPr>
        <p:spPr>
          <a:xfrm xmlns:a="http://schemas.openxmlformats.org/drawingml/2006/main">
            <a:off x="723900" y="1790700"/>
            <a:ext cx="4838700" cy="590550"/>
          </a:xfrm>
          <a:prstGeom xmlns:a="http://schemas.openxmlformats.org/drawingml/2006/main" prst="rect">
            <a:avLst/>
          </a:prstGeom>
          <a:solidFill xmlns:a="http://schemas.openxmlformats.org/drawingml/2006/main">
            <a:srgbClr val="ECE7DC"/>
          </a:solidFill>
          <a:ln xmlns:a="http://schemas.openxmlformats.org/drawingml/2006/main" w="7620">
            <a:solidFill>
              <a:srgbClr val="C9C2B4"/>
            </a:solidFill>
            <a:prstDash val="solid"/>
          </a:ln>
        </p:spPr>
      </p:sp>
      <p:sp>
        <p:nvSpPr>
          <p:cNvPr id="8" name="">
            <a:extLst xmlns:a="http://schemas.openxmlformats.org/drawingml/2006/main">
              <a:ext uri="{FF2B5EF4-FFF2-40B4-BE49-F238E27FC236}">
                <a16:creationId xmlns:a16="http://schemas.microsoft.com/office/drawing/2014/main" id="{1FA67ADA-E469-48FC-8C94-CD9D2A173E48}"/>
              </a:ext>
            </a:extLst>
          </p:cNvPr>
          <p:cNvSpPr>
            <a:spLocks xmlns:a="http://schemas.openxmlformats.org/drawingml/2006/main" noGrp="1"/>
          </p:cNvSpPr>
          <p:nvPr/>
        </p:nvSpPr>
        <p:spPr>
          <a:xfrm xmlns:a="http://schemas.openxmlformats.org/drawingml/2006/main">
            <a:off x="723900" y="1790700"/>
            <a:ext cx="95250" cy="59055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BDF9CAE-8AF4-43A4-AA89-E565A117CDDB}"/>
              </a:ext>
            </a:extLst>
          </p:cNvPr>
          <p:cNvSpPr>
            <a:spLocks xmlns:a="http://schemas.openxmlformats.org/drawingml/2006/main" noGrp="1"/>
          </p:cNvSpPr>
          <p:nvPr/>
        </p:nvSpPr>
        <p:spPr>
          <a:xfrm xmlns:a="http://schemas.openxmlformats.org/drawingml/2006/main">
            <a:off x="952500" y="1905000"/>
            <a:ext cx="2819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Mono"/>
                <a:ea typeface="Aptos Mono"/>
                <a:cs typeface="Aptos Mono"/>
              </a:defRPr>
            </a:pPr>
            <a:r>
              <a:rPr sz="1125" b="1">
                <a:solidFill>
                  <a:srgbClr val="17202A"/>
                </a:solidFill>
                <a:latin typeface="Aptos Mono"/>
                <a:ea typeface="Aptos Mono"/>
                <a:cs typeface="Aptos Mono"/>
              </a:rPr>
              <a:t>.opencode/commands/</a:t>
            </a:r>
          </a:p>
        </p:txBody>
      </p:sp>
      <p:sp>
        <p:nvSpPr>
          <p:cNvPr id="10" name="">
            <a:extLst xmlns:a="http://schemas.openxmlformats.org/drawingml/2006/main">
              <a:ext uri="{FF2B5EF4-FFF2-40B4-BE49-F238E27FC236}">
                <a16:creationId xmlns:a16="http://schemas.microsoft.com/office/drawing/2014/main" id="{56AF4A51-0655-46CB-829D-587A1DCD4256}"/>
              </a:ext>
            </a:extLst>
          </p:cNvPr>
          <p:cNvSpPr>
            <a:spLocks xmlns:a="http://schemas.openxmlformats.org/drawingml/2006/main" noGrp="1"/>
          </p:cNvSpPr>
          <p:nvPr/>
        </p:nvSpPr>
        <p:spPr>
          <a:xfrm xmlns:a="http://schemas.openxmlformats.org/drawingml/2006/main">
            <a:off x="952500" y="2133600"/>
            <a:ext cx="3905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8707E"/>
                </a:solidFill>
                <a:latin typeface="Aptos"/>
                <a:ea typeface="Aptos"/>
                <a:cs typeface="Aptos"/>
              </a:defRPr>
            </a:pPr>
            <a:r>
              <a:rPr sz="1013" b="0">
                <a:solidFill>
                  <a:srgbClr val="68707E"/>
                </a:solidFill>
                <a:latin typeface="Aptos"/>
                <a:ea typeface="Aptos"/>
                <a:cs typeface="Aptos"/>
              </a:rPr>
              <a:t>slash-command launchers</a:t>
            </a:r>
          </a:p>
        </p:txBody>
      </p:sp>
      <p:sp>
        <p:nvSpPr>
          <p:cNvPr id="11" name="">
            <a:extLst xmlns:a="http://schemas.openxmlformats.org/drawingml/2006/main">
              <a:ext uri="{FF2B5EF4-FFF2-40B4-BE49-F238E27FC236}">
                <a16:creationId xmlns:a16="http://schemas.microsoft.com/office/drawing/2014/main" id="{66AB3795-E6B6-4072-A00E-5435E8A9D0A5}"/>
              </a:ext>
            </a:extLst>
          </p:cNvPr>
          <p:cNvSpPr>
            <a:spLocks xmlns:a="http://schemas.openxmlformats.org/drawingml/2006/main" noGrp="1"/>
          </p:cNvSpPr>
          <p:nvPr/>
        </p:nvSpPr>
        <p:spPr>
          <a:xfrm xmlns:a="http://schemas.openxmlformats.org/drawingml/2006/main">
            <a:off x="723900" y="2628900"/>
            <a:ext cx="4838700" cy="590550"/>
          </a:xfrm>
          <a:prstGeom xmlns:a="http://schemas.openxmlformats.org/drawingml/2006/main" prst="rect">
            <a:avLst/>
          </a:prstGeom>
          <a:solidFill xmlns:a="http://schemas.openxmlformats.org/drawingml/2006/main">
            <a:srgbClr val="FFFFFF"/>
          </a:solidFill>
          <a:ln xmlns:a="http://schemas.openxmlformats.org/drawingml/2006/main" w="7620">
            <a:solidFill>
              <a:srgbClr val="C9C2B4"/>
            </a:solidFill>
            <a:prstDash val="solid"/>
          </a:ln>
        </p:spPr>
      </p:sp>
      <p:sp>
        <p:nvSpPr>
          <p:cNvPr id="12" name="">
            <a:extLst xmlns:a="http://schemas.openxmlformats.org/drawingml/2006/main">
              <a:ext uri="{FF2B5EF4-FFF2-40B4-BE49-F238E27FC236}">
                <a16:creationId xmlns:a16="http://schemas.microsoft.com/office/drawing/2014/main" id="{D41E9259-0F16-467B-BEB3-6F6050B75E5F}"/>
              </a:ext>
            </a:extLst>
          </p:cNvPr>
          <p:cNvSpPr>
            <a:spLocks xmlns:a="http://schemas.openxmlformats.org/drawingml/2006/main" noGrp="1"/>
          </p:cNvSpPr>
          <p:nvPr/>
        </p:nvSpPr>
        <p:spPr>
          <a:xfrm xmlns:a="http://schemas.openxmlformats.org/drawingml/2006/main">
            <a:off x="723900" y="2628900"/>
            <a:ext cx="95250" cy="59055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BBAAC694-6105-49DF-80AB-DBAA5DD88E62}"/>
              </a:ext>
            </a:extLst>
          </p:cNvPr>
          <p:cNvSpPr>
            <a:spLocks xmlns:a="http://schemas.openxmlformats.org/drawingml/2006/main" noGrp="1"/>
          </p:cNvSpPr>
          <p:nvPr/>
        </p:nvSpPr>
        <p:spPr>
          <a:xfrm xmlns:a="http://schemas.openxmlformats.org/drawingml/2006/main">
            <a:off x="952500" y="2743200"/>
            <a:ext cx="2819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Mono"/>
                <a:ea typeface="Aptos Mono"/>
                <a:cs typeface="Aptos Mono"/>
              </a:defRPr>
            </a:pPr>
            <a:r>
              <a:rPr sz="1125" b="1">
                <a:solidFill>
                  <a:srgbClr val="17202A"/>
                </a:solidFill>
                <a:latin typeface="Aptos Mono"/>
                <a:ea typeface="Aptos Mono"/>
                <a:cs typeface="Aptos Mono"/>
              </a:rPr>
              <a:t>.opencode/pipelines/</a:t>
            </a:r>
          </a:p>
        </p:txBody>
      </p:sp>
      <p:sp>
        <p:nvSpPr>
          <p:cNvPr id="14" name="">
            <a:extLst xmlns:a="http://schemas.openxmlformats.org/drawingml/2006/main">
              <a:ext uri="{FF2B5EF4-FFF2-40B4-BE49-F238E27FC236}">
                <a16:creationId xmlns:a16="http://schemas.microsoft.com/office/drawing/2014/main" id="{5DEA6743-D357-4ABC-B9ED-1380E4CBF0DC}"/>
              </a:ext>
            </a:extLst>
          </p:cNvPr>
          <p:cNvSpPr>
            <a:spLocks xmlns:a="http://schemas.openxmlformats.org/drawingml/2006/main" noGrp="1"/>
          </p:cNvSpPr>
          <p:nvPr/>
        </p:nvSpPr>
        <p:spPr>
          <a:xfrm xmlns:a="http://schemas.openxmlformats.org/drawingml/2006/main">
            <a:off x="952500" y="2971800"/>
            <a:ext cx="3905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8707E"/>
                </a:solidFill>
                <a:latin typeface="Aptos"/>
                <a:ea typeface="Aptos"/>
                <a:cs typeface="Aptos"/>
              </a:defRPr>
            </a:pPr>
            <a:r>
              <a:rPr sz="1013" b="0">
                <a:solidFill>
                  <a:srgbClr val="68707E"/>
                </a:solidFill>
                <a:latin typeface="Aptos"/>
                <a:ea typeface="Aptos"/>
                <a:cs typeface="Aptos"/>
              </a:rPr>
              <a:t>profile cards and presets</a:t>
            </a:r>
          </a:p>
        </p:txBody>
      </p:sp>
      <p:sp>
        <p:nvSpPr>
          <p:cNvPr id="15" name="">
            <a:extLst xmlns:a="http://schemas.openxmlformats.org/drawingml/2006/main">
              <a:ext uri="{FF2B5EF4-FFF2-40B4-BE49-F238E27FC236}">
                <a16:creationId xmlns:a16="http://schemas.microsoft.com/office/drawing/2014/main" id="{EA571BFF-0D38-411D-84DE-29F315866C0D}"/>
              </a:ext>
            </a:extLst>
          </p:cNvPr>
          <p:cNvSpPr>
            <a:spLocks xmlns:a="http://schemas.openxmlformats.org/drawingml/2006/main" noGrp="1"/>
          </p:cNvSpPr>
          <p:nvPr/>
        </p:nvSpPr>
        <p:spPr>
          <a:xfrm xmlns:a="http://schemas.openxmlformats.org/drawingml/2006/main">
            <a:off x="723900" y="3467100"/>
            <a:ext cx="4838700" cy="590550"/>
          </a:xfrm>
          <a:prstGeom xmlns:a="http://schemas.openxmlformats.org/drawingml/2006/main" prst="rect">
            <a:avLst/>
          </a:prstGeom>
          <a:solidFill xmlns:a="http://schemas.openxmlformats.org/drawingml/2006/main">
            <a:srgbClr val="ECE7DC"/>
          </a:solidFill>
          <a:ln xmlns:a="http://schemas.openxmlformats.org/drawingml/2006/main" w="7620">
            <a:solidFill>
              <a:srgbClr val="C9C2B4"/>
            </a:solidFill>
            <a:prstDash val="solid"/>
          </a:ln>
        </p:spPr>
      </p:sp>
      <p:sp>
        <p:nvSpPr>
          <p:cNvPr id="16" name="">
            <a:extLst xmlns:a="http://schemas.openxmlformats.org/drawingml/2006/main">
              <a:ext uri="{FF2B5EF4-FFF2-40B4-BE49-F238E27FC236}">
                <a16:creationId xmlns:a16="http://schemas.microsoft.com/office/drawing/2014/main" id="{105AF3D2-75D1-46D8-8F9B-5FC2B82A62A3}"/>
              </a:ext>
            </a:extLst>
          </p:cNvPr>
          <p:cNvSpPr>
            <a:spLocks xmlns:a="http://schemas.openxmlformats.org/drawingml/2006/main" noGrp="1"/>
          </p:cNvSpPr>
          <p:nvPr/>
        </p:nvSpPr>
        <p:spPr>
          <a:xfrm xmlns:a="http://schemas.openxmlformats.org/drawingml/2006/main">
            <a:off x="723900" y="3467100"/>
            <a:ext cx="95250" cy="59055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5B3E2354-ED3A-4BD9-A8D2-BDFE6EBF3015}"/>
              </a:ext>
            </a:extLst>
          </p:cNvPr>
          <p:cNvSpPr>
            <a:spLocks xmlns:a="http://schemas.openxmlformats.org/drawingml/2006/main" noGrp="1"/>
          </p:cNvSpPr>
          <p:nvPr/>
        </p:nvSpPr>
        <p:spPr>
          <a:xfrm xmlns:a="http://schemas.openxmlformats.org/drawingml/2006/main">
            <a:off x="952500" y="3581400"/>
            <a:ext cx="2819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Mono"/>
                <a:ea typeface="Aptos Mono"/>
                <a:cs typeface="Aptos Mono"/>
              </a:defRPr>
            </a:pPr>
            <a:r>
              <a:rPr sz="1125" b="1">
                <a:solidFill>
                  <a:srgbClr val="17202A"/>
                </a:solidFill>
                <a:latin typeface="Aptos Mono"/>
                <a:ea typeface="Aptos Mono"/>
                <a:cs typeface="Aptos Mono"/>
              </a:rPr>
              <a:t>.opencode/agents/</a:t>
            </a:r>
          </a:p>
        </p:txBody>
      </p:sp>
      <p:sp>
        <p:nvSpPr>
          <p:cNvPr id="18" name="">
            <a:extLst xmlns:a="http://schemas.openxmlformats.org/drawingml/2006/main">
              <a:ext uri="{FF2B5EF4-FFF2-40B4-BE49-F238E27FC236}">
                <a16:creationId xmlns:a16="http://schemas.microsoft.com/office/drawing/2014/main" id="{1D3F748E-C336-431D-9111-1B9FF8395F8B}"/>
              </a:ext>
            </a:extLst>
          </p:cNvPr>
          <p:cNvSpPr>
            <a:spLocks xmlns:a="http://schemas.openxmlformats.org/drawingml/2006/main" noGrp="1"/>
          </p:cNvSpPr>
          <p:nvPr/>
        </p:nvSpPr>
        <p:spPr>
          <a:xfrm xmlns:a="http://schemas.openxmlformats.org/drawingml/2006/main">
            <a:off x="952500" y="3810000"/>
            <a:ext cx="3905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8707E"/>
                </a:solidFill>
                <a:latin typeface="Aptos"/>
                <a:ea typeface="Aptos"/>
                <a:cs typeface="Aptos"/>
              </a:defRPr>
            </a:pPr>
            <a:r>
              <a:rPr sz="1013" b="0">
                <a:solidFill>
                  <a:srgbClr val="68707E"/>
                </a:solidFill>
                <a:latin typeface="Aptos"/>
                <a:ea typeface="Aptos"/>
                <a:cs typeface="Aptos"/>
              </a:rPr>
              <a:t>manager, specialists, reviewers, coder, tester</a:t>
            </a:r>
          </a:p>
        </p:txBody>
      </p:sp>
      <p:sp>
        <p:nvSpPr>
          <p:cNvPr id="19" name="">
            <a:extLst xmlns:a="http://schemas.openxmlformats.org/drawingml/2006/main">
              <a:ext uri="{FF2B5EF4-FFF2-40B4-BE49-F238E27FC236}">
                <a16:creationId xmlns:a16="http://schemas.microsoft.com/office/drawing/2014/main" id="{5B8B3358-B8D4-4F16-AD31-68C49E681D8D}"/>
              </a:ext>
            </a:extLst>
          </p:cNvPr>
          <p:cNvSpPr>
            <a:spLocks xmlns:a="http://schemas.openxmlformats.org/drawingml/2006/main" noGrp="1"/>
          </p:cNvSpPr>
          <p:nvPr/>
        </p:nvSpPr>
        <p:spPr>
          <a:xfrm xmlns:a="http://schemas.openxmlformats.org/drawingml/2006/main">
            <a:off x="723900" y="4305300"/>
            <a:ext cx="4838700" cy="590550"/>
          </a:xfrm>
          <a:prstGeom xmlns:a="http://schemas.openxmlformats.org/drawingml/2006/main" prst="rect">
            <a:avLst/>
          </a:prstGeom>
          <a:solidFill xmlns:a="http://schemas.openxmlformats.org/drawingml/2006/main">
            <a:srgbClr val="FFFFFF"/>
          </a:solidFill>
          <a:ln xmlns:a="http://schemas.openxmlformats.org/drawingml/2006/main" w="7620">
            <a:solidFill>
              <a:srgbClr val="C9C2B4"/>
            </a:solidFill>
            <a:prstDash val="solid"/>
          </a:ln>
        </p:spPr>
      </p:sp>
      <p:sp>
        <p:nvSpPr>
          <p:cNvPr id="20" name="">
            <a:extLst xmlns:a="http://schemas.openxmlformats.org/drawingml/2006/main">
              <a:ext uri="{FF2B5EF4-FFF2-40B4-BE49-F238E27FC236}">
                <a16:creationId xmlns:a16="http://schemas.microsoft.com/office/drawing/2014/main" id="{60040091-D6AB-4D35-A15A-9CF9D0B3E2F8}"/>
              </a:ext>
            </a:extLst>
          </p:cNvPr>
          <p:cNvSpPr>
            <a:spLocks xmlns:a="http://schemas.openxmlformats.org/drawingml/2006/main" noGrp="1"/>
          </p:cNvSpPr>
          <p:nvPr/>
        </p:nvSpPr>
        <p:spPr>
          <a:xfrm xmlns:a="http://schemas.openxmlformats.org/drawingml/2006/main">
            <a:off x="723900" y="4305300"/>
            <a:ext cx="95250" cy="59055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2DBD15B8-BF43-40FC-A38F-699B34557329}"/>
              </a:ext>
            </a:extLst>
          </p:cNvPr>
          <p:cNvSpPr>
            <a:spLocks xmlns:a="http://schemas.openxmlformats.org/drawingml/2006/main" noGrp="1"/>
          </p:cNvSpPr>
          <p:nvPr/>
        </p:nvSpPr>
        <p:spPr>
          <a:xfrm xmlns:a="http://schemas.openxmlformats.org/drawingml/2006/main">
            <a:off x="952500" y="4419600"/>
            <a:ext cx="2819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Mono"/>
                <a:ea typeface="Aptos Mono"/>
                <a:cs typeface="Aptos Mono"/>
              </a:defRPr>
            </a:pPr>
            <a:r>
              <a:rPr sz="1125" b="1">
                <a:solidFill>
                  <a:srgbClr val="17202A"/>
                </a:solidFill>
                <a:latin typeface="Aptos Mono"/>
                <a:ea typeface="Aptos Mono"/>
                <a:cs typeface="Aptos Mono"/>
              </a:rPr>
              <a:t>.opencode/skills/</a:t>
            </a:r>
          </a:p>
        </p:txBody>
      </p:sp>
      <p:sp>
        <p:nvSpPr>
          <p:cNvPr id="22" name="">
            <a:extLst xmlns:a="http://schemas.openxmlformats.org/drawingml/2006/main">
              <a:ext uri="{FF2B5EF4-FFF2-40B4-BE49-F238E27FC236}">
                <a16:creationId xmlns:a16="http://schemas.microsoft.com/office/drawing/2014/main" id="{A2725313-BEB8-46B0-8F75-B9F5E40E0174}"/>
              </a:ext>
            </a:extLst>
          </p:cNvPr>
          <p:cNvSpPr>
            <a:spLocks xmlns:a="http://schemas.openxmlformats.org/drawingml/2006/main" noGrp="1"/>
          </p:cNvSpPr>
          <p:nvPr/>
        </p:nvSpPr>
        <p:spPr>
          <a:xfrm xmlns:a="http://schemas.openxmlformats.org/drawingml/2006/main">
            <a:off x="952500" y="4648200"/>
            <a:ext cx="3905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8707E"/>
                </a:solidFill>
                <a:latin typeface="Aptos"/>
                <a:ea typeface="Aptos"/>
                <a:cs typeface="Aptos"/>
              </a:defRPr>
            </a:pPr>
            <a:r>
              <a:rPr sz="1013" b="0">
                <a:solidFill>
                  <a:srgbClr val="68707E"/>
                </a:solidFill>
                <a:latin typeface="Aptos"/>
                <a:ea typeface="Aptos"/>
                <a:cs typeface="Aptos"/>
              </a:rPr>
              <a:t>shared policy and operational protocols</a:t>
            </a:r>
          </a:p>
        </p:txBody>
      </p:sp>
      <p:sp>
        <p:nvSpPr>
          <p:cNvPr id="23" name="">
            <a:extLst xmlns:a="http://schemas.openxmlformats.org/drawingml/2006/main">
              <a:ext uri="{FF2B5EF4-FFF2-40B4-BE49-F238E27FC236}">
                <a16:creationId xmlns:a16="http://schemas.microsoft.com/office/drawing/2014/main" id="{D89791E5-C810-4C3F-83F0-2A9A0B9D7F79}"/>
              </a:ext>
            </a:extLst>
          </p:cNvPr>
          <p:cNvSpPr>
            <a:spLocks xmlns:a="http://schemas.openxmlformats.org/drawingml/2006/main" noGrp="1"/>
          </p:cNvSpPr>
          <p:nvPr/>
        </p:nvSpPr>
        <p:spPr>
          <a:xfrm xmlns:a="http://schemas.openxmlformats.org/drawingml/2006/main">
            <a:off x="6191250" y="1790700"/>
            <a:ext cx="4838700" cy="590550"/>
          </a:xfrm>
          <a:prstGeom xmlns:a="http://schemas.openxmlformats.org/drawingml/2006/main" prst="rect">
            <a:avLst/>
          </a:prstGeom>
          <a:solidFill xmlns:a="http://schemas.openxmlformats.org/drawingml/2006/main">
            <a:srgbClr val="ECE7DC"/>
          </a:solidFill>
          <a:ln xmlns:a="http://schemas.openxmlformats.org/drawingml/2006/main" w="7620">
            <a:solidFill>
              <a:srgbClr val="C9C2B4"/>
            </a:solidFill>
            <a:prstDash val="solid"/>
          </a:ln>
        </p:spPr>
      </p:sp>
      <p:sp>
        <p:nvSpPr>
          <p:cNvPr id="24" name="">
            <a:extLst xmlns:a="http://schemas.openxmlformats.org/drawingml/2006/main">
              <a:ext uri="{FF2B5EF4-FFF2-40B4-BE49-F238E27FC236}">
                <a16:creationId xmlns:a16="http://schemas.microsoft.com/office/drawing/2014/main" id="{412627BF-844D-4622-B498-B63392B0F3D2}"/>
              </a:ext>
            </a:extLst>
          </p:cNvPr>
          <p:cNvSpPr>
            <a:spLocks xmlns:a="http://schemas.openxmlformats.org/drawingml/2006/main" noGrp="1"/>
          </p:cNvSpPr>
          <p:nvPr/>
        </p:nvSpPr>
        <p:spPr>
          <a:xfrm xmlns:a="http://schemas.openxmlformats.org/drawingml/2006/main">
            <a:off x="6191250" y="1790700"/>
            <a:ext cx="95250" cy="590550"/>
          </a:xfrm>
          <a:prstGeom xmlns:a="http://schemas.openxmlformats.org/drawingml/2006/main" prst="rect">
            <a:avLst/>
          </a:prstGeom>
          <a:solidFill xmlns:a="http://schemas.openxmlformats.org/drawingml/2006/main">
            <a:srgbClr val="3B4AA4"/>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0B84247A-99BF-49DE-B84B-DE3A21D2EC30}"/>
              </a:ext>
            </a:extLst>
          </p:cNvPr>
          <p:cNvSpPr>
            <a:spLocks xmlns:a="http://schemas.openxmlformats.org/drawingml/2006/main" noGrp="1"/>
          </p:cNvSpPr>
          <p:nvPr/>
        </p:nvSpPr>
        <p:spPr>
          <a:xfrm xmlns:a="http://schemas.openxmlformats.org/drawingml/2006/main">
            <a:off x="6419850" y="1905000"/>
            <a:ext cx="2819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Mono"/>
                <a:ea typeface="Aptos Mono"/>
                <a:cs typeface="Aptos Mono"/>
              </a:defRPr>
            </a:pPr>
            <a:r>
              <a:rPr sz="1125" b="1">
                <a:solidFill>
                  <a:srgbClr val="17202A"/>
                </a:solidFill>
                <a:latin typeface="Aptos Mono"/>
                <a:ea typeface="Aptos Mono"/>
                <a:cs typeface="Aptos Mono"/>
              </a:rPr>
              <a:t>.opencode/docs/</a:t>
            </a:r>
          </a:p>
        </p:txBody>
      </p:sp>
      <p:sp>
        <p:nvSpPr>
          <p:cNvPr id="26" name="">
            <a:extLst xmlns:a="http://schemas.openxmlformats.org/drawingml/2006/main">
              <a:ext uri="{FF2B5EF4-FFF2-40B4-BE49-F238E27FC236}">
                <a16:creationId xmlns:a16="http://schemas.microsoft.com/office/drawing/2014/main" id="{D7B42F4F-1C00-4D39-B4C3-013C01A4F694}"/>
              </a:ext>
            </a:extLst>
          </p:cNvPr>
          <p:cNvSpPr>
            <a:spLocks xmlns:a="http://schemas.openxmlformats.org/drawingml/2006/main" noGrp="1"/>
          </p:cNvSpPr>
          <p:nvPr/>
        </p:nvSpPr>
        <p:spPr>
          <a:xfrm xmlns:a="http://schemas.openxmlformats.org/drawingml/2006/main">
            <a:off x="6419850" y="2133600"/>
            <a:ext cx="3905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8707E"/>
                </a:solidFill>
                <a:latin typeface="Aptos"/>
                <a:ea typeface="Aptos"/>
                <a:cs typeface="Aptos"/>
              </a:defRPr>
            </a:pPr>
            <a:r>
              <a:rPr sz="1013" b="0">
                <a:solidFill>
                  <a:srgbClr val="68707E"/>
                </a:solidFill>
                <a:latin typeface="Aptos"/>
                <a:ea typeface="Aptos"/>
                <a:cs typeface="Aptos"/>
              </a:rPr>
              <a:t>design notes and bootstrap docs</a:t>
            </a:r>
          </a:p>
        </p:txBody>
      </p:sp>
      <p:sp>
        <p:nvSpPr>
          <p:cNvPr id="27" name="">
            <a:extLst xmlns:a="http://schemas.openxmlformats.org/drawingml/2006/main">
              <a:ext uri="{FF2B5EF4-FFF2-40B4-BE49-F238E27FC236}">
                <a16:creationId xmlns:a16="http://schemas.microsoft.com/office/drawing/2014/main" id="{64361718-7C46-4BB4-856F-71ECF7E0E7E8}"/>
              </a:ext>
            </a:extLst>
          </p:cNvPr>
          <p:cNvSpPr>
            <a:spLocks xmlns:a="http://schemas.openxmlformats.org/drawingml/2006/main" noGrp="1"/>
          </p:cNvSpPr>
          <p:nvPr/>
        </p:nvSpPr>
        <p:spPr>
          <a:xfrm xmlns:a="http://schemas.openxmlformats.org/drawingml/2006/main">
            <a:off x="6191250" y="2628900"/>
            <a:ext cx="4838700" cy="590550"/>
          </a:xfrm>
          <a:prstGeom xmlns:a="http://schemas.openxmlformats.org/drawingml/2006/main" prst="rect">
            <a:avLst/>
          </a:prstGeom>
          <a:solidFill xmlns:a="http://schemas.openxmlformats.org/drawingml/2006/main">
            <a:srgbClr val="FFFFFF"/>
          </a:solidFill>
          <a:ln xmlns:a="http://schemas.openxmlformats.org/drawingml/2006/main" w="7620">
            <a:solidFill>
              <a:srgbClr val="C9C2B4"/>
            </a:solidFill>
            <a:prstDash val="solid"/>
          </a:ln>
        </p:spPr>
      </p:sp>
      <p:sp>
        <p:nvSpPr>
          <p:cNvPr id="28" name="">
            <a:extLst xmlns:a="http://schemas.openxmlformats.org/drawingml/2006/main">
              <a:ext uri="{FF2B5EF4-FFF2-40B4-BE49-F238E27FC236}">
                <a16:creationId xmlns:a16="http://schemas.microsoft.com/office/drawing/2014/main" id="{E8F98C66-BBFC-4590-8B82-026D0366808F}"/>
              </a:ext>
            </a:extLst>
          </p:cNvPr>
          <p:cNvSpPr>
            <a:spLocks xmlns:a="http://schemas.openxmlformats.org/drawingml/2006/main" noGrp="1"/>
          </p:cNvSpPr>
          <p:nvPr/>
        </p:nvSpPr>
        <p:spPr>
          <a:xfrm xmlns:a="http://schemas.openxmlformats.org/drawingml/2006/main">
            <a:off x="6191250" y="2628900"/>
            <a:ext cx="95250" cy="590550"/>
          </a:xfrm>
          <a:prstGeom xmlns:a="http://schemas.openxmlformats.org/drawingml/2006/main" prst="rect">
            <a:avLst/>
          </a:prstGeom>
          <a:solidFill xmlns:a="http://schemas.openxmlformats.org/drawingml/2006/main">
            <a:srgbClr val="3B4AA4"/>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0B10776A-5F88-4638-A678-CD84DAFCA955}"/>
              </a:ext>
            </a:extLst>
          </p:cNvPr>
          <p:cNvSpPr>
            <a:spLocks xmlns:a="http://schemas.openxmlformats.org/drawingml/2006/main" noGrp="1"/>
          </p:cNvSpPr>
          <p:nvPr/>
        </p:nvSpPr>
        <p:spPr>
          <a:xfrm xmlns:a="http://schemas.openxmlformats.org/drawingml/2006/main">
            <a:off x="6419850" y="2743200"/>
            <a:ext cx="2819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Mono"/>
                <a:ea typeface="Aptos Mono"/>
                <a:cs typeface="Aptos Mono"/>
              </a:defRPr>
            </a:pPr>
            <a:r>
              <a:rPr sz="1125" b="1">
                <a:solidFill>
                  <a:srgbClr val="17202A"/>
                </a:solidFill>
                <a:latin typeface="Aptos Mono"/>
                <a:ea typeface="Aptos Mono"/>
                <a:cs typeface="Aptos Mono"/>
              </a:rPr>
              <a:t>.opencode/memory/</a:t>
            </a:r>
          </a:p>
        </p:txBody>
      </p:sp>
      <p:sp>
        <p:nvSpPr>
          <p:cNvPr id="30" name="">
            <a:extLst xmlns:a="http://schemas.openxmlformats.org/drawingml/2006/main">
              <a:ext uri="{FF2B5EF4-FFF2-40B4-BE49-F238E27FC236}">
                <a16:creationId xmlns:a16="http://schemas.microsoft.com/office/drawing/2014/main" id="{B3BE4DA1-61C2-4A9F-A692-542230713629}"/>
              </a:ext>
            </a:extLst>
          </p:cNvPr>
          <p:cNvSpPr>
            <a:spLocks xmlns:a="http://schemas.openxmlformats.org/drawingml/2006/main" noGrp="1"/>
          </p:cNvSpPr>
          <p:nvPr/>
        </p:nvSpPr>
        <p:spPr>
          <a:xfrm xmlns:a="http://schemas.openxmlformats.org/drawingml/2006/main">
            <a:off x="6419850" y="2971800"/>
            <a:ext cx="3905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8707E"/>
                </a:solidFill>
                <a:latin typeface="Aptos"/>
                <a:ea typeface="Aptos"/>
                <a:cs typeface="Aptos"/>
              </a:defRPr>
            </a:pPr>
            <a:r>
              <a:rPr sz="1013" b="0">
                <a:solidFill>
                  <a:srgbClr val="68707E"/>
                </a:solidFill>
                <a:latin typeface="Aptos"/>
                <a:ea typeface="Aptos"/>
                <a:cs typeface="Aptos"/>
              </a:rPr>
              <a:t>targets, subsystems, human decisions, idea ledger</a:t>
            </a:r>
          </a:p>
        </p:txBody>
      </p:sp>
      <p:sp>
        <p:nvSpPr>
          <p:cNvPr id="31" name="">
            <a:extLst xmlns:a="http://schemas.openxmlformats.org/drawingml/2006/main">
              <a:ext uri="{FF2B5EF4-FFF2-40B4-BE49-F238E27FC236}">
                <a16:creationId xmlns:a16="http://schemas.microsoft.com/office/drawing/2014/main" id="{858B54F6-7262-4730-86F5-D5C90A819593}"/>
              </a:ext>
            </a:extLst>
          </p:cNvPr>
          <p:cNvSpPr>
            <a:spLocks xmlns:a="http://schemas.openxmlformats.org/drawingml/2006/main" noGrp="1"/>
          </p:cNvSpPr>
          <p:nvPr/>
        </p:nvSpPr>
        <p:spPr>
          <a:xfrm xmlns:a="http://schemas.openxmlformats.org/drawingml/2006/main">
            <a:off x="6191250" y="3467100"/>
            <a:ext cx="4838700" cy="590550"/>
          </a:xfrm>
          <a:prstGeom xmlns:a="http://schemas.openxmlformats.org/drawingml/2006/main" prst="rect">
            <a:avLst/>
          </a:prstGeom>
          <a:solidFill xmlns:a="http://schemas.openxmlformats.org/drawingml/2006/main">
            <a:srgbClr val="ECE7DC"/>
          </a:solidFill>
          <a:ln xmlns:a="http://schemas.openxmlformats.org/drawingml/2006/main" w="7620">
            <a:solidFill>
              <a:srgbClr val="C9C2B4"/>
            </a:solidFill>
            <a:prstDash val="solid"/>
          </a:ln>
        </p:spPr>
      </p:sp>
      <p:sp>
        <p:nvSpPr>
          <p:cNvPr id="32" name="">
            <a:extLst xmlns:a="http://schemas.openxmlformats.org/drawingml/2006/main">
              <a:ext uri="{FF2B5EF4-FFF2-40B4-BE49-F238E27FC236}">
                <a16:creationId xmlns:a16="http://schemas.microsoft.com/office/drawing/2014/main" id="{00D67434-9640-467B-B1E6-CA7B2DE65560}"/>
              </a:ext>
            </a:extLst>
          </p:cNvPr>
          <p:cNvSpPr>
            <a:spLocks xmlns:a="http://schemas.openxmlformats.org/drawingml/2006/main" noGrp="1"/>
          </p:cNvSpPr>
          <p:nvPr/>
        </p:nvSpPr>
        <p:spPr>
          <a:xfrm xmlns:a="http://schemas.openxmlformats.org/drawingml/2006/main">
            <a:off x="6191250" y="3467100"/>
            <a:ext cx="95250" cy="590550"/>
          </a:xfrm>
          <a:prstGeom xmlns:a="http://schemas.openxmlformats.org/drawingml/2006/main" prst="rect">
            <a:avLst/>
          </a:prstGeom>
          <a:solidFill xmlns:a="http://schemas.openxmlformats.org/drawingml/2006/main">
            <a:srgbClr val="3B4AA4"/>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6EF377EC-CB6C-4DA4-A600-FB08799FC89F}"/>
              </a:ext>
            </a:extLst>
          </p:cNvPr>
          <p:cNvSpPr>
            <a:spLocks xmlns:a="http://schemas.openxmlformats.org/drawingml/2006/main" noGrp="1"/>
          </p:cNvSpPr>
          <p:nvPr/>
        </p:nvSpPr>
        <p:spPr>
          <a:xfrm xmlns:a="http://schemas.openxmlformats.org/drawingml/2006/main">
            <a:off x="6419850" y="3581400"/>
            <a:ext cx="2819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Mono"/>
                <a:ea typeface="Aptos Mono"/>
                <a:cs typeface="Aptos Mono"/>
              </a:defRPr>
            </a:pPr>
            <a:r>
              <a:rPr sz="1125" b="1">
                <a:solidFill>
                  <a:srgbClr val="17202A"/>
                </a:solidFill>
                <a:latin typeface="Aptos Mono"/>
                <a:ea typeface="Aptos Mono"/>
                <a:cs typeface="Aptos Mono"/>
              </a:rPr>
              <a:t>.opencode/state/</a:t>
            </a:r>
          </a:p>
        </p:txBody>
      </p:sp>
      <p:sp>
        <p:nvSpPr>
          <p:cNvPr id="34" name="">
            <a:extLst xmlns:a="http://schemas.openxmlformats.org/drawingml/2006/main">
              <a:ext uri="{FF2B5EF4-FFF2-40B4-BE49-F238E27FC236}">
                <a16:creationId xmlns:a16="http://schemas.microsoft.com/office/drawing/2014/main" id="{C07F21F3-5624-4CC0-9D34-E7257454C7B2}"/>
              </a:ext>
            </a:extLst>
          </p:cNvPr>
          <p:cNvSpPr>
            <a:spLocks xmlns:a="http://schemas.openxmlformats.org/drawingml/2006/main" noGrp="1"/>
          </p:cNvSpPr>
          <p:nvPr/>
        </p:nvSpPr>
        <p:spPr>
          <a:xfrm xmlns:a="http://schemas.openxmlformats.org/drawingml/2006/main">
            <a:off x="6419850" y="3810000"/>
            <a:ext cx="3905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8707E"/>
                </a:solidFill>
                <a:latin typeface="Aptos"/>
                <a:ea typeface="Aptos"/>
                <a:cs typeface="Aptos"/>
              </a:defRPr>
            </a:pPr>
            <a:r>
              <a:rPr sz="1013" b="0">
                <a:solidFill>
                  <a:srgbClr val="68707E"/>
                </a:solidFill>
                <a:latin typeface="Aptos"/>
                <a:ea typeface="Aptos"/>
                <a:cs typeface="Aptos"/>
              </a:rPr>
              <a:t>current task, bad plans, iteration state</a:t>
            </a:r>
          </a:p>
        </p:txBody>
      </p:sp>
      <p:sp>
        <p:nvSpPr>
          <p:cNvPr id="35" name="">
            <a:extLst xmlns:a="http://schemas.openxmlformats.org/drawingml/2006/main">
              <a:ext uri="{FF2B5EF4-FFF2-40B4-BE49-F238E27FC236}">
                <a16:creationId xmlns:a16="http://schemas.microsoft.com/office/drawing/2014/main" id="{94DADD89-1D47-49A7-B0A9-CAC921C5FB48}"/>
              </a:ext>
            </a:extLst>
          </p:cNvPr>
          <p:cNvSpPr>
            <a:spLocks xmlns:a="http://schemas.openxmlformats.org/drawingml/2006/main" noGrp="1"/>
          </p:cNvSpPr>
          <p:nvPr/>
        </p:nvSpPr>
        <p:spPr>
          <a:xfrm xmlns:a="http://schemas.openxmlformats.org/drawingml/2006/main">
            <a:off x="6191250" y="4305300"/>
            <a:ext cx="4838700" cy="590550"/>
          </a:xfrm>
          <a:prstGeom xmlns:a="http://schemas.openxmlformats.org/drawingml/2006/main" prst="rect">
            <a:avLst/>
          </a:prstGeom>
          <a:solidFill xmlns:a="http://schemas.openxmlformats.org/drawingml/2006/main">
            <a:srgbClr val="FFFFFF"/>
          </a:solidFill>
          <a:ln xmlns:a="http://schemas.openxmlformats.org/drawingml/2006/main" w="7620">
            <a:solidFill>
              <a:srgbClr val="C9C2B4"/>
            </a:solidFill>
            <a:prstDash val="solid"/>
          </a:ln>
        </p:spPr>
      </p:sp>
      <p:sp>
        <p:nvSpPr>
          <p:cNvPr id="36" name="">
            <a:extLst xmlns:a="http://schemas.openxmlformats.org/drawingml/2006/main">
              <a:ext uri="{FF2B5EF4-FFF2-40B4-BE49-F238E27FC236}">
                <a16:creationId xmlns:a16="http://schemas.microsoft.com/office/drawing/2014/main" id="{57BB1161-685A-4B06-BF2C-D1D285EA5095}"/>
              </a:ext>
            </a:extLst>
          </p:cNvPr>
          <p:cNvSpPr>
            <a:spLocks xmlns:a="http://schemas.openxmlformats.org/drawingml/2006/main" noGrp="1"/>
          </p:cNvSpPr>
          <p:nvPr/>
        </p:nvSpPr>
        <p:spPr>
          <a:xfrm xmlns:a="http://schemas.openxmlformats.org/drawingml/2006/main">
            <a:off x="6191250" y="4305300"/>
            <a:ext cx="95250" cy="590550"/>
          </a:xfrm>
          <a:prstGeom xmlns:a="http://schemas.openxmlformats.org/drawingml/2006/main" prst="rect">
            <a:avLst/>
          </a:prstGeom>
          <a:solidFill xmlns:a="http://schemas.openxmlformats.org/drawingml/2006/main">
            <a:srgbClr val="3B4AA4"/>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819E1E2B-A398-4014-9E8A-6228F48CA838}"/>
              </a:ext>
            </a:extLst>
          </p:cNvPr>
          <p:cNvSpPr>
            <a:spLocks xmlns:a="http://schemas.openxmlformats.org/drawingml/2006/main" noGrp="1"/>
          </p:cNvSpPr>
          <p:nvPr/>
        </p:nvSpPr>
        <p:spPr>
          <a:xfrm xmlns:a="http://schemas.openxmlformats.org/drawingml/2006/main">
            <a:off x="6419850" y="4419600"/>
            <a:ext cx="2819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Mono"/>
                <a:ea typeface="Aptos Mono"/>
                <a:cs typeface="Aptos Mono"/>
              </a:defRPr>
            </a:pPr>
            <a:r>
              <a:rPr sz="1125" b="1">
                <a:solidFill>
                  <a:srgbClr val="17202A"/>
                </a:solidFill>
                <a:latin typeface="Aptos Mono"/>
                <a:ea typeface="Aptos Mono"/>
                <a:cs typeface="Aptos Mono"/>
              </a:rPr>
              <a:t>.opencode/plans/ reviews/ bench/ patches/</a:t>
            </a:r>
          </a:p>
        </p:txBody>
      </p:sp>
      <p:sp>
        <p:nvSpPr>
          <p:cNvPr id="38" name="">
            <a:extLst xmlns:a="http://schemas.openxmlformats.org/drawingml/2006/main">
              <a:ext uri="{FF2B5EF4-FFF2-40B4-BE49-F238E27FC236}">
                <a16:creationId xmlns:a16="http://schemas.microsoft.com/office/drawing/2014/main" id="{0B7E30AC-F0B2-4C01-A65A-28BBC76A18CB}"/>
              </a:ext>
            </a:extLst>
          </p:cNvPr>
          <p:cNvSpPr>
            <a:spLocks xmlns:a="http://schemas.openxmlformats.org/drawingml/2006/main" noGrp="1"/>
          </p:cNvSpPr>
          <p:nvPr/>
        </p:nvSpPr>
        <p:spPr>
          <a:xfrm xmlns:a="http://schemas.openxmlformats.org/drawingml/2006/main">
            <a:off x="6419850" y="4648200"/>
            <a:ext cx="3905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8707E"/>
                </a:solidFill>
                <a:latin typeface="Aptos"/>
                <a:ea typeface="Aptos"/>
                <a:cs typeface="Aptos"/>
              </a:defRPr>
            </a:pPr>
            <a:r>
              <a:rPr sz="1013" b="0">
                <a:solidFill>
                  <a:srgbClr val="68707E"/>
                </a:solidFill>
                <a:latin typeface="Aptos"/>
                <a:ea typeface="Aptos"/>
                <a:cs typeface="Aptos"/>
              </a:rPr>
              <a:t>run artifacts</a:t>
            </a:r>
          </a:p>
        </p:txBody>
      </p:sp>
      <p:sp>
        <p:nvSpPr>
          <p:cNvPr id="39" name="">
            <a:extLst xmlns:a="http://schemas.openxmlformats.org/drawingml/2006/main">
              <a:ext uri="{FF2B5EF4-FFF2-40B4-BE49-F238E27FC236}">
                <a16:creationId xmlns:a16="http://schemas.microsoft.com/office/drawing/2014/main" id="{45515504-446C-48EF-B013-793EBCCFCF25}"/>
              </a:ext>
            </a:extLst>
          </p:cNvPr>
          <p:cNvSpPr>
            <a:spLocks xmlns:a="http://schemas.openxmlformats.org/drawingml/2006/main" noGrp="1"/>
          </p:cNvSpPr>
          <p:nvPr/>
        </p:nvSpPr>
        <p:spPr>
          <a:xfrm xmlns:a="http://schemas.openxmlformats.org/drawingml/2006/main">
            <a:off x="723900" y="5448300"/>
            <a:ext cx="10477500" cy="476250"/>
          </a:xfrm>
          <a:prstGeom xmlns:a="http://schemas.openxmlformats.org/drawingml/2006/main" prst="rect">
            <a:avLst/>
          </a:prstGeom>
          <a:solidFill xmlns:a="http://schemas.openxmlformats.org/drawingml/2006/main">
            <a:srgbClr val="273142"/>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424EDF6F-5F70-4300-874B-BE6170B34E80}"/>
              </a:ext>
            </a:extLst>
          </p:cNvPr>
          <p:cNvSpPr>
            <a:spLocks xmlns:a="http://schemas.openxmlformats.org/drawingml/2006/main" noGrp="1"/>
          </p:cNvSpPr>
          <p:nvPr/>
        </p:nvSpPr>
        <p:spPr>
          <a:xfrm xmlns:a="http://schemas.openxmlformats.org/drawingml/2006/main">
            <a:off x="914400" y="5610225"/>
            <a:ext cx="9906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7F4EE"/>
                </a:solidFill>
                <a:latin typeface="Aptos"/>
                <a:ea typeface="Aptos"/>
                <a:cs typeface="Aptos"/>
              </a:defRPr>
            </a:pPr>
            <a:r>
              <a:rPr sz="1350" b="1">
                <a:solidFill>
                  <a:srgbClr val="F7F4EE"/>
                </a:solidFill>
                <a:latin typeface="Aptos"/>
                <a:ea typeface="Aptos"/>
                <a:cs typeface="Aptos"/>
              </a:rPr>
              <a:t>The implementation is reviewable: prompts, policies, state, and outputs live in ordinary repo paths.</a:t>
            </a:r>
          </a:p>
        </p:txBody>
      </p:sp>
      <p:sp>
        <p:nvSpPr>
          <p:cNvPr id="41" name="">
            <a:extLst xmlns:a="http://schemas.openxmlformats.org/drawingml/2006/main">
              <a:ext uri="{FF2B5EF4-FFF2-40B4-BE49-F238E27FC236}">
                <a16:creationId xmlns:a16="http://schemas.microsoft.com/office/drawing/2014/main" id="{A74DC837-08FB-4168-8495-7D5B9C719E48}"/>
              </a:ext>
            </a:extLst>
          </p:cNvPr>
          <p:cNvSpPr>
            <a:spLocks xmlns:a="http://schemas.openxmlformats.org/drawingml/2006/main" noGrp="1"/>
          </p:cNvSpPr>
          <p:nvPr/>
        </p:nvSpPr>
        <p:spPr>
          <a:xfrm xmlns:a="http://schemas.openxmlformats.org/drawingml/2006/main">
            <a:off x="495300" y="6705600"/>
            <a:ext cx="4572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8707E"/>
                </a:solidFill>
                <a:latin typeface="Aptos"/>
                <a:ea typeface="Aptos"/>
                <a:cs typeface="Aptos"/>
              </a:defRPr>
            </a:pPr>
            <a:r>
              <a:rPr sz="713" b="0">
                <a:solidFill>
                  <a:srgbClr val="68707E"/>
                </a:solidFill>
                <a:latin typeface="Aptos"/>
                <a:ea typeface="Aptos"/>
                <a:cs typeface="Aptos"/>
              </a:rPr>
              <a:t>.opencode multi-agent harness</a:t>
            </a:r>
          </a:p>
        </p:txBody>
      </p:sp>
      <p:sp>
        <p:nvSpPr>
          <p:cNvPr id="42" name="">
            <a:extLst xmlns:a="http://schemas.openxmlformats.org/drawingml/2006/main">
              <a:ext uri="{FF2B5EF4-FFF2-40B4-BE49-F238E27FC236}">
                <a16:creationId xmlns:a16="http://schemas.microsoft.com/office/drawing/2014/main" id="{CB458D03-CA39-41C1-AFFD-449AA51F608A}"/>
              </a:ext>
            </a:extLst>
          </p:cNvPr>
          <p:cNvSpPr>
            <a:spLocks xmlns:a="http://schemas.openxmlformats.org/drawingml/2006/main" noGrp="1"/>
          </p:cNvSpPr>
          <p:nvPr/>
        </p:nvSpPr>
        <p:spPr>
          <a:xfrm xmlns:a="http://schemas.openxmlformats.org/drawingml/2006/main">
            <a:off x="10706100" y="6705600"/>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8707E"/>
                </a:solidFill>
                <a:latin typeface="Aptos"/>
                <a:ea typeface="Aptos"/>
                <a:cs typeface="Aptos"/>
              </a:defRPr>
            </a:pPr>
            <a:r>
              <a:rPr sz="713" b="0">
                <a:solidFill>
                  <a:srgbClr val="68707E"/>
                </a:solidFill>
                <a:latin typeface="Aptos"/>
                <a:ea typeface="Aptos"/>
                <a:cs typeface="Aptos"/>
              </a:rPr>
              <a:t>13 / 14</a:t>
            </a:r>
          </a:p>
        </p:txBody>
      </p:sp>
    </p:spTree>
    <p:extLst>
      <p:ext uri="{BB962C8B-B14F-4D97-AF65-F5344CB8AC3E}">
        <p14:creationId xmlns:p14="http://schemas.microsoft.com/office/powerpoint/2010/main" val="97312717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B6BC7572-B30E-446E-9052-580D3E3247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02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C7CBA3D-977B-4627-801E-489D72EA796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CD1B1AE-67ED-44DA-8ED2-CD6216ADD707}"/>
              </a:ext>
            </a:extLst>
          </p:cNvPr>
          <p:cNvSpPr>
            <a:spLocks xmlns:a="http://schemas.openxmlformats.org/drawingml/2006/main" noGrp="1"/>
          </p:cNvSpPr>
          <p:nvPr/>
        </p:nvSpPr>
        <p:spPr>
          <a:xfrm xmlns:a="http://schemas.openxmlformats.org/drawingml/2006/main">
            <a:off x="685800" y="552450"/>
            <a:ext cx="2476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7C7B"/>
                </a:solidFill>
                <a:latin typeface="Aptos"/>
                <a:ea typeface="Aptos"/>
                <a:cs typeface="Aptos"/>
              </a:defRPr>
            </a:pPr>
            <a:r>
              <a:rPr sz="1350" b="1">
                <a:solidFill>
                  <a:srgbClr val="0E7C7B"/>
                </a:solidFill>
                <a:latin typeface="Aptos"/>
                <a:ea typeface="Aptos"/>
                <a:cs typeface="Aptos"/>
              </a:rPr>
              <a:t>Takeaways</a:t>
            </a:r>
          </a:p>
        </p:txBody>
      </p:sp>
      <p:sp>
        <p:nvSpPr>
          <p:cNvPr id="4" name="">
            <a:extLst xmlns:a="http://schemas.openxmlformats.org/drawingml/2006/main">
              <a:ext uri="{FF2B5EF4-FFF2-40B4-BE49-F238E27FC236}">
                <a16:creationId xmlns:a16="http://schemas.microsoft.com/office/drawing/2014/main" id="{5B994000-26DC-4E3A-BFAF-AD25ABE09483}"/>
              </a:ext>
            </a:extLst>
          </p:cNvPr>
          <p:cNvSpPr>
            <a:spLocks xmlns:a="http://schemas.openxmlformats.org/drawingml/2006/main" noGrp="1"/>
          </p:cNvSpPr>
          <p:nvPr/>
        </p:nvSpPr>
        <p:spPr>
          <a:xfrm xmlns:a="http://schemas.openxmlformats.org/drawingml/2006/main">
            <a:off x="685800" y="1143000"/>
            <a:ext cx="81915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225" b="1">
                <a:solidFill>
                  <a:srgbClr val="F7F4EE"/>
                </a:solidFill>
                <a:latin typeface="Aptos Display"/>
                <a:ea typeface="Aptos Display"/>
                <a:cs typeface="Aptos Display"/>
              </a:defRPr>
            </a:pPr>
            <a:r>
              <a:rPr sz="3225" b="1">
                <a:solidFill>
                  <a:srgbClr val="F7F4EE"/>
                </a:solidFill>
                <a:latin typeface="Aptos Display"/>
                <a:ea typeface="Aptos Display"/>
                <a:cs typeface="Aptos Display"/>
              </a:rPr>
              <a:t>The harness behaves like a careful engineering team.</a:t>
            </a:r>
          </a:p>
        </p:txBody>
      </p:sp>
      <p:sp>
        <p:nvSpPr>
          <p:cNvPr id="5" name="">
            <a:extLst xmlns:a="http://schemas.openxmlformats.org/drawingml/2006/main">
              <a:ext uri="{FF2B5EF4-FFF2-40B4-BE49-F238E27FC236}">
                <a16:creationId xmlns:a16="http://schemas.microsoft.com/office/drawing/2014/main" id="{C7D407DA-540A-4364-BCDF-0D0CDCA7D6A2}"/>
              </a:ext>
            </a:extLst>
          </p:cNvPr>
          <p:cNvSpPr>
            <a:spLocks xmlns:a="http://schemas.openxmlformats.org/drawingml/2006/main" noGrp="1"/>
          </p:cNvSpPr>
          <p:nvPr/>
        </p:nvSpPr>
        <p:spPr>
          <a:xfrm xmlns:a="http://schemas.openxmlformats.org/drawingml/2006/main">
            <a:off x="876300" y="2324100"/>
            <a:ext cx="400050" cy="400050"/>
          </a:xfrm>
          <a:prstGeom xmlns:a="http://schemas.openxmlformats.org/drawingml/2006/main" prst="rect">
            <a:avLst/>
          </a:prstGeom>
          <a:solidFill xmlns:a="http://schemas.openxmlformats.org/drawingml/2006/main">
            <a:srgbClr val="0E7C7B"/>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B8451A07-FA50-4FD7-8605-9C7AD45FC674}"/>
              </a:ext>
            </a:extLst>
          </p:cNvPr>
          <p:cNvSpPr>
            <a:spLocks xmlns:a="http://schemas.openxmlformats.org/drawingml/2006/main" noGrp="1"/>
          </p:cNvSpPr>
          <p:nvPr/>
        </p:nvSpPr>
        <p:spPr>
          <a:xfrm xmlns:a="http://schemas.openxmlformats.org/drawingml/2006/main">
            <a:off x="876300" y="2428875"/>
            <a:ext cx="400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CBF824A3-CCE2-4E3F-8C8C-A86C4D575713}"/>
              </a:ext>
            </a:extLst>
          </p:cNvPr>
          <p:cNvSpPr>
            <a:spLocks xmlns:a="http://schemas.openxmlformats.org/drawingml/2006/main" noGrp="1"/>
          </p:cNvSpPr>
          <p:nvPr/>
        </p:nvSpPr>
        <p:spPr>
          <a:xfrm xmlns:a="http://schemas.openxmlformats.org/drawingml/2006/main">
            <a:off x="1504950" y="23431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7F4EE"/>
                </a:solidFill>
                <a:latin typeface="Aptos"/>
                <a:ea typeface="Aptos"/>
                <a:cs typeface="Aptos"/>
              </a:defRPr>
            </a:pPr>
            <a:r>
              <a:rPr sz="1500" b="1">
                <a:solidFill>
                  <a:srgbClr val="F7F4EE"/>
                </a:solidFill>
                <a:latin typeface="Aptos"/>
                <a:ea typeface="Aptos"/>
                <a:cs typeface="Aptos"/>
              </a:rPr>
              <a:t>Stage ownership</a:t>
            </a:r>
          </a:p>
        </p:txBody>
      </p:sp>
      <p:sp>
        <p:nvSpPr>
          <p:cNvPr id="8" name="">
            <a:extLst xmlns:a="http://schemas.openxmlformats.org/drawingml/2006/main">
              <a:ext uri="{FF2B5EF4-FFF2-40B4-BE49-F238E27FC236}">
                <a16:creationId xmlns:a16="http://schemas.microsoft.com/office/drawing/2014/main" id="{525AACED-24B8-4A92-B326-CC5CBF9F4E47}"/>
              </a:ext>
            </a:extLst>
          </p:cNvPr>
          <p:cNvSpPr>
            <a:spLocks xmlns:a="http://schemas.openxmlformats.org/drawingml/2006/main" noGrp="1"/>
          </p:cNvSpPr>
          <p:nvPr/>
        </p:nvSpPr>
        <p:spPr>
          <a:xfrm xmlns:a="http://schemas.openxmlformats.org/drawingml/2006/main">
            <a:off x="1504950" y="2609850"/>
            <a:ext cx="704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9D4DE"/>
                </a:solidFill>
                <a:latin typeface="Aptos"/>
                <a:ea typeface="Aptos"/>
                <a:cs typeface="Aptos"/>
              </a:defRPr>
            </a:pPr>
            <a:r>
              <a:rPr sz="1125" b="0">
                <a:solidFill>
                  <a:srgbClr val="C9D4DE"/>
                </a:solidFill>
                <a:latin typeface="Aptos"/>
                <a:ea typeface="Aptos"/>
                <a:cs typeface="Aptos"/>
              </a:rPr>
              <a:t>research, plan review, code, code review, tester</a:t>
            </a:r>
          </a:p>
        </p:txBody>
      </p:sp>
      <p:sp>
        <p:nvSpPr>
          <p:cNvPr id="9" name="">
            <a:extLst xmlns:a="http://schemas.openxmlformats.org/drawingml/2006/main">
              <a:ext uri="{FF2B5EF4-FFF2-40B4-BE49-F238E27FC236}">
                <a16:creationId xmlns:a16="http://schemas.microsoft.com/office/drawing/2014/main" id="{E8C6EF77-A539-4453-B917-382A8C27D8B5}"/>
              </a:ext>
            </a:extLst>
          </p:cNvPr>
          <p:cNvSpPr>
            <a:spLocks xmlns:a="http://schemas.openxmlformats.org/drawingml/2006/main" noGrp="1"/>
          </p:cNvSpPr>
          <p:nvPr/>
        </p:nvSpPr>
        <p:spPr>
          <a:xfrm xmlns:a="http://schemas.openxmlformats.org/drawingml/2006/main">
            <a:off x="876300" y="2914650"/>
            <a:ext cx="400050" cy="400050"/>
          </a:xfrm>
          <a:prstGeom xmlns:a="http://schemas.openxmlformats.org/drawingml/2006/main" prst="rect">
            <a:avLst/>
          </a:prstGeom>
          <a:solidFill xmlns:a="http://schemas.openxmlformats.org/drawingml/2006/main">
            <a:srgbClr val="D98B21"/>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243E123-8B53-4E3B-BBEE-5496CD066F20}"/>
              </a:ext>
            </a:extLst>
          </p:cNvPr>
          <p:cNvSpPr>
            <a:spLocks xmlns:a="http://schemas.openxmlformats.org/drawingml/2006/main" noGrp="1"/>
          </p:cNvSpPr>
          <p:nvPr/>
        </p:nvSpPr>
        <p:spPr>
          <a:xfrm xmlns:a="http://schemas.openxmlformats.org/drawingml/2006/main">
            <a:off x="876300" y="3019425"/>
            <a:ext cx="400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29E6E122-647B-4E0E-8A4E-9D2CF498F6A9}"/>
              </a:ext>
            </a:extLst>
          </p:cNvPr>
          <p:cNvSpPr>
            <a:spLocks xmlns:a="http://schemas.openxmlformats.org/drawingml/2006/main" noGrp="1"/>
          </p:cNvSpPr>
          <p:nvPr/>
        </p:nvSpPr>
        <p:spPr>
          <a:xfrm xmlns:a="http://schemas.openxmlformats.org/drawingml/2006/main">
            <a:off x="1504950" y="29337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7F4EE"/>
                </a:solidFill>
                <a:latin typeface="Aptos"/>
                <a:ea typeface="Aptos"/>
                <a:cs typeface="Aptos"/>
              </a:defRPr>
            </a:pPr>
            <a:r>
              <a:rPr sz="1500" b="1">
                <a:solidFill>
                  <a:srgbClr val="F7F4EE"/>
                </a:solidFill>
                <a:latin typeface="Aptos"/>
                <a:ea typeface="Aptos"/>
                <a:cs typeface="Aptos"/>
              </a:rPr>
              <a:t>Hard gates</a:t>
            </a:r>
          </a:p>
        </p:txBody>
      </p:sp>
      <p:sp>
        <p:nvSpPr>
          <p:cNvPr id="12" name="">
            <a:extLst xmlns:a="http://schemas.openxmlformats.org/drawingml/2006/main">
              <a:ext uri="{FF2B5EF4-FFF2-40B4-BE49-F238E27FC236}">
                <a16:creationId xmlns:a16="http://schemas.microsoft.com/office/drawing/2014/main" id="{49CFE14A-2619-495F-9F0F-ED3BDC6040B8}"/>
              </a:ext>
            </a:extLst>
          </p:cNvPr>
          <p:cNvSpPr>
            <a:spLocks xmlns:a="http://schemas.openxmlformats.org/drawingml/2006/main" noGrp="1"/>
          </p:cNvSpPr>
          <p:nvPr/>
        </p:nvSpPr>
        <p:spPr>
          <a:xfrm xmlns:a="http://schemas.openxmlformats.org/drawingml/2006/main">
            <a:off x="1504950" y="3200400"/>
            <a:ext cx="704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9D4DE"/>
                </a:solidFill>
                <a:latin typeface="Aptos"/>
                <a:ea typeface="Aptos"/>
                <a:cs typeface="Aptos"/>
              </a:defRPr>
            </a:pPr>
            <a:r>
              <a:rPr sz="1125" b="0">
                <a:solidFill>
                  <a:srgbClr val="C9D4DE"/>
                </a:solidFill>
                <a:latin typeface="Aptos"/>
                <a:ea typeface="Aptos"/>
                <a:cs typeface="Aptos"/>
              </a:rPr>
              <a:t>no implementation before plan approval; no acceptance before review</a:t>
            </a:r>
          </a:p>
        </p:txBody>
      </p:sp>
      <p:sp>
        <p:nvSpPr>
          <p:cNvPr id="13" name="">
            <a:extLst xmlns:a="http://schemas.openxmlformats.org/drawingml/2006/main">
              <a:ext uri="{FF2B5EF4-FFF2-40B4-BE49-F238E27FC236}">
                <a16:creationId xmlns:a16="http://schemas.microsoft.com/office/drawing/2014/main" id="{0EEDF8E4-9DFA-4A6F-A874-1A2CA769286A}"/>
              </a:ext>
            </a:extLst>
          </p:cNvPr>
          <p:cNvSpPr>
            <a:spLocks xmlns:a="http://schemas.openxmlformats.org/drawingml/2006/main" noGrp="1"/>
          </p:cNvSpPr>
          <p:nvPr/>
        </p:nvSpPr>
        <p:spPr>
          <a:xfrm xmlns:a="http://schemas.openxmlformats.org/drawingml/2006/main">
            <a:off x="876300" y="3505200"/>
            <a:ext cx="400050" cy="400050"/>
          </a:xfrm>
          <a:prstGeom xmlns:a="http://schemas.openxmlformats.org/drawingml/2006/main" prst="rect">
            <a:avLst/>
          </a:prstGeom>
          <a:solidFill xmlns:a="http://schemas.openxmlformats.org/drawingml/2006/main">
            <a:srgbClr val="5E7E35"/>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C53A1D5-DE39-4E44-8B72-D9DCCFFD90B4}"/>
              </a:ext>
            </a:extLst>
          </p:cNvPr>
          <p:cNvSpPr>
            <a:spLocks xmlns:a="http://schemas.openxmlformats.org/drawingml/2006/main" noGrp="1"/>
          </p:cNvSpPr>
          <p:nvPr/>
        </p:nvSpPr>
        <p:spPr>
          <a:xfrm xmlns:a="http://schemas.openxmlformats.org/drawingml/2006/main">
            <a:off x="876300" y="3609975"/>
            <a:ext cx="400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2D8646A5-70EB-4CFD-8907-918974CF54EB}"/>
              </a:ext>
            </a:extLst>
          </p:cNvPr>
          <p:cNvSpPr>
            <a:spLocks xmlns:a="http://schemas.openxmlformats.org/drawingml/2006/main" noGrp="1"/>
          </p:cNvSpPr>
          <p:nvPr/>
        </p:nvSpPr>
        <p:spPr>
          <a:xfrm xmlns:a="http://schemas.openxmlformats.org/drawingml/2006/main">
            <a:off x="1504950" y="35242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7F4EE"/>
                </a:solidFill>
                <a:latin typeface="Aptos"/>
                <a:ea typeface="Aptos"/>
                <a:cs typeface="Aptos"/>
              </a:defRPr>
            </a:pPr>
            <a:r>
              <a:rPr sz="1500" b="1">
                <a:solidFill>
                  <a:srgbClr val="F7F4EE"/>
                </a:solidFill>
                <a:latin typeface="Aptos"/>
                <a:ea typeface="Aptos"/>
                <a:cs typeface="Aptos"/>
              </a:rPr>
              <a:t>Measured proof</a:t>
            </a:r>
          </a:p>
        </p:txBody>
      </p:sp>
      <p:sp>
        <p:nvSpPr>
          <p:cNvPr id="16" name="">
            <a:extLst xmlns:a="http://schemas.openxmlformats.org/drawingml/2006/main">
              <a:ext uri="{FF2B5EF4-FFF2-40B4-BE49-F238E27FC236}">
                <a16:creationId xmlns:a16="http://schemas.microsoft.com/office/drawing/2014/main" id="{18386EC6-4177-4FE8-97FD-178E3FE0C514}"/>
              </a:ext>
            </a:extLst>
          </p:cNvPr>
          <p:cNvSpPr>
            <a:spLocks xmlns:a="http://schemas.openxmlformats.org/drawingml/2006/main" noGrp="1"/>
          </p:cNvSpPr>
          <p:nvPr/>
        </p:nvSpPr>
        <p:spPr>
          <a:xfrm xmlns:a="http://schemas.openxmlformats.org/drawingml/2006/main">
            <a:off x="1504950" y="3790950"/>
            <a:ext cx="704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9D4DE"/>
                </a:solidFill>
                <a:latin typeface="Aptos"/>
                <a:ea typeface="Aptos"/>
                <a:cs typeface="Aptos"/>
              </a:defRPr>
            </a:pPr>
            <a:r>
              <a:rPr sz="1125" b="0">
                <a:solidFill>
                  <a:srgbClr val="C9D4DE"/>
                </a:solidFill>
                <a:latin typeface="Aptos"/>
                <a:ea typeface="Aptos"/>
                <a:cs typeface="Aptos"/>
              </a:rPr>
              <a:t>stock vs feature instruction-count comparison on device</a:t>
            </a:r>
          </a:p>
        </p:txBody>
      </p:sp>
      <p:sp>
        <p:nvSpPr>
          <p:cNvPr id="17" name="">
            <a:extLst xmlns:a="http://schemas.openxmlformats.org/drawingml/2006/main">
              <a:ext uri="{FF2B5EF4-FFF2-40B4-BE49-F238E27FC236}">
                <a16:creationId xmlns:a16="http://schemas.microsoft.com/office/drawing/2014/main" id="{0C667393-A62D-4765-A120-9C20CDC48319}"/>
              </a:ext>
            </a:extLst>
          </p:cNvPr>
          <p:cNvSpPr>
            <a:spLocks xmlns:a="http://schemas.openxmlformats.org/drawingml/2006/main" noGrp="1"/>
          </p:cNvSpPr>
          <p:nvPr/>
        </p:nvSpPr>
        <p:spPr>
          <a:xfrm xmlns:a="http://schemas.openxmlformats.org/drawingml/2006/main">
            <a:off x="876300" y="4095750"/>
            <a:ext cx="400050" cy="400050"/>
          </a:xfrm>
          <a:prstGeom xmlns:a="http://schemas.openxmlformats.org/drawingml/2006/main" prst="rect">
            <a:avLst/>
          </a:prstGeom>
          <a:solidFill xmlns:a="http://schemas.openxmlformats.org/drawingml/2006/main">
            <a:srgbClr val="3B4AA4"/>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4B1DDB29-4518-48D6-A872-F3449E73A98B}"/>
              </a:ext>
            </a:extLst>
          </p:cNvPr>
          <p:cNvSpPr>
            <a:spLocks xmlns:a="http://schemas.openxmlformats.org/drawingml/2006/main" noGrp="1"/>
          </p:cNvSpPr>
          <p:nvPr/>
        </p:nvSpPr>
        <p:spPr>
          <a:xfrm xmlns:a="http://schemas.openxmlformats.org/drawingml/2006/main">
            <a:off x="876300" y="4200525"/>
            <a:ext cx="400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19" name="">
            <a:extLst xmlns:a="http://schemas.openxmlformats.org/drawingml/2006/main">
              <a:ext uri="{FF2B5EF4-FFF2-40B4-BE49-F238E27FC236}">
                <a16:creationId xmlns:a16="http://schemas.microsoft.com/office/drawing/2014/main" id="{9B7A254C-09D5-4DF0-B2E8-8A1D38B5468F}"/>
              </a:ext>
            </a:extLst>
          </p:cNvPr>
          <p:cNvSpPr>
            <a:spLocks xmlns:a="http://schemas.openxmlformats.org/drawingml/2006/main" noGrp="1"/>
          </p:cNvSpPr>
          <p:nvPr/>
        </p:nvSpPr>
        <p:spPr>
          <a:xfrm xmlns:a="http://schemas.openxmlformats.org/drawingml/2006/main">
            <a:off x="1504950" y="41148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7F4EE"/>
                </a:solidFill>
                <a:latin typeface="Aptos"/>
                <a:ea typeface="Aptos"/>
                <a:cs typeface="Aptos"/>
              </a:defRPr>
            </a:pPr>
            <a:r>
              <a:rPr sz="1500" b="1">
                <a:solidFill>
                  <a:srgbClr val="F7F4EE"/>
                </a:solidFill>
                <a:latin typeface="Aptos"/>
                <a:ea typeface="Aptos"/>
                <a:cs typeface="Aptos"/>
              </a:rPr>
              <a:t>Recoverable loop</a:t>
            </a:r>
          </a:p>
        </p:txBody>
      </p:sp>
      <p:sp>
        <p:nvSpPr>
          <p:cNvPr id="20" name="">
            <a:extLst xmlns:a="http://schemas.openxmlformats.org/drawingml/2006/main">
              <a:ext uri="{FF2B5EF4-FFF2-40B4-BE49-F238E27FC236}">
                <a16:creationId xmlns:a16="http://schemas.microsoft.com/office/drawing/2014/main" id="{364E698A-1BA9-4314-AA7A-7439EEBD35E9}"/>
              </a:ext>
            </a:extLst>
          </p:cNvPr>
          <p:cNvSpPr>
            <a:spLocks xmlns:a="http://schemas.openxmlformats.org/drawingml/2006/main" noGrp="1"/>
          </p:cNvSpPr>
          <p:nvPr/>
        </p:nvSpPr>
        <p:spPr>
          <a:xfrm xmlns:a="http://schemas.openxmlformats.org/drawingml/2006/main">
            <a:off x="1504950" y="4381500"/>
            <a:ext cx="704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9D4DE"/>
                </a:solidFill>
                <a:latin typeface="Aptos"/>
                <a:ea typeface="Aptos"/>
                <a:cs typeface="Aptos"/>
              </a:defRPr>
            </a:pPr>
            <a:r>
              <a:rPr sz="1125" b="0">
                <a:solidFill>
                  <a:srgbClr val="C9D4DE"/>
                </a:solidFill>
                <a:latin typeface="Aptos"/>
                <a:ea typeface="Aptos"/>
                <a:cs typeface="Aptos"/>
              </a:rPr>
              <a:t>state rebuild, back-edges, loop caps, stall artifacts</a:t>
            </a:r>
          </a:p>
        </p:txBody>
      </p:sp>
      <p:sp>
        <p:nvSpPr>
          <p:cNvPr id="21" name="">
            <a:extLst xmlns:a="http://schemas.openxmlformats.org/drawingml/2006/main">
              <a:ext uri="{FF2B5EF4-FFF2-40B4-BE49-F238E27FC236}">
                <a16:creationId xmlns:a16="http://schemas.microsoft.com/office/drawing/2014/main" id="{0FBA65DC-EBB6-43CC-85B9-1428C1D01B52}"/>
              </a:ext>
            </a:extLst>
          </p:cNvPr>
          <p:cNvSpPr>
            <a:spLocks xmlns:a="http://schemas.openxmlformats.org/drawingml/2006/main" noGrp="1"/>
          </p:cNvSpPr>
          <p:nvPr/>
        </p:nvSpPr>
        <p:spPr>
          <a:xfrm xmlns:a="http://schemas.openxmlformats.org/drawingml/2006/main">
            <a:off x="876300" y="4686300"/>
            <a:ext cx="400050" cy="400050"/>
          </a:xfrm>
          <a:prstGeom xmlns:a="http://schemas.openxmlformats.org/drawingml/2006/main" prst="rect">
            <a:avLst/>
          </a:prstGeom>
          <a:solidFill xmlns:a="http://schemas.openxmlformats.org/drawingml/2006/main">
            <a:srgbClr val="C84D3A"/>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A3FFB41B-E25B-40DB-81D4-5686672C10FE}"/>
              </a:ext>
            </a:extLst>
          </p:cNvPr>
          <p:cNvSpPr>
            <a:spLocks xmlns:a="http://schemas.openxmlformats.org/drawingml/2006/main" noGrp="1"/>
          </p:cNvSpPr>
          <p:nvPr/>
        </p:nvSpPr>
        <p:spPr>
          <a:xfrm xmlns:a="http://schemas.openxmlformats.org/drawingml/2006/main">
            <a:off x="876300" y="4791075"/>
            <a:ext cx="400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5</a:t>
            </a:r>
          </a:p>
        </p:txBody>
      </p:sp>
      <p:sp>
        <p:nvSpPr>
          <p:cNvPr id="23" name="">
            <a:extLst xmlns:a="http://schemas.openxmlformats.org/drawingml/2006/main">
              <a:ext uri="{FF2B5EF4-FFF2-40B4-BE49-F238E27FC236}">
                <a16:creationId xmlns:a16="http://schemas.microsoft.com/office/drawing/2014/main" id="{A2054E08-919E-4420-94CB-C3CC50243EA8}"/>
              </a:ext>
            </a:extLst>
          </p:cNvPr>
          <p:cNvSpPr>
            <a:spLocks xmlns:a="http://schemas.openxmlformats.org/drawingml/2006/main" noGrp="1"/>
          </p:cNvSpPr>
          <p:nvPr/>
        </p:nvSpPr>
        <p:spPr>
          <a:xfrm xmlns:a="http://schemas.openxmlformats.org/drawingml/2006/main">
            <a:off x="1504950" y="47053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7F4EE"/>
                </a:solidFill>
                <a:latin typeface="Aptos"/>
                <a:ea typeface="Aptos"/>
                <a:cs typeface="Aptos"/>
              </a:defRPr>
            </a:pPr>
            <a:r>
              <a:rPr sz="1500" b="1">
                <a:solidFill>
                  <a:srgbClr val="F7F4EE"/>
                </a:solidFill>
                <a:latin typeface="Aptos"/>
                <a:ea typeface="Aptos"/>
                <a:cs typeface="Aptos"/>
              </a:rPr>
              <a:t>Learning system</a:t>
            </a:r>
          </a:p>
        </p:txBody>
      </p:sp>
      <p:sp>
        <p:nvSpPr>
          <p:cNvPr id="24" name="">
            <a:extLst xmlns:a="http://schemas.openxmlformats.org/drawingml/2006/main">
              <a:ext uri="{FF2B5EF4-FFF2-40B4-BE49-F238E27FC236}">
                <a16:creationId xmlns:a16="http://schemas.microsoft.com/office/drawing/2014/main" id="{DB94D605-6C20-4015-AD15-8C5041B1E813}"/>
              </a:ext>
            </a:extLst>
          </p:cNvPr>
          <p:cNvSpPr>
            <a:spLocks xmlns:a="http://schemas.openxmlformats.org/drawingml/2006/main" noGrp="1"/>
          </p:cNvSpPr>
          <p:nvPr/>
        </p:nvSpPr>
        <p:spPr>
          <a:xfrm xmlns:a="http://schemas.openxmlformats.org/drawingml/2006/main">
            <a:off x="1504950" y="4972050"/>
            <a:ext cx="704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9D4DE"/>
                </a:solidFill>
                <a:latin typeface="Aptos"/>
                <a:ea typeface="Aptos"/>
                <a:cs typeface="Aptos"/>
              </a:defRPr>
            </a:pPr>
            <a:r>
              <a:rPr sz="1125" b="0">
                <a:solidFill>
                  <a:srgbClr val="C9D4DE"/>
                </a:solidFill>
                <a:latin typeface="Aptos"/>
                <a:ea typeface="Aptos"/>
                <a:cs typeface="Aptos"/>
              </a:rPr>
              <a:t>artifacts, memory, bad-plan dedup, idea ledger</a:t>
            </a:r>
          </a:p>
        </p:txBody>
      </p:sp>
      <p:sp>
        <p:nvSpPr>
          <p:cNvPr id="25" name="">
            <a:extLst xmlns:a="http://schemas.openxmlformats.org/drawingml/2006/main">
              <a:ext uri="{FF2B5EF4-FFF2-40B4-BE49-F238E27FC236}">
                <a16:creationId xmlns:a16="http://schemas.microsoft.com/office/drawing/2014/main" id="{0C59F3C4-8D8E-45AA-86D4-A347A313D666}"/>
              </a:ext>
            </a:extLst>
          </p:cNvPr>
          <p:cNvSpPr>
            <a:spLocks xmlns:a="http://schemas.openxmlformats.org/drawingml/2006/main" noGrp="1"/>
          </p:cNvSpPr>
          <p:nvPr/>
        </p:nvSpPr>
        <p:spPr>
          <a:xfrm xmlns:a="http://schemas.openxmlformats.org/drawingml/2006/main">
            <a:off x="685800" y="5924550"/>
            <a:ext cx="10001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D7DED7"/>
                </a:solidFill>
                <a:latin typeface="Aptos"/>
                <a:ea typeface="Aptos"/>
                <a:cs typeface="Aptos"/>
              </a:defRPr>
            </a:pPr>
            <a:r>
              <a:rPr sz="1275" b="0">
                <a:solidFill>
                  <a:srgbClr val="D7DED7"/>
                </a:solidFill>
                <a:latin typeface="Aptos"/>
                <a:ea typeface="Aptos"/>
                <a:cs typeface="Aptos"/>
              </a:rPr>
              <a:t>Suggested demo after the talk: open /optimize_generic, change Target and Auto-Iterate, then inspect .opencode/state/current_task.json and the artifact folders.</a:t>
            </a:r>
          </a:p>
        </p:txBody>
      </p:sp>
      <p:sp>
        <p:nvSpPr>
          <p:cNvPr id="26" name="">
            <a:extLst xmlns:a="http://schemas.openxmlformats.org/drawingml/2006/main">
              <a:ext uri="{FF2B5EF4-FFF2-40B4-BE49-F238E27FC236}">
                <a16:creationId xmlns:a16="http://schemas.microsoft.com/office/drawing/2014/main" id="{E30FC30A-D3E6-438B-B7DF-D11037DC4AD6}"/>
              </a:ext>
            </a:extLst>
          </p:cNvPr>
          <p:cNvSpPr>
            <a:spLocks xmlns:a="http://schemas.openxmlformats.org/drawingml/2006/main" noGrp="1"/>
          </p:cNvSpPr>
          <p:nvPr/>
        </p:nvSpPr>
        <p:spPr>
          <a:xfrm xmlns:a="http://schemas.openxmlformats.org/drawingml/2006/main">
            <a:off x="10687050" y="6705600"/>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BEC8CF"/>
                </a:solidFill>
                <a:latin typeface="Aptos"/>
                <a:ea typeface="Aptos"/>
                <a:cs typeface="Aptos"/>
              </a:defRPr>
            </a:pPr>
            <a:r>
              <a:rPr sz="713" b="0">
                <a:solidFill>
                  <a:srgbClr val="BEC8CF"/>
                </a:solidFill>
                <a:latin typeface="Aptos"/>
                <a:ea typeface="Aptos"/>
                <a:cs typeface="Aptos"/>
              </a:rPr>
              <a:t>14 / 14</a:t>
            </a:r>
          </a:p>
        </p:txBody>
      </p:sp>
    </p:spTree>
    <p:extLst>
      <p:ext uri="{BB962C8B-B14F-4D97-AF65-F5344CB8AC3E}">
        <p14:creationId xmlns:p14="http://schemas.microsoft.com/office/powerpoint/2010/main" val="4569991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2026-06-01T22:07:41.3720000Z</dcterms:created>
  <dcterms:modified xsi:type="dcterms:W3CDTF">2026-06-01T22:07:41.3720000Z</dcterms:modified>
</coreProperties>
</file>
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everyone. Today I want to show you our pipeline — the multi-agent system we built under the .opencode folder. In short, it lets an AI optimize our kernel code, but in a safe, step-by-step way. It works like a small team: one agent researches, one plans, one writes code, one reviews, and one tests on a real phone. Let's get started.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I'll cover. First, the big picture — where this system sits. Then why we built it this way, and the three ways to start a job. After that, the main pipeline and its safety gates. Then how the agents talk to each other, how it tests on real hardware, how it remembers things, and finally how you actually run it. I'll keep it simple.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parts. 'hmopt' is the platform — the tools, the code index, the database, the APIs. '.opencode' is the brain — the agents that decide what to do. The agents reach the tools through six MCP servers, shown in the middle. At the bottom is the real target: our kernel source and a real phone. Today we mostly talk about the brain — the .opencode part.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not just one big AI agent? Because one agent fails in four common ways. It drifts — it starts coding when it should still be researching. It skips testing — code lands with no proof. It forgets — long chats lose memory. And its 'wins' can't be trusted, because there are no real numbers. Our system fixes each one. We measure 'instruction count' because it is stable and easy to check — same input, same number.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three ways to start a job. One: the full auto pipeline — you give a target and it does everything end to end. Two: human-in-the-loop — you and the AI research and plan together, step by step. Three: a deep dive on one single function, just to understand it. Most of the time we use route one. Routes two and three feed into route 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system. The green path is the normal flow: intake, research, plan review, write code, code review, test, decide. The orange boxes are gates — you cannot skip them. The red arrows show what happens when something fails. If a review or a test fails, the work goes back to the right owner — not random, always one owner. There is also a limit on retries, so it can't loop forever. If it hits the limit, it stops and asks a human.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agent is the boss — the manager in the middle. Only the manager hands out work. Every other agent does its job, then comes back to the manager. The manager reads the result and sends out the next task. One thing we guard against: the manager faking it — just writing 'I delegated to X' instead of really doing it. So we added simple checks to make sure a real agent actually ran.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gates you can't skip. Plan review: before any code, someone checks the plan. Code review: after the code, someone checks it. And the test rule: we must flash and test both versions — the old one and the new one. One test alone does not count. Then we compare. If the new one uses fewer or equal instructions, it passes. If it uses more, it fails.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idea as before, with a bit more detail. When a stage fails, it goes back to one owner upstream, with a limit on tries. On the right is Auto-Iterate. If a run passes cleanly, it can start again on the same target to find more wins. It treats the past wins as already done, and looks for new, different ideas. It stops when it runs out of ideas or stops improving.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one agent finishes, it passes a small 'packet' to the next one. Every handoff carries the same common fields — shown on the left: the target, the files, the risks, the next action. On top of that, each step adds a few of its own — that's the table on the right. For example, the coder adds the list of changed functions; the reviewer adds the two image paths and the compare level; the tester adds the verdict and the delta. The big stuff stays on disk; the packet just points to it. So the chat stays short, and a long run stays easy to follow.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Skills are just shared rule files. When you run a command, these skills are loaded into the manager once. Then every agent can see them. So the agents don't re-read them — they already have them. We group them by job: the goal, the process, the gates, testing, and memory. About thirteen skills load on a full run.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idea, the agent follows a fixed order: think first, use the code index, read the source, build a clear picture, and only then propose a fix. For ideas, it makes exactly five, drops the ones we already tried, ranks them, and picks the best. The table shows our research agents — who talks to a human, who writes a plan, and so on. Don't worry about every row; the point is each one has a clear job.</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cool part — it tests on a real phone. First, build and sign the new image. Flash the old version, wait about ten minutes to settle, then test it. Then flash the new version, wait again, test, and compare. We always wait after each flash, and we never run both at the same time. If the build fails, that's a fail. If the phone or the cable fails, that's 'skipped' — not the code's fault.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remembers things across runs, so it gets smarter over time. There is memory by area — file, subsystem, and global lessons. There is the idea ledger — every idea we tried, with its status: approved, landed, or rejected. And there is a log of human decisions. Nothing gets deleted. So next time it won't suggest something we already rejected.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Long AI runs lose memory when the chat gets cut. We planned for that. The rule is simple: the file wins over the chat. The current state lives in one file, current_task.json. The agent writes to disk before it acts. So if a session dies, a new one just reads the files and keeps going. On the right is a real example of that state file.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six tool servers the agents use. Sequential Thinking — to plan. Kernel Index — to search the code. Build — to compile and sign. Flash — to put the image on the phone. Auto-Test — to run the tests. Git — to see changes. Each one has its own port. One nice detail: the Kernel Index is built by the hmopt platform — that's where the two halves meet.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you actually use it. Open the tool from the kernel folder. Edit a command — set the target, the goal, and how many rounds. Type the slash command, like /optimize_generic. Then the manager runs the whole pipeline for you. The table shows ready-made presets for different parts of the kernel. There are also commands just for research or planning. And you can switch the language in one config file.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run leaves files behind. Design notes, the plan, the two review results, the patch, the test results, the memory, and the state file. So a run is not a black box — you can open these files and see exactly what happened, and even replay it. It's all there on disk.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A staged, gated pipeline makes the AI work like a careful team. Two hard gates plus a real hardware test — no code without a plan, no win without proof. One manager runs the loop and fixes its own mistakes. It is built for long runs, and it learns over time. And you start it all with one command. That's it — happy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993392"/>
            <a:ext cx="12191695" cy="54864"/>
          </a:xfrm>
          <a:prstGeom prst="rect">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6858000"/>
          </a:xfrm>
          <a:prstGeom prst="rect">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914400"/>
            <a:ext cx="10424160" cy="457200"/>
          </a:xfrm>
          <a:prstGeom prst="rect">
            <a:avLst/>
          </a:prstGeom>
          <a:noFill/>
        </p:spPr>
        <p:txBody>
          <a:bodyPr wrap="square" anchor="t" lIns="0" rIns="0" tIns="0" bIns="0">
            <a:spAutoFit/>
          </a:bodyPr>
          <a:lstStyle/>
          <a:p>
            <a:pPr algn="l">
              <a:spcAft>
                <a:spcPts val="400"/>
              </a:spcAft>
            </a:pPr>
            <a:r>
              <a:rPr sz="1400" b="1" i="0">
                <a:solidFill>
                  <a:srgbClr val="B9C2F0"/>
                </a:solidFill>
                <a:latin typeface="Arial"/>
              </a:rPr>
              <a:t>HM-VERIF KERNEL · LLM OPTIMIZATION PLATFORM</a:t>
            </a:r>
          </a:p>
        </p:txBody>
      </p:sp>
      <p:sp>
        <p:nvSpPr>
          <p:cNvPr id="6" name="TextBox 5"/>
          <p:cNvSpPr txBox="1"/>
          <p:nvPr/>
        </p:nvSpPr>
        <p:spPr>
          <a:xfrm>
            <a:off x="841248" y="2240280"/>
            <a:ext cx="10607040" cy="1554480"/>
          </a:xfrm>
          <a:prstGeom prst="rect">
            <a:avLst/>
          </a:prstGeom>
          <a:noFill/>
        </p:spPr>
        <p:txBody>
          <a:bodyPr wrap="square" anchor="t" lIns="0" rIns="0" tIns="0" bIns="0">
            <a:spAutoFit/>
          </a:bodyPr>
          <a:lstStyle/>
          <a:p>
            <a:pPr algn="l">
              <a:spcAft>
                <a:spcPts val="400"/>
              </a:spcAft>
            </a:pPr>
            <a:r>
              <a:rPr sz="4600" b="1" i="0">
                <a:solidFill>
                  <a:srgbClr val="FFFFFF"/>
                </a:solidFill>
                <a:latin typeface="Arial"/>
              </a:rPr>
              <a:t>The .opencode Multi-Agent Harness</a:t>
            </a:r>
          </a:p>
        </p:txBody>
      </p:sp>
      <p:sp>
        <p:nvSpPr>
          <p:cNvPr id="7" name="TextBox 6"/>
          <p:cNvSpPr txBox="1"/>
          <p:nvPr/>
        </p:nvSpPr>
        <p:spPr>
          <a:xfrm>
            <a:off x="868680" y="3611880"/>
            <a:ext cx="10424160" cy="1280160"/>
          </a:xfrm>
          <a:prstGeom prst="rect">
            <a:avLst/>
          </a:prstGeom>
          <a:noFill/>
        </p:spPr>
        <p:txBody>
          <a:bodyPr wrap="square" anchor="t" lIns="0" rIns="0" tIns="0" bIns="0">
            <a:spAutoFit/>
          </a:bodyPr>
          <a:lstStyle/>
          <a:p>
            <a:pPr algn="l">
              <a:spcAft>
                <a:spcPts val="400"/>
              </a:spcAft>
            </a:pPr>
            <a:r>
              <a:rPr sz="1900" b="0" i="0">
                <a:solidFill>
                  <a:srgbClr val="D7DDF6"/>
                </a:solidFill>
                <a:latin typeface="Arial"/>
              </a:rPr>
              <a:t>A staged, gated, self-correcting multi-agent loop that cuts hot-path instruction count — and proves every win.</a:t>
            </a:r>
          </a:p>
        </p:txBody>
      </p:sp>
      <p:sp>
        <p:nvSpPr>
          <p:cNvPr id="8" name="TextBox 7"/>
          <p:cNvSpPr txBox="1"/>
          <p:nvPr/>
        </p:nvSpPr>
        <p:spPr>
          <a:xfrm>
            <a:off x="868680" y="4800600"/>
            <a:ext cx="10424160" cy="457200"/>
          </a:xfrm>
          <a:prstGeom prst="rect">
            <a:avLst/>
          </a:prstGeom>
          <a:noFill/>
        </p:spPr>
        <p:txBody>
          <a:bodyPr wrap="square" anchor="t" lIns="0" rIns="0" tIns="0" bIns="0">
            <a:spAutoFit/>
          </a:bodyPr>
          <a:lstStyle/>
          <a:p>
            <a:pPr algn="l">
              <a:spcAft>
                <a:spcPts val="400"/>
              </a:spcAft>
            </a:pPr>
            <a:r>
              <a:rPr sz="1450" b="1" i="0">
                <a:solidFill>
                  <a:srgbClr val="14A096"/>
                </a:solidFill>
                <a:latin typeface="Arial"/>
              </a:rPr>
              <a:t>research  →  plan-review (gate)  →  code  →  code-review (gate)  →  A/B-on-hardware  →  learn</a:t>
            </a:r>
          </a:p>
        </p:txBody>
      </p:sp>
      <p:sp>
        <p:nvSpPr>
          <p:cNvPr id="9" name="Rectangle 8"/>
          <p:cNvSpPr/>
          <p:nvPr/>
        </p:nvSpPr>
        <p:spPr>
          <a:xfrm>
            <a:off x="868680" y="5943600"/>
            <a:ext cx="3840480" cy="17780"/>
          </a:xfrm>
          <a:prstGeom prst="rect">
            <a:avLst/>
          </a:prstGeom>
          <a:solidFill>
            <a:srgbClr val="556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6053328"/>
            <a:ext cx="10424160" cy="548640"/>
          </a:xfrm>
          <a:prstGeom prst="rect">
            <a:avLst/>
          </a:prstGeom>
          <a:noFill/>
        </p:spPr>
        <p:txBody>
          <a:bodyPr wrap="square" anchor="t" lIns="0" rIns="0" tIns="0" bIns="0">
            <a:spAutoFit/>
          </a:bodyPr>
          <a:lstStyle/>
          <a:p>
            <a:pPr algn="l">
              <a:spcAft>
                <a:spcPts val="400"/>
              </a:spcAft>
            </a:pPr>
            <a:r>
              <a:rPr sz="1300" b="0" i="0">
                <a:solidFill>
                  <a:srgbClr val="B9C2F0"/>
                </a:solidFill>
                <a:latin typeface="Arial"/>
              </a:rPr>
              <a:t>Team walkthrough · pipeline usage &amp; implementation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320040"/>
          </a:xfrm>
          <a:prstGeom prst="rect">
            <a:avLst/>
          </a:prstGeom>
          <a:noFill/>
        </p:spPr>
        <p:txBody>
          <a:bodyPr wrap="square" anchor="t" lIns="0" rIns="0" tIns="0" bIns="0">
            <a:spAutoFit/>
          </a:bodyPr>
          <a:lstStyle/>
          <a:p>
            <a:pPr algn="l">
              <a:spcAft>
                <a:spcPts val="400"/>
              </a:spcAft>
            </a:pPr>
            <a:r>
              <a:rPr sz="1250" b="1" i="0">
                <a:solidFill>
                  <a:srgbClr val="14A096"/>
                </a:solidFill>
                <a:latin typeface="Arial"/>
              </a:rPr>
              <a:t>AGENDA</a:t>
            </a:r>
          </a:p>
        </p:txBody>
      </p:sp>
      <p:sp>
        <p:nvSpPr>
          <p:cNvPr id="5" name="TextBox 4"/>
          <p:cNvSpPr txBox="1"/>
          <p:nvPr/>
        </p:nvSpPr>
        <p:spPr>
          <a:xfrm>
            <a:off x="640080" y="658368"/>
            <a:ext cx="10972800" cy="731520"/>
          </a:xfrm>
          <a:prstGeom prst="rect">
            <a:avLst/>
          </a:prstGeom>
          <a:noFill/>
        </p:spPr>
        <p:txBody>
          <a:bodyPr wrap="square" anchor="t" lIns="0" rIns="0" tIns="0" bIns="0">
            <a:spAutoFit/>
          </a:bodyPr>
          <a:lstStyle/>
          <a:p>
            <a:pPr algn="l">
              <a:spcAft>
                <a:spcPts val="400"/>
              </a:spcAft>
            </a:pPr>
            <a:r>
              <a:rPr sz="3000" b="1" i="0">
                <a:solidFill>
                  <a:srgbClr val="2B368C"/>
                </a:solidFill>
                <a:latin typeface="Arial"/>
              </a:rPr>
              <a:t>What we'll walk through</a:t>
            </a:r>
          </a:p>
        </p:txBody>
      </p:sp>
      <p:sp>
        <p:nvSpPr>
          <p:cNvPr id="6" name="Rectangle 5"/>
          <p:cNvSpPr/>
          <p:nvPr/>
        </p:nvSpPr>
        <p:spPr>
          <a:xfrm>
            <a:off x="640080" y="1371600"/>
            <a:ext cx="10972800" cy="17780"/>
          </a:xfrm>
          <a:prstGeom prst="rect">
            <a:avLst/>
          </a:prstGeom>
          <a:solidFill>
            <a:srgbClr val="C8C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55664"/>
            <a:ext cx="7315200" cy="274320"/>
          </a:xfrm>
          <a:prstGeom prst="rect">
            <a:avLst/>
          </a:prstGeom>
          <a:noFill/>
        </p:spPr>
        <p:txBody>
          <a:bodyPr wrap="square" anchor="t" lIns="0" rIns="0" tIns="0" bIns="0">
            <a:spAutoFit/>
          </a:bodyPr>
          <a:lstStyle/>
          <a:p>
            <a:pPr algn="l">
              <a:spcAft>
                <a:spcPts val="400"/>
              </a:spcAft>
            </a:pPr>
            <a:r>
              <a:rPr sz="950" b="0" i="0">
                <a:solidFill>
                  <a:srgbClr val="5B657A"/>
                </a:solidFill>
                <a:latin typeface="Arial"/>
              </a:rPr>
              <a:t>.opencode multi-agent harness</a:t>
            </a:r>
          </a:p>
        </p:txBody>
      </p:sp>
      <p:sp>
        <p:nvSpPr>
          <p:cNvPr id="8" name="TextBox 7"/>
          <p:cNvSpPr txBox="1"/>
          <p:nvPr/>
        </p:nvSpPr>
        <p:spPr>
          <a:xfrm>
            <a:off x="10424160" y="6455664"/>
            <a:ext cx="1280160" cy="274320"/>
          </a:xfrm>
          <a:prstGeom prst="rect">
            <a:avLst/>
          </a:prstGeom>
          <a:noFill/>
        </p:spPr>
        <p:txBody>
          <a:bodyPr wrap="square" anchor="t" lIns="0" rIns="0" tIns="0" bIns="0">
            <a:spAutoFit/>
          </a:bodyPr>
          <a:lstStyle/>
          <a:p>
            <a:pPr algn="r">
              <a:spcAft>
                <a:spcPts val="400"/>
              </a:spcAft>
            </a:pPr>
            <a:r>
              <a:rPr sz="950" b="0" i="0">
                <a:solidFill>
                  <a:srgbClr val="5B657A"/>
                </a:solidFill>
                <a:latin typeface="Arial"/>
              </a:rPr>
              <a:t>2 / 19</a:t>
            </a:r>
          </a:p>
        </p:txBody>
      </p:sp>
      <p:sp>
        <p:nvSpPr>
          <p:cNvPr id="9" name="Rounded Rectangle 8"/>
          <p:cNvSpPr/>
          <p:nvPr/>
        </p:nvSpPr>
        <p:spPr>
          <a:xfrm>
            <a:off x="731520" y="1783080"/>
            <a:ext cx="566928" cy="566928"/>
          </a:xfrm>
          <a:prstGeom prst="roundRect">
            <a:avLst>
              <a:gd name="adj" fmla="val 20000"/>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800" b="1" i="0">
                <a:solidFill>
                  <a:srgbClr val="FFFFFF"/>
                </a:solidFill>
                <a:latin typeface="Arial"/>
              </a:rPr>
              <a:t>1</a:t>
            </a:r>
          </a:p>
        </p:txBody>
      </p:sp>
      <p:sp>
        <p:nvSpPr>
          <p:cNvPr id="10" name="TextBox 9"/>
          <p:cNvSpPr txBox="1"/>
          <p:nvPr/>
        </p:nvSpPr>
        <p:spPr>
          <a:xfrm>
            <a:off x="1463040" y="1801368"/>
            <a:ext cx="4572000" cy="365760"/>
          </a:xfrm>
          <a:prstGeom prst="rect">
            <a:avLst/>
          </a:prstGeom>
          <a:noFill/>
        </p:spPr>
        <p:txBody>
          <a:bodyPr wrap="square" anchor="t" lIns="0" rIns="0" tIns="0" bIns="0">
            <a:spAutoFit/>
          </a:bodyPr>
          <a:lstStyle/>
          <a:p>
            <a:pPr algn="l">
              <a:spcAft>
                <a:spcPts val="400"/>
              </a:spcAft>
            </a:pPr>
            <a:r>
              <a:rPr sz="1600" b="1" i="0">
                <a:solidFill>
                  <a:srgbClr val="2B368C"/>
                </a:solidFill>
                <a:latin typeface="Arial"/>
              </a:rPr>
              <a:t>The big picture</a:t>
            </a:r>
          </a:p>
        </p:txBody>
      </p:sp>
      <p:sp>
        <p:nvSpPr>
          <p:cNvPr id="11" name="TextBox 10"/>
          <p:cNvSpPr txBox="1"/>
          <p:nvPr/>
        </p:nvSpPr>
        <p:spPr>
          <a:xfrm>
            <a:off x="1463040" y="2112264"/>
            <a:ext cx="4572000" cy="320040"/>
          </a:xfrm>
          <a:prstGeom prst="rect">
            <a:avLst/>
          </a:prstGeom>
          <a:noFill/>
        </p:spPr>
        <p:txBody>
          <a:bodyPr wrap="square" anchor="t" lIns="0" rIns="0" tIns="0" bIns="0">
            <a:spAutoFit/>
          </a:bodyPr>
          <a:lstStyle/>
          <a:p>
            <a:pPr algn="l">
              <a:spcAft>
                <a:spcPts val="400"/>
              </a:spcAft>
            </a:pPr>
            <a:r>
              <a:rPr sz="1250" b="0" i="1">
                <a:solidFill>
                  <a:srgbClr val="5B657A"/>
                </a:solidFill>
                <a:latin typeface="Arial"/>
              </a:rPr>
              <a:t>where the harness sits</a:t>
            </a:r>
          </a:p>
        </p:txBody>
      </p:sp>
      <p:sp>
        <p:nvSpPr>
          <p:cNvPr id="12" name="Rounded Rectangle 11"/>
          <p:cNvSpPr/>
          <p:nvPr/>
        </p:nvSpPr>
        <p:spPr>
          <a:xfrm>
            <a:off x="731520" y="2624328"/>
            <a:ext cx="566928" cy="566928"/>
          </a:xfrm>
          <a:prstGeom prst="roundRect">
            <a:avLst>
              <a:gd name="adj" fmla="val 20000"/>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800" b="1" i="0">
                <a:solidFill>
                  <a:srgbClr val="FFFFFF"/>
                </a:solidFill>
                <a:latin typeface="Arial"/>
              </a:rPr>
              <a:t>2</a:t>
            </a:r>
          </a:p>
        </p:txBody>
      </p:sp>
      <p:sp>
        <p:nvSpPr>
          <p:cNvPr id="13" name="TextBox 12"/>
          <p:cNvSpPr txBox="1"/>
          <p:nvPr/>
        </p:nvSpPr>
        <p:spPr>
          <a:xfrm>
            <a:off x="1463040" y="2642616"/>
            <a:ext cx="4572000" cy="365760"/>
          </a:xfrm>
          <a:prstGeom prst="rect">
            <a:avLst/>
          </a:prstGeom>
          <a:noFill/>
        </p:spPr>
        <p:txBody>
          <a:bodyPr wrap="square" anchor="t" lIns="0" rIns="0" tIns="0" bIns="0">
            <a:spAutoFit/>
          </a:bodyPr>
          <a:lstStyle/>
          <a:p>
            <a:pPr algn="l">
              <a:spcAft>
                <a:spcPts val="400"/>
              </a:spcAft>
            </a:pPr>
            <a:r>
              <a:rPr sz="1600" b="1" i="0">
                <a:solidFill>
                  <a:srgbClr val="2B368C"/>
                </a:solidFill>
                <a:latin typeface="Arial"/>
              </a:rPr>
              <a:t>Why a staged harness</a:t>
            </a:r>
          </a:p>
        </p:txBody>
      </p:sp>
      <p:sp>
        <p:nvSpPr>
          <p:cNvPr id="14" name="TextBox 13"/>
          <p:cNvSpPr txBox="1"/>
          <p:nvPr/>
        </p:nvSpPr>
        <p:spPr>
          <a:xfrm>
            <a:off x="1463040" y="2953512"/>
            <a:ext cx="4572000" cy="320040"/>
          </a:xfrm>
          <a:prstGeom prst="rect">
            <a:avLst/>
          </a:prstGeom>
          <a:noFill/>
        </p:spPr>
        <p:txBody>
          <a:bodyPr wrap="square" anchor="t" lIns="0" rIns="0" tIns="0" bIns="0">
            <a:spAutoFit/>
          </a:bodyPr>
          <a:lstStyle/>
          <a:p>
            <a:pPr algn="l">
              <a:spcAft>
                <a:spcPts val="400"/>
              </a:spcAft>
            </a:pPr>
            <a:r>
              <a:rPr sz="1250" b="0" i="1">
                <a:solidFill>
                  <a:srgbClr val="5B657A"/>
                </a:solidFill>
                <a:latin typeface="Arial"/>
              </a:rPr>
              <a:t>the problem it solves</a:t>
            </a:r>
          </a:p>
        </p:txBody>
      </p:sp>
      <p:sp>
        <p:nvSpPr>
          <p:cNvPr id="15" name="Rounded Rectangle 14"/>
          <p:cNvSpPr/>
          <p:nvPr/>
        </p:nvSpPr>
        <p:spPr>
          <a:xfrm>
            <a:off x="731520" y="3465576"/>
            <a:ext cx="566928" cy="566928"/>
          </a:xfrm>
          <a:prstGeom prst="roundRect">
            <a:avLst>
              <a:gd name="adj" fmla="val 20000"/>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800" b="1" i="0">
                <a:solidFill>
                  <a:srgbClr val="FFFFFF"/>
                </a:solidFill>
                <a:latin typeface="Arial"/>
              </a:rPr>
              <a:t>3</a:t>
            </a:r>
          </a:p>
        </p:txBody>
      </p:sp>
      <p:sp>
        <p:nvSpPr>
          <p:cNvPr id="16" name="TextBox 15"/>
          <p:cNvSpPr txBox="1"/>
          <p:nvPr/>
        </p:nvSpPr>
        <p:spPr>
          <a:xfrm>
            <a:off x="1463040" y="3483864"/>
            <a:ext cx="4572000" cy="365760"/>
          </a:xfrm>
          <a:prstGeom prst="rect">
            <a:avLst/>
          </a:prstGeom>
          <a:noFill/>
        </p:spPr>
        <p:txBody>
          <a:bodyPr wrap="square" anchor="t" lIns="0" rIns="0" tIns="0" bIns="0">
            <a:spAutoFit/>
          </a:bodyPr>
          <a:lstStyle/>
          <a:p>
            <a:pPr algn="l">
              <a:spcAft>
                <a:spcPts val="400"/>
              </a:spcAft>
            </a:pPr>
            <a:r>
              <a:rPr sz="1600" b="1" i="0">
                <a:solidFill>
                  <a:srgbClr val="2B368C"/>
                </a:solidFill>
                <a:latin typeface="Arial"/>
              </a:rPr>
              <a:t>Three entry routes</a:t>
            </a:r>
          </a:p>
        </p:txBody>
      </p:sp>
      <p:sp>
        <p:nvSpPr>
          <p:cNvPr id="17" name="TextBox 16"/>
          <p:cNvSpPr txBox="1"/>
          <p:nvPr/>
        </p:nvSpPr>
        <p:spPr>
          <a:xfrm>
            <a:off x="1463040" y="3794760"/>
            <a:ext cx="4572000" cy="320040"/>
          </a:xfrm>
          <a:prstGeom prst="rect">
            <a:avLst/>
          </a:prstGeom>
          <a:noFill/>
        </p:spPr>
        <p:txBody>
          <a:bodyPr wrap="square" anchor="t" lIns="0" rIns="0" tIns="0" bIns="0">
            <a:spAutoFit/>
          </a:bodyPr>
          <a:lstStyle/>
          <a:p>
            <a:pPr algn="l">
              <a:spcAft>
                <a:spcPts val="400"/>
              </a:spcAft>
            </a:pPr>
            <a:r>
              <a:rPr sz="1250" b="0" i="1">
                <a:solidFill>
                  <a:srgbClr val="5B657A"/>
                </a:solidFill>
                <a:latin typeface="Arial"/>
              </a:rPr>
              <a:t>the front door</a:t>
            </a:r>
          </a:p>
        </p:txBody>
      </p:sp>
      <p:sp>
        <p:nvSpPr>
          <p:cNvPr id="18" name="Rounded Rectangle 17"/>
          <p:cNvSpPr/>
          <p:nvPr/>
        </p:nvSpPr>
        <p:spPr>
          <a:xfrm>
            <a:off x="731520" y="4306824"/>
            <a:ext cx="566928" cy="566928"/>
          </a:xfrm>
          <a:prstGeom prst="roundRect">
            <a:avLst>
              <a:gd name="adj" fmla="val 20000"/>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800" b="1" i="0">
                <a:solidFill>
                  <a:srgbClr val="FFFFFF"/>
                </a:solidFill>
                <a:latin typeface="Arial"/>
              </a:rPr>
              <a:t>4</a:t>
            </a:r>
          </a:p>
        </p:txBody>
      </p:sp>
      <p:sp>
        <p:nvSpPr>
          <p:cNvPr id="19" name="TextBox 18"/>
          <p:cNvSpPr txBox="1"/>
          <p:nvPr/>
        </p:nvSpPr>
        <p:spPr>
          <a:xfrm>
            <a:off x="1463040" y="4325112"/>
            <a:ext cx="4572000" cy="365760"/>
          </a:xfrm>
          <a:prstGeom prst="rect">
            <a:avLst/>
          </a:prstGeom>
          <a:noFill/>
        </p:spPr>
        <p:txBody>
          <a:bodyPr wrap="square" anchor="t" lIns="0" rIns="0" tIns="0" bIns="0">
            <a:spAutoFit/>
          </a:bodyPr>
          <a:lstStyle/>
          <a:p>
            <a:pPr algn="l">
              <a:spcAft>
                <a:spcPts val="400"/>
              </a:spcAft>
            </a:pPr>
            <a:r>
              <a:rPr sz="1600" b="1" i="0">
                <a:solidFill>
                  <a:srgbClr val="2B368C"/>
                </a:solidFill>
                <a:latin typeface="Arial"/>
              </a:rPr>
              <a:t>The 7-stage pipeline</a:t>
            </a:r>
          </a:p>
        </p:txBody>
      </p:sp>
      <p:sp>
        <p:nvSpPr>
          <p:cNvPr id="20" name="TextBox 19"/>
          <p:cNvSpPr txBox="1"/>
          <p:nvPr/>
        </p:nvSpPr>
        <p:spPr>
          <a:xfrm>
            <a:off x="1463040" y="4636008"/>
            <a:ext cx="4572000" cy="320040"/>
          </a:xfrm>
          <a:prstGeom prst="rect">
            <a:avLst/>
          </a:prstGeom>
          <a:noFill/>
        </p:spPr>
        <p:txBody>
          <a:bodyPr wrap="square" anchor="t" lIns="0" rIns="0" tIns="0" bIns="0">
            <a:spAutoFit/>
          </a:bodyPr>
          <a:lstStyle/>
          <a:p>
            <a:pPr algn="l">
              <a:spcAft>
                <a:spcPts val="400"/>
              </a:spcAft>
            </a:pPr>
            <a:r>
              <a:rPr sz="1250" b="0" i="1">
                <a:solidFill>
                  <a:srgbClr val="5B657A"/>
                </a:solidFill>
                <a:latin typeface="Arial"/>
              </a:rPr>
              <a:t>the spine + the gates</a:t>
            </a:r>
          </a:p>
        </p:txBody>
      </p:sp>
      <p:sp>
        <p:nvSpPr>
          <p:cNvPr id="21" name="Rounded Rectangle 20"/>
          <p:cNvSpPr/>
          <p:nvPr/>
        </p:nvSpPr>
        <p:spPr>
          <a:xfrm>
            <a:off x="731520" y="5148072"/>
            <a:ext cx="566928" cy="566928"/>
          </a:xfrm>
          <a:prstGeom prst="roundRect">
            <a:avLst>
              <a:gd name="adj" fmla="val 20000"/>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800" b="1" i="0">
                <a:solidFill>
                  <a:srgbClr val="FFFFFF"/>
                </a:solidFill>
                <a:latin typeface="Arial"/>
              </a:rPr>
              <a:t>5</a:t>
            </a:r>
          </a:p>
        </p:txBody>
      </p:sp>
      <p:sp>
        <p:nvSpPr>
          <p:cNvPr id="22" name="TextBox 21"/>
          <p:cNvSpPr txBox="1"/>
          <p:nvPr/>
        </p:nvSpPr>
        <p:spPr>
          <a:xfrm>
            <a:off x="1463040" y="5166359"/>
            <a:ext cx="4572000" cy="365760"/>
          </a:xfrm>
          <a:prstGeom prst="rect">
            <a:avLst/>
          </a:prstGeom>
          <a:noFill/>
        </p:spPr>
        <p:txBody>
          <a:bodyPr wrap="square" anchor="t" lIns="0" rIns="0" tIns="0" bIns="0">
            <a:spAutoFit/>
          </a:bodyPr>
          <a:lstStyle/>
          <a:p>
            <a:pPr algn="l">
              <a:spcAft>
                <a:spcPts val="400"/>
              </a:spcAft>
            </a:pPr>
            <a:r>
              <a:rPr sz="1600" b="1" i="0">
                <a:solidFill>
                  <a:srgbClr val="2B368C"/>
                </a:solidFill>
                <a:latin typeface="Arial"/>
              </a:rPr>
              <a:t>Hub-and-spoke + back-edges</a:t>
            </a:r>
          </a:p>
        </p:txBody>
      </p:sp>
      <p:sp>
        <p:nvSpPr>
          <p:cNvPr id="23" name="TextBox 22"/>
          <p:cNvSpPr txBox="1"/>
          <p:nvPr/>
        </p:nvSpPr>
        <p:spPr>
          <a:xfrm>
            <a:off x="1463040" y="5477256"/>
            <a:ext cx="4572000" cy="320040"/>
          </a:xfrm>
          <a:prstGeom prst="rect">
            <a:avLst/>
          </a:prstGeom>
          <a:noFill/>
        </p:spPr>
        <p:txBody>
          <a:bodyPr wrap="square" anchor="t" lIns="0" rIns="0" tIns="0" bIns="0">
            <a:spAutoFit/>
          </a:bodyPr>
          <a:lstStyle/>
          <a:p>
            <a:pPr algn="l">
              <a:spcAft>
                <a:spcPts val="400"/>
              </a:spcAft>
            </a:pPr>
            <a:r>
              <a:rPr sz="1250" b="0" i="1">
                <a:solidFill>
                  <a:srgbClr val="5B657A"/>
                </a:solidFill>
                <a:latin typeface="Arial"/>
              </a:rPr>
              <a:t>how the loop self-corrects</a:t>
            </a:r>
          </a:p>
        </p:txBody>
      </p:sp>
      <p:sp>
        <p:nvSpPr>
          <p:cNvPr id="24" name="Rounded Rectangle 23"/>
          <p:cNvSpPr/>
          <p:nvPr/>
        </p:nvSpPr>
        <p:spPr>
          <a:xfrm>
            <a:off x="6309360" y="1783080"/>
            <a:ext cx="566928" cy="566928"/>
          </a:xfrm>
          <a:prstGeom prst="roundRect">
            <a:avLst>
              <a:gd name="adj" fmla="val 20000"/>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800" b="1" i="0">
                <a:solidFill>
                  <a:srgbClr val="FFFFFF"/>
                </a:solidFill>
                <a:latin typeface="Arial"/>
              </a:rPr>
              <a:t>6</a:t>
            </a:r>
          </a:p>
        </p:txBody>
      </p:sp>
      <p:sp>
        <p:nvSpPr>
          <p:cNvPr id="25" name="TextBox 24"/>
          <p:cNvSpPr txBox="1"/>
          <p:nvPr/>
        </p:nvSpPr>
        <p:spPr>
          <a:xfrm>
            <a:off x="7040880" y="1801368"/>
            <a:ext cx="4572000" cy="365760"/>
          </a:xfrm>
          <a:prstGeom prst="rect">
            <a:avLst/>
          </a:prstGeom>
          <a:noFill/>
        </p:spPr>
        <p:txBody>
          <a:bodyPr wrap="square" anchor="t" lIns="0" rIns="0" tIns="0" bIns="0">
            <a:spAutoFit/>
          </a:bodyPr>
          <a:lstStyle/>
          <a:p>
            <a:pPr algn="l">
              <a:spcAft>
                <a:spcPts val="400"/>
              </a:spcAft>
            </a:pPr>
            <a:r>
              <a:rPr sz="1600" b="1" i="0">
                <a:solidFill>
                  <a:srgbClr val="2B368C"/>
                </a:solidFill>
                <a:latin typeface="Arial"/>
              </a:rPr>
              <a:t>Handoffs, skills, research</a:t>
            </a:r>
          </a:p>
        </p:txBody>
      </p:sp>
      <p:sp>
        <p:nvSpPr>
          <p:cNvPr id="26" name="TextBox 25"/>
          <p:cNvSpPr txBox="1"/>
          <p:nvPr/>
        </p:nvSpPr>
        <p:spPr>
          <a:xfrm>
            <a:off x="7040880" y="2112264"/>
            <a:ext cx="4572000" cy="320040"/>
          </a:xfrm>
          <a:prstGeom prst="rect">
            <a:avLst/>
          </a:prstGeom>
          <a:noFill/>
        </p:spPr>
        <p:txBody>
          <a:bodyPr wrap="square" anchor="t" lIns="0" rIns="0" tIns="0" bIns="0">
            <a:spAutoFit/>
          </a:bodyPr>
          <a:lstStyle/>
          <a:p>
            <a:pPr algn="l">
              <a:spcAft>
                <a:spcPts val="400"/>
              </a:spcAft>
            </a:pPr>
            <a:r>
              <a:rPr sz="1250" b="0" i="1">
                <a:solidFill>
                  <a:srgbClr val="5B657A"/>
                </a:solidFill>
                <a:latin typeface="Arial"/>
              </a:rPr>
              <a:t>the connective tissue</a:t>
            </a:r>
          </a:p>
        </p:txBody>
      </p:sp>
      <p:sp>
        <p:nvSpPr>
          <p:cNvPr id="27" name="Rounded Rectangle 26"/>
          <p:cNvSpPr/>
          <p:nvPr/>
        </p:nvSpPr>
        <p:spPr>
          <a:xfrm>
            <a:off x="6309360" y="2624328"/>
            <a:ext cx="566928" cy="566928"/>
          </a:xfrm>
          <a:prstGeom prst="roundRect">
            <a:avLst>
              <a:gd name="adj" fmla="val 20000"/>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800" b="1" i="0">
                <a:solidFill>
                  <a:srgbClr val="FFFFFF"/>
                </a:solidFill>
                <a:latin typeface="Arial"/>
              </a:rPr>
              <a:t>7</a:t>
            </a:r>
          </a:p>
        </p:txBody>
      </p:sp>
      <p:sp>
        <p:nvSpPr>
          <p:cNvPr id="28" name="TextBox 27"/>
          <p:cNvSpPr txBox="1"/>
          <p:nvPr/>
        </p:nvSpPr>
        <p:spPr>
          <a:xfrm>
            <a:off x="7040880" y="2642616"/>
            <a:ext cx="4572000" cy="365760"/>
          </a:xfrm>
          <a:prstGeom prst="rect">
            <a:avLst/>
          </a:prstGeom>
          <a:noFill/>
        </p:spPr>
        <p:txBody>
          <a:bodyPr wrap="square" anchor="t" lIns="0" rIns="0" tIns="0" bIns="0">
            <a:spAutoFit/>
          </a:bodyPr>
          <a:lstStyle/>
          <a:p>
            <a:pPr algn="l">
              <a:spcAft>
                <a:spcPts val="400"/>
              </a:spcAft>
            </a:pPr>
            <a:r>
              <a:rPr sz="1600" b="1" i="0">
                <a:solidFill>
                  <a:srgbClr val="2B368C"/>
                </a:solidFill>
                <a:latin typeface="Arial"/>
              </a:rPr>
              <a:t>A/B validation on hardware</a:t>
            </a:r>
          </a:p>
        </p:txBody>
      </p:sp>
      <p:sp>
        <p:nvSpPr>
          <p:cNvPr id="29" name="TextBox 28"/>
          <p:cNvSpPr txBox="1"/>
          <p:nvPr/>
        </p:nvSpPr>
        <p:spPr>
          <a:xfrm>
            <a:off x="7040880" y="2953512"/>
            <a:ext cx="4572000" cy="320040"/>
          </a:xfrm>
          <a:prstGeom prst="rect">
            <a:avLst/>
          </a:prstGeom>
          <a:noFill/>
        </p:spPr>
        <p:txBody>
          <a:bodyPr wrap="square" anchor="t" lIns="0" rIns="0" tIns="0" bIns="0">
            <a:spAutoFit/>
          </a:bodyPr>
          <a:lstStyle/>
          <a:p>
            <a:pPr algn="l">
              <a:spcAft>
                <a:spcPts val="400"/>
              </a:spcAft>
            </a:pPr>
            <a:r>
              <a:rPr sz="1250" b="0" i="1">
                <a:solidFill>
                  <a:srgbClr val="5B657A"/>
                </a:solidFill>
                <a:latin typeface="Arial"/>
              </a:rPr>
              <a:t>proving the win</a:t>
            </a:r>
          </a:p>
        </p:txBody>
      </p:sp>
      <p:sp>
        <p:nvSpPr>
          <p:cNvPr id="30" name="Rounded Rectangle 29"/>
          <p:cNvSpPr/>
          <p:nvPr/>
        </p:nvSpPr>
        <p:spPr>
          <a:xfrm>
            <a:off x="6309360" y="3465576"/>
            <a:ext cx="566928" cy="566928"/>
          </a:xfrm>
          <a:prstGeom prst="roundRect">
            <a:avLst>
              <a:gd name="adj" fmla="val 20000"/>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800" b="1" i="0">
                <a:solidFill>
                  <a:srgbClr val="FFFFFF"/>
                </a:solidFill>
                <a:latin typeface="Arial"/>
              </a:rPr>
              <a:t>8</a:t>
            </a:r>
          </a:p>
        </p:txBody>
      </p:sp>
      <p:sp>
        <p:nvSpPr>
          <p:cNvPr id="31" name="TextBox 30"/>
          <p:cNvSpPr txBox="1"/>
          <p:nvPr/>
        </p:nvSpPr>
        <p:spPr>
          <a:xfrm>
            <a:off x="7040880" y="3483864"/>
            <a:ext cx="4572000" cy="365760"/>
          </a:xfrm>
          <a:prstGeom prst="rect">
            <a:avLst/>
          </a:prstGeom>
          <a:noFill/>
        </p:spPr>
        <p:txBody>
          <a:bodyPr wrap="square" anchor="t" lIns="0" rIns="0" tIns="0" bIns="0">
            <a:spAutoFit/>
          </a:bodyPr>
          <a:lstStyle/>
          <a:p>
            <a:pPr algn="l">
              <a:spcAft>
                <a:spcPts val="400"/>
              </a:spcAft>
            </a:pPr>
            <a:r>
              <a:rPr sz="1600" b="1" i="0">
                <a:solidFill>
                  <a:srgbClr val="2B368C"/>
                </a:solidFill>
                <a:latin typeface="Arial"/>
              </a:rPr>
              <a:t>Memory + compaction safety</a:t>
            </a:r>
          </a:p>
        </p:txBody>
      </p:sp>
      <p:sp>
        <p:nvSpPr>
          <p:cNvPr id="32" name="TextBox 31"/>
          <p:cNvSpPr txBox="1"/>
          <p:nvPr/>
        </p:nvSpPr>
        <p:spPr>
          <a:xfrm>
            <a:off x="7040880" y="3794760"/>
            <a:ext cx="4572000" cy="320040"/>
          </a:xfrm>
          <a:prstGeom prst="rect">
            <a:avLst/>
          </a:prstGeom>
          <a:noFill/>
        </p:spPr>
        <p:txBody>
          <a:bodyPr wrap="square" anchor="t" lIns="0" rIns="0" tIns="0" bIns="0">
            <a:spAutoFit/>
          </a:bodyPr>
          <a:lstStyle/>
          <a:p>
            <a:pPr algn="l">
              <a:spcAft>
                <a:spcPts val="400"/>
              </a:spcAft>
            </a:pPr>
            <a:r>
              <a:rPr sz="1250" b="0" i="1">
                <a:solidFill>
                  <a:srgbClr val="5B657A"/>
                </a:solidFill>
                <a:latin typeface="Arial"/>
              </a:rPr>
              <a:t>how it learns &amp; survives</a:t>
            </a:r>
          </a:p>
        </p:txBody>
      </p:sp>
      <p:sp>
        <p:nvSpPr>
          <p:cNvPr id="33" name="Rounded Rectangle 32"/>
          <p:cNvSpPr/>
          <p:nvPr/>
        </p:nvSpPr>
        <p:spPr>
          <a:xfrm>
            <a:off x="6309360" y="4306824"/>
            <a:ext cx="566928" cy="566928"/>
          </a:xfrm>
          <a:prstGeom prst="roundRect">
            <a:avLst>
              <a:gd name="adj" fmla="val 20000"/>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800" b="1" i="0">
                <a:solidFill>
                  <a:srgbClr val="FFFFFF"/>
                </a:solidFill>
                <a:latin typeface="Arial"/>
              </a:rPr>
              <a:t>9</a:t>
            </a:r>
          </a:p>
        </p:txBody>
      </p:sp>
      <p:sp>
        <p:nvSpPr>
          <p:cNvPr id="34" name="TextBox 33"/>
          <p:cNvSpPr txBox="1"/>
          <p:nvPr/>
        </p:nvSpPr>
        <p:spPr>
          <a:xfrm>
            <a:off x="7040880" y="4325112"/>
            <a:ext cx="4572000" cy="365760"/>
          </a:xfrm>
          <a:prstGeom prst="rect">
            <a:avLst/>
          </a:prstGeom>
          <a:noFill/>
        </p:spPr>
        <p:txBody>
          <a:bodyPr wrap="square" anchor="t" lIns="0" rIns="0" tIns="0" bIns="0">
            <a:spAutoFit/>
          </a:bodyPr>
          <a:lstStyle/>
          <a:p>
            <a:pPr algn="l">
              <a:spcAft>
                <a:spcPts val="400"/>
              </a:spcAft>
            </a:pPr>
            <a:r>
              <a:rPr sz="1600" b="1" i="0">
                <a:solidFill>
                  <a:srgbClr val="2B368C"/>
                </a:solidFill>
                <a:latin typeface="Arial"/>
              </a:rPr>
              <a:t>How to actually run it</a:t>
            </a:r>
          </a:p>
        </p:txBody>
      </p:sp>
      <p:sp>
        <p:nvSpPr>
          <p:cNvPr id="35" name="TextBox 34"/>
          <p:cNvSpPr txBox="1"/>
          <p:nvPr/>
        </p:nvSpPr>
        <p:spPr>
          <a:xfrm>
            <a:off x="7040880" y="4636008"/>
            <a:ext cx="4572000" cy="320040"/>
          </a:xfrm>
          <a:prstGeom prst="rect">
            <a:avLst/>
          </a:prstGeom>
          <a:noFill/>
        </p:spPr>
        <p:txBody>
          <a:bodyPr wrap="square" anchor="t" lIns="0" rIns="0" tIns="0" bIns="0">
            <a:spAutoFit/>
          </a:bodyPr>
          <a:lstStyle/>
          <a:p>
            <a:pPr algn="l">
              <a:spcAft>
                <a:spcPts val="400"/>
              </a:spcAft>
            </a:pPr>
            <a:r>
              <a:rPr sz="1250" b="0" i="1">
                <a:solidFill>
                  <a:srgbClr val="5B657A"/>
                </a:solidFill>
                <a:latin typeface="Arial"/>
              </a:rPr>
              <a:t>presets &amp; slash commands</a:t>
            </a:r>
          </a:p>
        </p:txBody>
      </p:sp>
      <p:sp>
        <p:nvSpPr>
          <p:cNvPr id="36" name="Rounded Rectangle 35"/>
          <p:cNvSpPr/>
          <p:nvPr/>
        </p:nvSpPr>
        <p:spPr>
          <a:xfrm>
            <a:off x="6309360" y="5148072"/>
            <a:ext cx="566928" cy="566928"/>
          </a:xfrm>
          <a:prstGeom prst="roundRect">
            <a:avLst>
              <a:gd name="adj" fmla="val 20000"/>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800" b="1" i="0">
                <a:solidFill>
                  <a:srgbClr val="FFFFFF"/>
                </a:solidFill>
                <a:latin typeface="Arial"/>
              </a:rPr>
              <a:t>10</a:t>
            </a:r>
          </a:p>
        </p:txBody>
      </p:sp>
      <p:sp>
        <p:nvSpPr>
          <p:cNvPr id="37" name="TextBox 36"/>
          <p:cNvSpPr txBox="1"/>
          <p:nvPr/>
        </p:nvSpPr>
        <p:spPr>
          <a:xfrm>
            <a:off x="7040880" y="5166359"/>
            <a:ext cx="4572000" cy="365760"/>
          </a:xfrm>
          <a:prstGeom prst="rect">
            <a:avLst/>
          </a:prstGeom>
          <a:noFill/>
        </p:spPr>
        <p:txBody>
          <a:bodyPr wrap="square" anchor="t" lIns="0" rIns="0" tIns="0" bIns="0">
            <a:spAutoFit/>
          </a:bodyPr>
          <a:lstStyle/>
          <a:p>
            <a:pPr algn="l">
              <a:spcAft>
                <a:spcPts val="400"/>
              </a:spcAft>
            </a:pPr>
            <a:r>
              <a:rPr sz="1600" b="1" i="0">
                <a:solidFill>
                  <a:srgbClr val="2B368C"/>
                </a:solidFill>
                <a:latin typeface="Arial"/>
              </a:rPr>
              <a:t>Artifacts &amp; takeaways</a:t>
            </a:r>
          </a:p>
        </p:txBody>
      </p:sp>
      <p:sp>
        <p:nvSpPr>
          <p:cNvPr id="38" name="TextBox 37"/>
          <p:cNvSpPr txBox="1"/>
          <p:nvPr/>
        </p:nvSpPr>
        <p:spPr>
          <a:xfrm>
            <a:off x="7040880" y="5477256"/>
            <a:ext cx="4572000" cy="320040"/>
          </a:xfrm>
          <a:prstGeom prst="rect">
            <a:avLst/>
          </a:prstGeom>
          <a:noFill/>
        </p:spPr>
        <p:txBody>
          <a:bodyPr wrap="square" anchor="t" lIns="0" rIns="0" tIns="0" bIns="0">
            <a:spAutoFit/>
          </a:bodyPr>
          <a:lstStyle/>
          <a:p>
            <a:pPr algn="l">
              <a:spcAft>
                <a:spcPts val="400"/>
              </a:spcAft>
            </a:pPr>
            <a:r>
              <a:rPr sz="1250" b="0" i="1">
                <a:solidFill>
                  <a:srgbClr val="5B657A"/>
                </a:solidFill>
                <a:latin typeface="Arial"/>
              </a:rPr>
              <a:t>what a run leaves behind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320040"/>
          </a:xfrm>
          <a:prstGeom prst="rect">
            <a:avLst/>
          </a:prstGeom>
          <a:noFill/>
        </p:spPr>
        <p:txBody>
          <a:bodyPr wrap="square" anchor="t" lIns="0" rIns="0" tIns="0" bIns="0">
            <a:spAutoFit/>
          </a:bodyPr>
          <a:lstStyle/>
          <a:p>
            <a:pPr algn="l">
              <a:spcAft>
                <a:spcPts val="400"/>
              </a:spcAft>
            </a:pPr>
            <a:r>
              <a:rPr sz="1250" b="1" i="0">
                <a:solidFill>
                  <a:srgbClr val="14A096"/>
                </a:solidFill>
                <a:latin typeface="Arial"/>
              </a:rPr>
              <a:t>THE BIG PICTURE</a:t>
            </a:r>
          </a:p>
        </p:txBody>
      </p:sp>
      <p:sp>
        <p:nvSpPr>
          <p:cNvPr id="5" name="TextBox 4"/>
          <p:cNvSpPr txBox="1"/>
          <p:nvPr/>
        </p:nvSpPr>
        <p:spPr>
          <a:xfrm>
            <a:off x="640080" y="658368"/>
            <a:ext cx="10972800" cy="731520"/>
          </a:xfrm>
          <a:prstGeom prst="rect">
            <a:avLst/>
          </a:prstGeom>
          <a:noFill/>
        </p:spPr>
        <p:txBody>
          <a:bodyPr wrap="square" anchor="t" lIns="0" rIns="0" tIns="0" bIns="0">
            <a:spAutoFit/>
          </a:bodyPr>
          <a:lstStyle/>
          <a:p>
            <a:pPr algn="l">
              <a:spcAft>
                <a:spcPts val="400"/>
              </a:spcAft>
            </a:pPr>
            <a:r>
              <a:rPr sz="3000" b="1" i="0">
                <a:solidFill>
                  <a:srgbClr val="2B368C"/>
                </a:solidFill>
                <a:latin typeface="Arial"/>
              </a:rPr>
              <a:t>Where the harness sits</a:t>
            </a:r>
          </a:p>
        </p:txBody>
      </p:sp>
      <p:sp>
        <p:nvSpPr>
          <p:cNvPr id="6" name="Rectangle 5"/>
          <p:cNvSpPr/>
          <p:nvPr/>
        </p:nvSpPr>
        <p:spPr>
          <a:xfrm>
            <a:off x="640080" y="1371600"/>
            <a:ext cx="10972800" cy="17780"/>
          </a:xfrm>
          <a:prstGeom prst="rect">
            <a:avLst/>
          </a:prstGeom>
          <a:solidFill>
            <a:srgbClr val="C8C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55664"/>
            <a:ext cx="7315200" cy="274320"/>
          </a:xfrm>
          <a:prstGeom prst="rect">
            <a:avLst/>
          </a:prstGeom>
          <a:noFill/>
        </p:spPr>
        <p:txBody>
          <a:bodyPr wrap="square" anchor="t" lIns="0" rIns="0" tIns="0" bIns="0">
            <a:spAutoFit/>
          </a:bodyPr>
          <a:lstStyle/>
          <a:p>
            <a:pPr algn="l">
              <a:spcAft>
                <a:spcPts val="400"/>
              </a:spcAft>
            </a:pPr>
            <a:r>
              <a:rPr sz="950" b="0" i="0">
                <a:solidFill>
                  <a:srgbClr val="5B657A"/>
                </a:solidFill>
                <a:latin typeface="Arial"/>
              </a:rPr>
              <a:t>.opencode multi-agent harness</a:t>
            </a:r>
          </a:p>
        </p:txBody>
      </p:sp>
      <p:sp>
        <p:nvSpPr>
          <p:cNvPr id="8" name="TextBox 7"/>
          <p:cNvSpPr txBox="1"/>
          <p:nvPr/>
        </p:nvSpPr>
        <p:spPr>
          <a:xfrm>
            <a:off x="10424160" y="6455664"/>
            <a:ext cx="1280160" cy="274320"/>
          </a:xfrm>
          <a:prstGeom prst="rect">
            <a:avLst/>
          </a:prstGeom>
          <a:noFill/>
        </p:spPr>
        <p:txBody>
          <a:bodyPr wrap="square" anchor="t" lIns="0" rIns="0" tIns="0" bIns="0">
            <a:spAutoFit/>
          </a:bodyPr>
          <a:lstStyle/>
          <a:p>
            <a:pPr algn="r">
              <a:spcAft>
                <a:spcPts val="400"/>
              </a:spcAft>
            </a:pPr>
            <a:r>
              <a:rPr sz="950" b="0" i="0">
                <a:solidFill>
                  <a:srgbClr val="5B657A"/>
                </a:solidFill>
                <a:latin typeface="Arial"/>
              </a:rPr>
              <a:t>3 / 19</a:t>
            </a:r>
          </a:p>
        </p:txBody>
      </p:sp>
      <p:sp>
        <p:nvSpPr>
          <p:cNvPr id="9" name="TextBox 8"/>
          <p:cNvSpPr txBox="1"/>
          <p:nvPr/>
        </p:nvSpPr>
        <p:spPr>
          <a:xfrm>
            <a:off x="640080" y="1481328"/>
            <a:ext cx="10881360" cy="457200"/>
          </a:xfrm>
          <a:prstGeom prst="rect">
            <a:avLst/>
          </a:prstGeom>
          <a:noFill/>
        </p:spPr>
        <p:txBody>
          <a:bodyPr wrap="square" anchor="t" lIns="0" rIns="0" tIns="0" bIns="0">
            <a:spAutoFit/>
          </a:bodyPr>
          <a:lstStyle/>
          <a:p>
            <a:pPr algn="l">
              <a:spcAft>
                <a:spcPts val="400"/>
              </a:spcAft>
            </a:pPr>
            <a:r>
              <a:rPr sz="1450" b="0" i="0">
                <a:solidFill>
                  <a:srgbClr val="5B657A"/>
                </a:solidFill>
                <a:latin typeface="Arial"/>
              </a:rPr>
              <a:t>hmopt</a:t>
            </a:r>
            <a:r>
              <a:rPr sz="1450" b="0" i="0">
                <a:solidFill>
                  <a:srgbClr val="5B657A"/>
                </a:solidFill>
                <a:latin typeface="Arial"/>
              </a:rPr>
              <a:t> = the platform (the factory floor).   </a:t>
            </a:r>
            <a:r>
              <a:rPr sz="1450" b="1" i="0">
                <a:solidFill>
                  <a:srgbClr val="14A096"/>
                </a:solidFill>
                <a:latin typeface="Arial"/>
              </a:rPr>
              <a:t>.opencode</a:t>
            </a:r>
            <a:r>
              <a:rPr sz="1450" b="1" i="0">
                <a:solidFill>
                  <a:srgbClr val="5B657A"/>
                </a:solidFill>
                <a:latin typeface="Arial"/>
              </a:rPr>
              <a:t> = the agentic brain that drives it (this talk).</a:t>
            </a:r>
          </a:p>
        </p:txBody>
      </p:sp>
      <p:sp>
        <p:nvSpPr>
          <p:cNvPr id="10" name="Rounded Rectangle 9"/>
          <p:cNvSpPr/>
          <p:nvPr/>
        </p:nvSpPr>
        <p:spPr>
          <a:xfrm>
            <a:off x="1828800" y="2011680"/>
            <a:ext cx="8503920" cy="1051560"/>
          </a:xfrm>
          <a:prstGeom prst="roundRect">
            <a:avLst>
              <a:gd name="adj" fmla="val 6000"/>
            </a:avLst>
          </a:prstGeom>
          <a:solidFill>
            <a:srgbClr val="E3F3F1"/>
          </a:solidFill>
          <a:ln w="20320">
            <a:solidFill>
              <a:srgbClr val="14A09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600" b="1" i="0">
                <a:solidFill>
                  <a:srgbClr val="2B368C"/>
                </a:solidFill>
                <a:latin typeface="Arial"/>
              </a:rPr>
              <a:t>.opencode  —  agentic harness  (THIS TALK)</a:t>
            </a:r>
          </a:p>
          <a:p>
            <a:pPr algn="ctr">
              <a:spcBef>
                <a:spcPts val="300"/>
              </a:spcBef>
              <a:spcAft>
                <a:spcPts val="400"/>
              </a:spcAft>
            </a:pPr>
            <a:r>
              <a:rPr sz="1150" b="0" i="0">
                <a:solidFill>
                  <a:srgbClr val="1A202C"/>
                </a:solidFill>
                <a:latin typeface="Arial"/>
              </a:rPr>
              <a:t>os-opt-manager hub  ·  research / plan-review / code / code-review / tester agents  ·  skills  ·  memory</a:t>
            </a:r>
          </a:p>
        </p:txBody>
      </p:sp>
      <p:cxnSp>
        <p:nvCxnSpPr>
          <p:cNvPr id="11" name="Connector 10"/>
          <p:cNvCxnSpPr/>
          <p:nvPr/>
        </p:nvCxnSpPr>
        <p:spPr>
          <a:xfrm>
            <a:off x="6080760" y="3063240"/>
            <a:ext cx="0" cy="246888"/>
          </a:xfrm>
          <a:prstGeom prst="line">
            <a:avLst/>
          </a:prstGeom>
          <a:ln w="25400">
            <a:solidFill>
              <a:srgbClr val="5B65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0" y="3054096"/>
            <a:ext cx="4572000" cy="274320"/>
          </a:xfrm>
          <a:prstGeom prst="rect">
            <a:avLst/>
          </a:prstGeom>
          <a:noFill/>
        </p:spPr>
        <p:txBody>
          <a:bodyPr wrap="square" anchor="t" lIns="0" rIns="0" tIns="0" bIns="0">
            <a:spAutoFit/>
          </a:bodyPr>
          <a:lstStyle/>
          <a:p>
            <a:pPr algn="l">
              <a:spcAft>
                <a:spcPts val="400"/>
              </a:spcAft>
            </a:pPr>
            <a:r>
              <a:rPr sz="1050" b="0" i="1">
                <a:solidFill>
                  <a:srgbClr val="5B657A"/>
                </a:solidFill>
                <a:latin typeface="Arial"/>
              </a:rPr>
              <a:t>agents call tools via</a:t>
            </a:r>
          </a:p>
        </p:txBody>
      </p:sp>
      <p:sp>
        <p:nvSpPr>
          <p:cNvPr id="13" name="Rounded Rectangle 12"/>
          <p:cNvSpPr/>
          <p:nvPr/>
        </p:nvSpPr>
        <p:spPr>
          <a:xfrm>
            <a:off x="640080" y="3383280"/>
            <a:ext cx="1719072" cy="658368"/>
          </a:xfrm>
          <a:prstGeom prst="roundRect">
            <a:avLst>
              <a:gd name="adj" fmla="val 8000"/>
            </a:avLst>
          </a:prstGeom>
          <a:solidFill>
            <a:srgbClr val="FFFFFF"/>
          </a:solidFill>
          <a:ln w="15240">
            <a:solidFill>
              <a:srgbClr val="3A47B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100" b="1" i="0">
                <a:solidFill>
                  <a:srgbClr val="2B368C"/>
                </a:solidFill>
                <a:latin typeface="Arial"/>
              </a:rPr>
              <a:t>Sequential
Thinking</a:t>
            </a:r>
          </a:p>
        </p:txBody>
      </p:sp>
      <p:cxnSp>
        <p:nvCxnSpPr>
          <p:cNvPr id="14" name="Connector 13"/>
          <p:cNvCxnSpPr/>
          <p:nvPr/>
        </p:nvCxnSpPr>
        <p:spPr>
          <a:xfrm>
            <a:off x="2359152" y="3712464"/>
            <a:ext cx="118872" cy="0"/>
          </a:xfrm>
          <a:prstGeom prst="line">
            <a:avLst/>
          </a:prstGeom>
          <a:ln w="27940">
            <a:solidFill>
              <a:srgbClr val="FFFF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78024" y="3383280"/>
            <a:ext cx="1719072" cy="658368"/>
          </a:xfrm>
          <a:prstGeom prst="roundRect">
            <a:avLst>
              <a:gd name="adj" fmla="val 8000"/>
            </a:avLst>
          </a:prstGeom>
          <a:solidFill>
            <a:srgbClr val="FFFFFF"/>
          </a:solidFill>
          <a:ln w="15240">
            <a:solidFill>
              <a:srgbClr val="3A47B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100" b="1" i="0">
                <a:solidFill>
                  <a:srgbClr val="2B368C"/>
                </a:solidFill>
                <a:latin typeface="Arial"/>
              </a:rPr>
              <a:t>Kernel
Index</a:t>
            </a:r>
          </a:p>
        </p:txBody>
      </p:sp>
      <p:cxnSp>
        <p:nvCxnSpPr>
          <p:cNvPr id="16" name="Connector 15"/>
          <p:cNvCxnSpPr/>
          <p:nvPr/>
        </p:nvCxnSpPr>
        <p:spPr>
          <a:xfrm>
            <a:off x="4197096" y="3712464"/>
            <a:ext cx="118872" cy="0"/>
          </a:xfrm>
          <a:prstGeom prst="line">
            <a:avLst/>
          </a:prstGeom>
          <a:ln w="27940">
            <a:solidFill>
              <a:srgbClr val="FFFF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315968" y="3383280"/>
            <a:ext cx="1719072" cy="658368"/>
          </a:xfrm>
          <a:prstGeom prst="roundRect">
            <a:avLst>
              <a:gd name="adj" fmla="val 8000"/>
            </a:avLst>
          </a:prstGeom>
          <a:solidFill>
            <a:srgbClr val="FFFFFF"/>
          </a:solidFill>
          <a:ln w="15240">
            <a:solidFill>
              <a:srgbClr val="3A47B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100" b="1" i="0">
                <a:solidFill>
                  <a:srgbClr val="2B368C"/>
                </a:solidFill>
                <a:latin typeface="Arial"/>
              </a:rPr>
              <a:t>Build</a:t>
            </a:r>
          </a:p>
        </p:txBody>
      </p:sp>
      <p:cxnSp>
        <p:nvCxnSpPr>
          <p:cNvPr id="18" name="Connector 17"/>
          <p:cNvCxnSpPr/>
          <p:nvPr/>
        </p:nvCxnSpPr>
        <p:spPr>
          <a:xfrm>
            <a:off x="6035040" y="3712464"/>
            <a:ext cx="118872" cy="0"/>
          </a:xfrm>
          <a:prstGeom prst="line">
            <a:avLst/>
          </a:prstGeom>
          <a:ln w="27940">
            <a:solidFill>
              <a:srgbClr val="FFFF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153912" y="3383280"/>
            <a:ext cx="1719072" cy="658368"/>
          </a:xfrm>
          <a:prstGeom prst="roundRect">
            <a:avLst>
              <a:gd name="adj" fmla="val 8000"/>
            </a:avLst>
          </a:prstGeom>
          <a:solidFill>
            <a:srgbClr val="FFFFFF"/>
          </a:solidFill>
          <a:ln w="15240">
            <a:solidFill>
              <a:srgbClr val="3A47B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100" b="1" i="0">
                <a:solidFill>
                  <a:srgbClr val="2B368C"/>
                </a:solidFill>
                <a:latin typeface="Arial"/>
              </a:rPr>
              <a:t>Flash</a:t>
            </a:r>
          </a:p>
        </p:txBody>
      </p:sp>
      <p:cxnSp>
        <p:nvCxnSpPr>
          <p:cNvPr id="20" name="Connector 19"/>
          <p:cNvCxnSpPr/>
          <p:nvPr/>
        </p:nvCxnSpPr>
        <p:spPr>
          <a:xfrm>
            <a:off x="7872984" y="3712464"/>
            <a:ext cx="118872" cy="0"/>
          </a:xfrm>
          <a:prstGeom prst="line">
            <a:avLst/>
          </a:prstGeom>
          <a:ln w="27940">
            <a:solidFill>
              <a:srgbClr val="FFFF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991856" y="3383280"/>
            <a:ext cx="1719072" cy="658368"/>
          </a:xfrm>
          <a:prstGeom prst="roundRect">
            <a:avLst>
              <a:gd name="adj" fmla="val 8000"/>
            </a:avLst>
          </a:prstGeom>
          <a:solidFill>
            <a:srgbClr val="FFFFFF"/>
          </a:solidFill>
          <a:ln w="15240">
            <a:solidFill>
              <a:srgbClr val="3A47B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100" b="1" i="0">
                <a:solidFill>
                  <a:srgbClr val="2B368C"/>
                </a:solidFill>
                <a:latin typeface="Arial"/>
              </a:rPr>
              <a:t>Auto-Test</a:t>
            </a:r>
          </a:p>
        </p:txBody>
      </p:sp>
      <p:cxnSp>
        <p:nvCxnSpPr>
          <p:cNvPr id="22" name="Connector 21"/>
          <p:cNvCxnSpPr/>
          <p:nvPr/>
        </p:nvCxnSpPr>
        <p:spPr>
          <a:xfrm>
            <a:off x="9710928" y="3712464"/>
            <a:ext cx="118872" cy="0"/>
          </a:xfrm>
          <a:prstGeom prst="line">
            <a:avLst/>
          </a:prstGeom>
          <a:ln w="27940">
            <a:solidFill>
              <a:srgbClr val="FFFF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829800" y="3383280"/>
            <a:ext cx="1719072" cy="658368"/>
          </a:xfrm>
          <a:prstGeom prst="roundRect">
            <a:avLst>
              <a:gd name="adj" fmla="val 8000"/>
            </a:avLst>
          </a:prstGeom>
          <a:solidFill>
            <a:srgbClr val="FFFFFF"/>
          </a:solidFill>
          <a:ln w="15240">
            <a:solidFill>
              <a:srgbClr val="3A47B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100" b="1" i="0">
                <a:solidFill>
                  <a:srgbClr val="2B368C"/>
                </a:solidFill>
                <a:latin typeface="Arial"/>
              </a:rPr>
              <a:t>Git</a:t>
            </a:r>
          </a:p>
        </p:txBody>
      </p:sp>
      <p:sp>
        <p:nvSpPr>
          <p:cNvPr id="24" name="TextBox 23"/>
          <p:cNvSpPr txBox="1"/>
          <p:nvPr/>
        </p:nvSpPr>
        <p:spPr>
          <a:xfrm>
            <a:off x="640080" y="3108960"/>
            <a:ext cx="5029200" cy="274320"/>
          </a:xfrm>
          <a:prstGeom prst="rect">
            <a:avLst/>
          </a:prstGeom>
          <a:noFill/>
        </p:spPr>
        <p:txBody>
          <a:bodyPr wrap="square" anchor="t" lIns="0" rIns="0" tIns="0" bIns="0">
            <a:spAutoFit/>
          </a:bodyPr>
          <a:lstStyle/>
          <a:p>
            <a:pPr algn="l">
              <a:spcAft>
                <a:spcPts val="400"/>
              </a:spcAft>
            </a:pPr>
            <a:r>
              <a:rPr sz="1100" b="1" i="0">
                <a:solidFill>
                  <a:srgbClr val="14A096"/>
                </a:solidFill>
                <a:latin typeface="Arial"/>
              </a:rPr>
              <a:t>6 MCP servers — the shared bridge</a:t>
            </a:r>
          </a:p>
        </p:txBody>
      </p:sp>
      <p:cxnSp>
        <p:nvCxnSpPr>
          <p:cNvPr id="25" name="Connector 24"/>
          <p:cNvCxnSpPr/>
          <p:nvPr/>
        </p:nvCxnSpPr>
        <p:spPr>
          <a:xfrm>
            <a:off x="6080760" y="4114800"/>
            <a:ext cx="0" cy="256032"/>
          </a:xfrm>
          <a:prstGeom prst="line">
            <a:avLst/>
          </a:prstGeom>
          <a:ln w="25400">
            <a:solidFill>
              <a:srgbClr val="5B65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1097280" y="4434840"/>
            <a:ext cx="9966960" cy="868680"/>
          </a:xfrm>
          <a:prstGeom prst="roundRect">
            <a:avLst>
              <a:gd name="adj" fmla="val 6000"/>
            </a:avLst>
          </a:prstGeom>
          <a:solidFill>
            <a:srgbClr val="EEF1F8"/>
          </a:solidFill>
          <a:ln w="17780">
            <a:solidFill>
              <a:srgbClr val="3A47B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400" b="1" i="0">
                <a:solidFill>
                  <a:srgbClr val="2B368C"/>
                </a:solidFill>
                <a:latin typeface="Arial"/>
              </a:rPr>
              <a:t>hmopt platform</a:t>
            </a:r>
          </a:p>
          <a:p>
            <a:pPr algn="ctr">
              <a:spcBef>
                <a:spcPts val="300"/>
              </a:spcBef>
              <a:spcAft>
                <a:spcPts val="400"/>
              </a:spcAft>
            </a:pPr>
            <a:r>
              <a:rPr sz="1100" b="0" i="0">
                <a:solidFill>
                  <a:srgbClr val="1A202C"/>
                </a:solidFill>
                <a:latin typeface="Arial"/>
              </a:rPr>
              <a:t>CLI  ·  index-kernel (clangd + LlamaIndex)  ·  profiling artifacts  ·  SQLite DB of immutable runs  ·  REST API  ·  start/resume-pipeline</a:t>
            </a:r>
          </a:p>
        </p:txBody>
      </p:sp>
      <p:cxnSp>
        <p:nvCxnSpPr>
          <p:cNvPr id="27" name="Connector 26"/>
          <p:cNvCxnSpPr/>
          <p:nvPr/>
        </p:nvCxnSpPr>
        <p:spPr>
          <a:xfrm>
            <a:off x="6080760" y="5303520"/>
            <a:ext cx="0" cy="228600"/>
          </a:xfrm>
          <a:prstGeom prst="line">
            <a:avLst/>
          </a:prstGeom>
          <a:ln w="25400">
            <a:solidFill>
              <a:srgbClr val="5B65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2377440" y="5577840"/>
            <a:ext cx="7406640" cy="640080"/>
          </a:xfrm>
          <a:prstGeom prst="roundRect">
            <a:avLst>
              <a:gd name="adj" fmla="val 8000"/>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300" b="1" i="0">
                <a:solidFill>
                  <a:srgbClr val="FFFFFF"/>
                </a:solidFill>
                <a:latin typeface="Arial"/>
              </a:rPr>
              <a:t>Target:  hm-verif-kernel source  +  a real device  (A/B flash &amp; test)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320040"/>
          </a:xfrm>
          <a:prstGeom prst="rect">
            <a:avLst/>
          </a:prstGeom>
          <a:noFill/>
        </p:spPr>
        <p:txBody>
          <a:bodyPr wrap="square" anchor="t" lIns="0" rIns="0" tIns="0" bIns="0">
            <a:spAutoFit/>
          </a:bodyPr>
          <a:lstStyle/>
          <a:p>
            <a:pPr algn="l">
              <a:spcAft>
                <a:spcPts val="400"/>
              </a:spcAft>
            </a:pPr>
            <a:r>
              <a:rPr sz="1250" b="1" i="0">
                <a:solidFill>
                  <a:srgbClr val="14A096"/>
                </a:solidFill>
                <a:latin typeface="Arial"/>
              </a:rPr>
              <a:t>WHY</a:t>
            </a:r>
          </a:p>
        </p:txBody>
      </p:sp>
      <p:sp>
        <p:nvSpPr>
          <p:cNvPr id="5" name="TextBox 4"/>
          <p:cNvSpPr txBox="1"/>
          <p:nvPr/>
        </p:nvSpPr>
        <p:spPr>
          <a:xfrm>
            <a:off x="640080" y="658368"/>
            <a:ext cx="10972800" cy="731520"/>
          </a:xfrm>
          <a:prstGeom prst="rect">
            <a:avLst/>
          </a:prstGeom>
          <a:noFill/>
        </p:spPr>
        <p:txBody>
          <a:bodyPr wrap="square" anchor="t" lIns="0" rIns="0" tIns="0" bIns="0">
            <a:spAutoFit/>
          </a:bodyPr>
          <a:lstStyle/>
          <a:p>
            <a:pPr algn="l">
              <a:spcAft>
                <a:spcPts val="400"/>
              </a:spcAft>
            </a:pPr>
            <a:r>
              <a:rPr sz="3000" b="1" i="0">
                <a:solidFill>
                  <a:srgbClr val="2B368C"/>
                </a:solidFill>
                <a:latin typeface="Arial"/>
              </a:rPr>
              <a:t>Why a staged harness — not one big agent</a:t>
            </a:r>
          </a:p>
        </p:txBody>
      </p:sp>
      <p:sp>
        <p:nvSpPr>
          <p:cNvPr id="6" name="Rectangle 5"/>
          <p:cNvSpPr/>
          <p:nvPr/>
        </p:nvSpPr>
        <p:spPr>
          <a:xfrm>
            <a:off x="640080" y="1371600"/>
            <a:ext cx="10972800" cy="17780"/>
          </a:xfrm>
          <a:prstGeom prst="rect">
            <a:avLst/>
          </a:prstGeom>
          <a:solidFill>
            <a:srgbClr val="C8C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55664"/>
            <a:ext cx="7315200" cy="274320"/>
          </a:xfrm>
          <a:prstGeom prst="rect">
            <a:avLst/>
          </a:prstGeom>
          <a:noFill/>
        </p:spPr>
        <p:txBody>
          <a:bodyPr wrap="square" anchor="t" lIns="0" rIns="0" tIns="0" bIns="0">
            <a:spAutoFit/>
          </a:bodyPr>
          <a:lstStyle/>
          <a:p>
            <a:pPr algn="l">
              <a:spcAft>
                <a:spcPts val="400"/>
              </a:spcAft>
            </a:pPr>
            <a:r>
              <a:rPr sz="950" b="0" i="0">
                <a:solidFill>
                  <a:srgbClr val="5B657A"/>
                </a:solidFill>
                <a:latin typeface="Arial"/>
              </a:rPr>
              <a:t>.opencode multi-agent harness</a:t>
            </a:r>
          </a:p>
        </p:txBody>
      </p:sp>
      <p:sp>
        <p:nvSpPr>
          <p:cNvPr id="8" name="TextBox 7"/>
          <p:cNvSpPr txBox="1"/>
          <p:nvPr/>
        </p:nvSpPr>
        <p:spPr>
          <a:xfrm>
            <a:off x="10424160" y="6455664"/>
            <a:ext cx="1280160" cy="274320"/>
          </a:xfrm>
          <a:prstGeom prst="rect">
            <a:avLst/>
          </a:prstGeom>
          <a:noFill/>
        </p:spPr>
        <p:txBody>
          <a:bodyPr wrap="square" anchor="t" lIns="0" rIns="0" tIns="0" bIns="0">
            <a:spAutoFit/>
          </a:bodyPr>
          <a:lstStyle/>
          <a:p>
            <a:pPr algn="r">
              <a:spcAft>
                <a:spcPts val="400"/>
              </a:spcAft>
            </a:pPr>
            <a:r>
              <a:rPr sz="950" b="0" i="0">
                <a:solidFill>
                  <a:srgbClr val="5B657A"/>
                </a:solidFill>
                <a:latin typeface="Arial"/>
              </a:rPr>
              <a:t>4 / 19</a:t>
            </a:r>
          </a:p>
        </p:txBody>
      </p:sp>
      <p:sp>
        <p:nvSpPr>
          <p:cNvPr id="9" name="TextBox 8"/>
          <p:cNvSpPr txBox="1"/>
          <p:nvPr/>
        </p:nvSpPr>
        <p:spPr>
          <a:xfrm>
            <a:off x="640080" y="1481328"/>
            <a:ext cx="10881360" cy="411480"/>
          </a:xfrm>
          <a:prstGeom prst="rect">
            <a:avLst/>
          </a:prstGeom>
          <a:noFill/>
        </p:spPr>
        <p:txBody>
          <a:bodyPr wrap="square" anchor="t" lIns="0" rIns="0" tIns="0" bIns="0">
            <a:spAutoFit/>
          </a:bodyPr>
          <a:lstStyle/>
          <a:p>
            <a:pPr algn="l">
              <a:spcAft>
                <a:spcPts val="400"/>
              </a:spcAft>
            </a:pPr>
            <a:r>
              <a:rPr sz="1400" b="0" i="0">
                <a:solidFill>
                  <a:srgbClr val="1A202C"/>
                </a:solidFill>
                <a:latin typeface="Arial"/>
              </a:rPr>
              <a:t>A single free-running agent optimizing a kernel fails in four predictable ways. Each gets a structural fix:</a:t>
            </a:r>
          </a:p>
        </p:txBody>
      </p:sp>
      <p:sp>
        <p:nvSpPr>
          <p:cNvPr id="10" name="Rounded Rectangle 9"/>
          <p:cNvSpPr/>
          <p:nvPr/>
        </p:nvSpPr>
        <p:spPr>
          <a:xfrm>
            <a:off x="640080" y="2011680"/>
            <a:ext cx="5285232" cy="1737360"/>
          </a:xfrm>
          <a:prstGeom prst="roundRect">
            <a:avLst>
              <a:gd name="adj" fmla="val 4500"/>
            </a:avLst>
          </a:prstGeom>
          <a:solidFill>
            <a:srgbClr val="FFFFFF"/>
          </a:solidFill>
          <a:ln w="1270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2011680"/>
            <a:ext cx="5285232" cy="384048"/>
          </a:xfrm>
          <a:prstGeom prst="roundRect">
            <a:avLst>
              <a:gd name="adj" fmla="val 4500"/>
            </a:avLst>
          </a:prstGeom>
          <a:solidFill>
            <a:srgbClr val="C03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400" b="1" i="0">
                <a:solidFill>
                  <a:srgbClr val="FFFFFF"/>
                </a:solidFill>
                <a:latin typeface="Arial"/>
              </a:rPr>
              <a:t>Agents drift out of lane</a:t>
            </a:r>
          </a:p>
        </p:txBody>
      </p:sp>
      <p:sp>
        <p:nvSpPr>
          <p:cNvPr id="12" name="Rectangle 11"/>
          <p:cNvSpPr/>
          <p:nvPr/>
        </p:nvSpPr>
        <p:spPr>
          <a:xfrm>
            <a:off x="640080" y="2313432"/>
            <a:ext cx="5285232" cy="82296"/>
          </a:xfrm>
          <a:prstGeom prst="rect">
            <a:avLst/>
          </a:prstGeom>
          <a:solidFill>
            <a:srgbClr val="C0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2468880"/>
            <a:ext cx="5010912" cy="1207008"/>
          </a:xfrm>
          <a:prstGeom prst="rect">
            <a:avLst/>
          </a:prstGeom>
          <a:noFill/>
        </p:spPr>
        <p:txBody>
          <a:bodyPr wrap="square" anchor="t" lIns="0" rIns="0" tIns="0" bIns="0">
            <a:spAutoFit/>
          </a:bodyPr>
          <a:lstStyle/>
          <a:p>
            <a:pPr algn="l">
              <a:spcAft>
                <a:spcPts val="400"/>
              </a:spcAft>
            </a:pPr>
            <a:r>
              <a:rPr sz="1250" b="0" i="0">
                <a:solidFill>
                  <a:srgbClr val="1A202C"/>
                </a:solidFill>
                <a:latin typeface="Arial"/>
              </a:rPr>
              <a:t>•  A researcher starts coding; a coder grades its own work.</a:t>
            </a:r>
          </a:p>
          <a:p>
            <a:pPr algn="l">
              <a:spcAft>
                <a:spcPts val="400"/>
              </a:spcAft>
            </a:pPr>
            <a:r>
              <a:rPr sz="1250" b="0" i="0">
                <a:solidFill>
                  <a:srgbClr val="1A202C"/>
                </a:solidFill>
                <a:latin typeface="Arial"/>
              </a:rPr>
              <a:t>•  Fix: one agent per stage, strict ownership</a:t>
            </a:r>
          </a:p>
        </p:txBody>
      </p:sp>
      <p:sp>
        <p:nvSpPr>
          <p:cNvPr id="14" name="Rounded Rectangle 13"/>
          <p:cNvSpPr/>
          <p:nvPr/>
        </p:nvSpPr>
        <p:spPr>
          <a:xfrm>
            <a:off x="6263640" y="2011680"/>
            <a:ext cx="5285232" cy="1737360"/>
          </a:xfrm>
          <a:prstGeom prst="roundRect">
            <a:avLst>
              <a:gd name="adj" fmla="val 4500"/>
            </a:avLst>
          </a:prstGeom>
          <a:solidFill>
            <a:srgbClr val="FFFFFF"/>
          </a:solidFill>
          <a:ln w="1270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2011680"/>
            <a:ext cx="5285232" cy="384048"/>
          </a:xfrm>
          <a:prstGeom prst="roundRect">
            <a:avLst>
              <a:gd name="adj" fmla="val 4500"/>
            </a:avLst>
          </a:prstGeom>
          <a:solidFill>
            <a:srgbClr val="D884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400" b="1" i="0">
                <a:solidFill>
                  <a:srgbClr val="FFFFFF"/>
                </a:solidFill>
                <a:latin typeface="Arial"/>
              </a:rPr>
              <a:t>Work skips verification</a:t>
            </a:r>
          </a:p>
        </p:txBody>
      </p:sp>
      <p:sp>
        <p:nvSpPr>
          <p:cNvPr id="16" name="Rectangle 15"/>
          <p:cNvSpPr/>
          <p:nvPr/>
        </p:nvSpPr>
        <p:spPr>
          <a:xfrm>
            <a:off x="6263640" y="2313432"/>
            <a:ext cx="5285232" cy="82296"/>
          </a:xfrm>
          <a:prstGeom prst="rect">
            <a:avLst/>
          </a:prstGeom>
          <a:solidFill>
            <a:srgbClr val="D88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2468880"/>
            <a:ext cx="5010912" cy="1207008"/>
          </a:xfrm>
          <a:prstGeom prst="rect">
            <a:avLst/>
          </a:prstGeom>
          <a:noFill/>
        </p:spPr>
        <p:txBody>
          <a:bodyPr wrap="square" anchor="t" lIns="0" rIns="0" tIns="0" bIns="0">
            <a:spAutoFit/>
          </a:bodyPr>
          <a:lstStyle/>
          <a:p>
            <a:pPr algn="l">
              <a:spcAft>
                <a:spcPts val="400"/>
              </a:spcAft>
            </a:pPr>
            <a:r>
              <a:rPr sz="1250" b="0" i="0">
                <a:solidFill>
                  <a:srgbClr val="1A202C"/>
                </a:solidFill>
                <a:latin typeface="Arial"/>
              </a:rPr>
              <a:t>•  "Looks right" patches land with no measurement.</a:t>
            </a:r>
          </a:p>
          <a:p>
            <a:pPr algn="l">
              <a:spcAft>
                <a:spcPts val="400"/>
              </a:spcAft>
            </a:pPr>
            <a:r>
              <a:rPr sz="1250" b="0" i="0">
                <a:solidFill>
                  <a:srgbClr val="1A202C"/>
                </a:solidFill>
                <a:latin typeface="Arial"/>
              </a:rPr>
              <a:t>•  Fix: mandatory plan + code gates, A/B on hardware</a:t>
            </a:r>
          </a:p>
        </p:txBody>
      </p:sp>
      <p:sp>
        <p:nvSpPr>
          <p:cNvPr id="18" name="Rounded Rectangle 17"/>
          <p:cNvSpPr/>
          <p:nvPr/>
        </p:nvSpPr>
        <p:spPr>
          <a:xfrm>
            <a:off x="640080" y="3977639"/>
            <a:ext cx="5285232" cy="1737360"/>
          </a:xfrm>
          <a:prstGeom prst="roundRect">
            <a:avLst>
              <a:gd name="adj" fmla="val 4500"/>
            </a:avLst>
          </a:prstGeom>
          <a:solidFill>
            <a:srgbClr val="FFFFFF"/>
          </a:solidFill>
          <a:ln w="1270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 y="3977639"/>
            <a:ext cx="5285232" cy="384048"/>
          </a:xfrm>
          <a:prstGeom prst="roundRect">
            <a:avLst>
              <a:gd name="adj" fmla="val 4500"/>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400" b="1" i="0">
                <a:solidFill>
                  <a:srgbClr val="FFFFFF"/>
                </a:solidFill>
                <a:latin typeface="Arial"/>
              </a:rPr>
              <a:t>Long runs lose context</a:t>
            </a:r>
          </a:p>
        </p:txBody>
      </p:sp>
      <p:sp>
        <p:nvSpPr>
          <p:cNvPr id="20" name="Rectangle 19"/>
          <p:cNvSpPr/>
          <p:nvPr/>
        </p:nvSpPr>
        <p:spPr>
          <a:xfrm>
            <a:off x="640080" y="4279391"/>
            <a:ext cx="5285232" cy="82296"/>
          </a:xfrm>
          <a:prstGeom prst="rect">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4434839"/>
            <a:ext cx="5010912" cy="1207008"/>
          </a:xfrm>
          <a:prstGeom prst="rect">
            <a:avLst/>
          </a:prstGeom>
          <a:noFill/>
        </p:spPr>
        <p:txBody>
          <a:bodyPr wrap="square" anchor="t" lIns="0" rIns="0" tIns="0" bIns="0">
            <a:spAutoFit/>
          </a:bodyPr>
          <a:lstStyle/>
          <a:p>
            <a:pPr algn="l">
              <a:spcAft>
                <a:spcPts val="400"/>
              </a:spcAft>
            </a:pPr>
            <a:r>
              <a:rPr sz="1250" b="0" i="0">
                <a:solidFill>
                  <a:srgbClr val="1A202C"/>
                </a:solidFill>
                <a:latin typeface="Arial"/>
              </a:rPr>
              <a:t>•  Compaction wipes mid-task state; the agent forgets.</a:t>
            </a:r>
          </a:p>
          <a:p>
            <a:pPr algn="l">
              <a:spcAft>
                <a:spcPts val="400"/>
              </a:spcAft>
            </a:pPr>
            <a:r>
              <a:rPr sz="1250" b="0" i="0">
                <a:solidFill>
                  <a:srgbClr val="1A202C"/>
                </a:solidFill>
                <a:latin typeface="Arial"/>
              </a:rPr>
              <a:t>•  Fix: state on disk — file wins over chat</a:t>
            </a:r>
          </a:p>
        </p:txBody>
      </p:sp>
      <p:sp>
        <p:nvSpPr>
          <p:cNvPr id="22" name="Rounded Rectangle 21"/>
          <p:cNvSpPr/>
          <p:nvPr/>
        </p:nvSpPr>
        <p:spPr>
          <a:xfrm>
            <a:off x="6263640" y="3977639"/>
            <a:ext cx="5285232" cy="1737360"/>
          </a:xfrm>
          <a:prstGeom prst="roundRect">
            <a:avLst>
              <a:gd name="adj" fmla="val 4500"/>
            </a:avLst>
          </a:prstGeom>
          <a:solidFill>
            <a:srgbClr val="FFFFFF"/>
          </a:solidFill>
          <a:ln w="1270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63640" y="3977639"/>
            <a:ext cx="5285232" cy="384048"/>
          </a:xfrm>
          <a:prstGeom prst="roundRect">
            <a:avLst>
              <a:gd name="adj" fmla="val 4500"/>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400" b="1" i="0">
                <a:solidFill>
                  <a:srgbClr val="FFFFFF"/>
                </a:solidFill>
                <a:latin typeface="Arial"/>
              </a:rPr>
              <a:t>"Wins" can't be trusted</a:t>
            </a:r>
          </a:p>
        </p:txBody>
      </p:sp>
      <p:sp>
        <p:nvSpPr>
          <p:cNvPr id="24" name="Rectangle 23"/>
          <p:cNvSpPr/>
          <p:nvPr/>
        </p:nvSpPr>
        <p:spPr>
          <a:xfrm>
            <a:off x="6263640" y="4279391"/>
            <a:ext cx="5285232" cy="82296"/>
          </a:xfrm>
          <a:prstGeom prst="rect">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9944" y="4434839"/>
            <a:ext cx="5010912" cy="1207008"/>
          </a:xfrm>
          <a:prstGeom prst="rect">
            <a:avLst/>
          </a:prstGeom>
          <a:noFill/>
        </p:spPr>
        <p:txBody>
          <a:bodyPr wrap="square" anchor="t" lIns="0" rIns="0" tIns="0" bIns="0">
            <a:spAutoFit/>
          </a:bodyPr>
          <a:lstStyle/>
          <a:p>
            <a:pPr algn="l">
              <a:spcAft>
                <a:spcPts val="400"/>
              </a:spcAft>
            </a:pPr>
            <a:r>
              <a:rPr sz="1250" b="0" i="0">
                <a:solidFill>
                  <a:srgbClr val="1A202C"/>
                </a:solidFill>
                <a:latin typeface="Arial"/>
              </a:rPr>
              <a:t>•  No falsifiable metric; vibes, not numbers.</a:t>
            </a:r>
          </a:p>
          <a:p>
            <a:pPr algn="l">
              <a:spcAft>
                <a:spcPts val="400"/>
              </a:spcAft>
            </a:pPr>
            <a:r>
              <a:rPr sz="1250" b="0" i="0">
                <a:solidFill>
                  <a:srgbClr val="1A202C"/>
                </a:solidFill>
                <a:latin typeface="Arial"/>
              </a:rPr>
              <a:t>•  Fix: instruction-count delta, measured stock vs feature</a:t>
            </a:r>
          </a:p>
        </p:txBody>
      </p:sp>
      <p:sp>
        <p:nvSpPr>
          <p:cNvPr id="26" name="TextBox 25"/>
          <p:cNvSpPr txBox="1"/>
          <p:nvPr/>
        </p:nvSpPr>
        <p:spPr>
          <a:xfrm>
            <a:off x="640080" y="5989320"/>
            <a:ext cx="10881360" cy="365760"/>
          </a:xfrm>
          <a:prstGeom prst="rect">
            <a:avLst/>
          </a:prstGeom>
          <a:noFill/>
        </p:spPr>
        <p:txBody>
          <a:bodyPr wrap="square" anchor="t" lIns="0" rIns="0" tIns="0" bIns="0">
            <a:spAutoFit/>
          </a:bodyPr>
          <a:lstStyle/>
          <a:p>
            <a:pPr algn="l">
              <a:spcAft>
                <a:spcPts val="400"/>
              </a:spcAft>
            </a:pPr>
            <a:r>
              <a:rPr sz="1150" b="0" i="1">
                <a:solidFill>
                  <a:srgbClr val="5B657A"/>
                </a:solidFill>
                <a:latin typeface="Arial"/>
              </a:rPr>
              <a:t>Why instruction count (not latency)?  It's deterministic, reproducible on noisy hardware, attributable per function, and falsifiable.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320040"/>
          </a:xfrm>
          <a:prstGeom prst="rect">
            <a:avLst/>
          </a:prstGeom>
          <a:noFill/>
        </p:spPr>
        <p:txBody>
          <a:bodyPr wrap="square" anchor="t" lIns="0" rIns="0" tIns="0" bIns="0">
            <a:spAutoFit/>
          </a:bodyPr>
          <a:lstStyle/>
          <a:p>
            <a:pPr algn="l">
              <a:spcAft>
                <a:spcPts val="400"/>
              </a:spcAft>
            </a:pPr>
            <a:r>
              <a:rPr sz="1250" b="1" i="0">
                <a:solidFill>
                  <a:srgbClr val="14A096"/>
                </a:solidFill>
                <a:latin typeface="Arial"/>
              </a:rPr>
              <a:t>FRONT DOOR</a:t>
            </a:r>
          </a:p>
        </p:txBody>
      </p:sp>
      <p:sp>
        <p:nvSpPr>
          <p:cNvPr id="5" name="TextBox 4"/>
          <p:cNvSpPr txBox="1"/>
          <p:nvPr/>
        </p:nvSpPr>
        <p:spPr>
          <a:xfrm>
            <a:off x="640080" y="658368"/>
            <a:ext cx="10972800" cy="731520"/>
          </a:xfrm>
          <a:prstGeom prst="rect">
            <a:avLst/>
          </a:prstGeom>
          <a:noFill/>
        </p:spPr>
        <p:txBody>
          <a:bodyPr wrap="square" anchor="t" lIns="0" rIns="0" tIns="0" bIns="0">
            <a:spAutoFit/>
          </a:bodyPr>
          <a:lstStyle/>
          <a:p>
            <a:pPr algn="l">
              <a:spcAft>
                <a:spcPts val="400"/>
              </a:spcAft>
            </a:pPr>
            <a:r>
              <a:rPr sz="3000" b="1" i="0">
                <a:solidFill>
                  <a:srgbClr val="2B368C"/>
                </a:solidFill>
                <a:latin typeface="Arial"/>
              </a:rPr>
              <a:t>Three entry routes for three kinds of work</a:t>
            </a:r>
          </a:p>
        </p:txBody>
      </p:sp>
      <p:sp>
        <p:nvSpPr>
          <p:cNvPr id="6" name="Rectangle 5"/>
          <p:cNvSpPr/>
          <p:nvPr/>
        </p:nvSpPr>
        <p:spPr>
          <a:xfrm>
            <a:off x="640080" y="1371600"/>
            <a:ext cx="10972800" cy="17780"/>
          </a:xfrm>
          <a:prstGeom prst="rect">
            <a:avLst/>
          </a:prstGeom>
          <a:solidFill>
            <a:srgbClr val="C8C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55664"/>
            <a:ext cx="7315200" cy="274320"/>
          </a:xfrm>
          <a:prstGeom prst="rect">
            <a:avLst/>
          </a:prstGeom>
          <a:noFill/>
        </p:spPr>
        <p:txBody>
          <a:bodyPr wrap="square" anchor="t" lIns="0" rIns="0" tIns="0" bIns="0">
            <a:spAutoFit/>
          </a:bodyPr>
          <a:lstStyle/>
          <a:p>
            <a:pPr algn="l">
              <a:spcAft>
                <a:spcPts val="400"/>
              </a:spcAft>
            </a:pPr>
            <a:r>
              <a:rPr sz="950" b="0" i="0">
                <a:solidFill>
                  <a:srgbClr val="5B657A"/>
                </a:solidFill>
                <a:latin typeface="Arial"/>
              </a:rPr>
              <a:t>.opencode multi-agent harness</a:t>
            </a:r>
          </a:p>
        </p:txBody>
      </p:sp>
      <p:sp>
        <p:nvSpPr>
          <p:cNvPr id="8" name="TextBox 7"/>
          <p:cNvSpPr txBox="1"/>
          <p:nvPr/>
        </p:nvSpPr>
        <p:spPr>
          <a:xfrm>
            <a:off x="10424160" y="6455664"/>
            <a:ext cx="1280160" cy="274320"/>
          </a:xfrm>
          <a:prstGeom prst="rect">
            <a:avLst/>
          </a:prstGeom>
          <a:noFill/>
        </p:spPr>
        <p:txBody>
          <a:bodyPr wrap="square" anchor="t" lIns="0" rIns="0" tIns="0" bIns="0">
            <a:spAutoFit/>
          </a:bodyPr>
          <a:lstStyle/>
          <a:p>
            <a:pPr algn="r">
              <a:spcAft>
                <a:spcPts val="400"/>
              </a:spcAft>
            </a:pPr>
            <a:r>
              <a:rPr sz="950" b="0" i="0">
                <a:solidFill>
                  <a:srgbClr val="5B657A"/>
                </a:solidFill>
                <a:latin typeface="Arial"/>
              </a:rPr>
              <a:t>5 / 19</a:t>
            </a:r>
          </a:p>
        </p:txBody>
      </p:sp>
      <p:sp>
        <p:nvSpPr>
          <p:cNvPr id="9" name="Rounded Rectangle 8"/>
          <p:cNvSpPr/>
          <p:nvPr/>
        </p:nvSpPr>
        <p:spPr>
          <a:xfrm>
            <a:off x="640080" y="1828800"/>
            <a:ext cx="3529584" cy="3383280"/>
          </a:xfrm>
          <a:prstGeom prst="roundRect">
            <a:avLst>
              <a:gd name="adj" fmla="val 4500"/>
            </a:avLst>
          </a:prstGeom>
          <a:solidFill>
            <a:srgbClr val="FFFFFF"/>
          </a:solidFill>
          <a:ln w="1270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1828800"/>
            <a:ext cx="3529584" cy="384048"/>
          </a:xfrm>
          <a:prstGeom prst="roundRect">
            <a:avLst>
              <a:gd name="adj" fmla="val 4500"/>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300" b="1" i="0">
                <a:solidFill>
                  <a:srgbClr val="FFFFFF"/>
                </a:solidFill>
                <a:latin typeface="Arial"/>
              </a:rPr>
              <a:t>1 · Full automated pipeline</a:t>
            </a:r>
          </a:p>
        </p:txBody>
      </p:sp>
      <p:sp>
        <p:nvSpPr>
          <p:cNvPr id="11" name="Rectangle 10"/>
          <p:cNvSpPr/>
          <p:nvPr/>
        </p:nvSpPr>
        <p:spPr>
          <a:xfrm>
            <a:off x="640080" y="2130552"/>
            <a:ext cx="3529584" cy="82296"/>
          </a:xfrm>
          <a:prstGeom prst="rect">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2286000"/>
            <a:ext cx="3255264" cy="2852928"/>
          </a:xfrm>
          <a:prstGeom prst="rect">
            <a:avLst/>
          </a:prstGeom>
          <a:noFill/>
        </p:spPr>
        <p:txBody>
          <a:bodyPr wrap="square" anchor="t" lIns="0" rIns="0" tIns="0" bIns="0">
            <a:spAutoFit/>
          </a:bodyPr>
          <a:lstStyle/>
          <a:p>
            <a:pPr algn="l">
              <a:spcAft>
                <a:spcPts val="400"/>
              </a:spcAft>
            </a:pPr>
            <a:r>
              <a:rPr sz="1250" b="0" i="0">
                <a:solidFill>
                  <a:srgbClr val="1A202C"/>
                </a:solidFill>
                <a:latin typeface="Arial"/>
              </a:rPr>
              <a:t>•  @os-opt-manager  /  /optimize_*</a:t>
            </a:r>
          </a:p>
          <a:p>
            <a:pPr algn="l">
              <a:spcAft>
                <a:spcPts val="400"/>
              </a:spcAft>
            </a:pPr>
            <a:r>
              <a:rPr sz="1250" b="0" i="0">
                <a:solidFill>
                  <a:srgbClr val="1A202C"/>
                </a:solidFill>
                <a:latin typeface="Arial"/>
              </a:rPr>
              <a:t>•  End-to-end: research → … → decision</a:t>
            </a:r>
          </a:p>
          <a:p>
            <a:pPr algn="l">
              <a:spcAft>
                <a:spcPts val="400"/>
              </a:spcAft>
            </a:pPr>
            <a:r>
              <a:rPr sz="1250" b="0" i="0">
                <a:solidFill>
                  <a:srgbClr val="1A202C"/>
                </a:solidFill>
                <a:latin typeface="Arial"/>
              </a:rPr>
              <a:t>•  Manager delegates every stage</a:t>
            </a:r>
          </a:p>
          <a:p>
            <a:pPr algn="l">
              <a:spcAft>
                <a:spcPts val="400"/>
              </a:spcAft>
            </a:pPr>
            <a:r>
              <a:rPr sz="1250" b="0" i="0">
                <a:solidFill>
                  <a:srgbClr val="1A202C"/>
                </a:solidFill>
                <a:latin typeface="Arial"/>
              </a:rPr>
              <a:t>•  Use when: target is understood and you want a land-it run</a:t>
            </a:r>
          </a:p>
        </p:txBody>
      </p:sp>
      <p:sp>
        <p:nvSpPr>
          <p:cNvPr id="13" name="Rounded Rectangle 12"/>
          <p:cNvSpPr/>
          <p:nvPr/>
        </p:nvSpPr>
        <p:spPr>
          <a:xfrm>
            <a:off x="4416552" y="1828800"/>
            <a:ext cx="3529584" cy="3383280"/>
          </a:xfrm>
          <a:prstGeom prst="roundRect">
            <a:avLst>
              <a:gd name="adj" fmla="val 4500"/>
            </a:avLst>
          </a:prstGeom>
          <a:solidFill>
            <a:srgbClr val="FFFFFF"/>
          </a:solidFill>
          <a:ln w="1270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16552" y="1828800"/>
            <a:ext cx="3529584" cy="384048"/>
          </a:xfrm>
          <a:prstGeom prst="roundRect">
            <a:avLst>
              <a:gd name="adj" fmla="val 4500"/>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300" b="1" i="0">
                <a:solidFill>
                  <a:srgbClr val="FFFFFF"/>
                </a:solidFill>
                <a:latin typeface="Arial"/>
              </a:rPr>
              <a:t>2 · Human-in-the-loop</a:t>
            </a:r>
          </a:p>
        </p:txBody>
      </p:sp>
      <p:sp>
        <p:nvSpPr>
          <p:cNvPr id="15" name="Rectangle 14"/>
          <p:cNvSpPr/>
          <p:nvPr/>
        </p:nvSpPr>
        <p:spPr>
          <a:xfrm>
            <a:off x="4416552" y="2130552"/>
            <a:ext cx="3529584" cy="82296"/>
          </a:xfrm>
          <a:prstGeom prst="rect">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2856" y="2286000"/>
            <a:ext cx="3255264" cy="2852928"/>
          </a:xfrm>
          <a:prstGeom prst="rect">
            <a:avLst/>
          </a:prstGeom>
          <a:noFill/>
        </p:spPr>
        <p:txBody>
          <a:bodyPr wrap="square" anchor="t" lIns="0" rIns="0" tIns="0" bIns="0">
            <a:spAutoFit/>
          </a:bodyPr>
          <a:lstStyle/>
          <a:p>
            <a:pPr algn="l">
              <a:spcAft>
                <a:spcPts val="400"/>
              </a:spcAft>
            </a:pPr>
            <a:r>
              <a:rPr sz="1250" b="0" i="0">
                <a:solidFill>
                  <a:srgbClr val="1A202C"/>
                </a:solidFill>
                <a:latin typeface="Arial"/>
              </a:rPr>
              <a:t>•  @kernel-research  (/research)</a:t>
            </a:r>
          </a:p>
          <a:p>
            <a:pPr algn="l">
              <a:spcAft>
                <a:spcPts val="400"/>
              </a:spcAft>
            </a:pPr>
            <a:r>
              <a:rPr sz="1250" b="0" i="0">
                <a:solidFill>
                  <a:srgbClr val="1A202C"/>
                </a:solidFill>
                <a:latin typeface="Arial"/>
              </a:rPr>
              <a:t>•  @kernel-plan  (/plan)</a:t>
            </a:r>
          </a:p>
          <a:p>
            <a:pPr algn="l">
              <a:spcAft>
                <a:spcPts val="400"/>
              </a:spcAft>
            </a:pPr>
            <a:r>
              <a:rPr sz="1250" b="0" i="0">
                <a:solidFill>
                  <a:srgbClr val="1A202C"/>
                </a:solidFill>
                <a:latin typeface="Arial"/>
              </a:rPr>
              <a:t>•  Expert iterates turn-by-turn; living design doc + plan</a:t>
            </a:r>
          </a:p>
          <a:p>
            <a:pPr algn="l">
              <a:spcAft>
                <a:spcPts val="400"/>
              </a:spcAft>
            </a:pPr>
            <a:r>
              <a:rPr sz="1250" b="0" i="0">
                <a:solidFill>
                  <a:srgbClr val="1A202C"/>
                </a:solidFill>
                <a:latin typeface="Arial"/>
              </a:rPr>
              <a:t>•  Use when: expert-driven exploration &amp; planning</a:t>
            </a:r>
          </a:p>
        </p:txBody>
      </p:sp>
      <p:sp>
        <p:nvSpPr>
          <p:cNvPr id="17" name="Rounded Rectangle 16"/>
          <p:cNvSpPr/>
          <p:nvPr/>
        </p:nvSpPr>
        <p:spPr>
          <a:xfrm>
            <a:off x="8193023" y="1828800"/>
            <a:ext cx="3529584" cy="3383280"/>
          </a:xfrm>
          <a:prstGeom prst="roundRect">
            <a:avLst>
              <a:gd name="adj" fmla="val 4500"/>
            </a:avLst>
          </a:prstGeom>
          <a:solidFill>
            <a:srgbClr val="FFFFFF"/>
          </a:solidFill>
          <a:ln w="1270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93023" y="1828800"/>
            <a:ext cx="3529584" cy="384048"/>
          </a:xfrm>
          <a:prstGeom prst="roundRect">
            <a:avLst>
              <a:gd name="adj" fmla="val 4500"/>
            </a:avLst>
          </a:prstGeom>
          <a:solidFill>
            <a:srgbClr val="D884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300" b="1" i="0">
                <a:solidFill>
                  <a:srgbClr val="FFFFFF"/>
                </a:solidFill>
                <a:latin typeface="Arial"/>
              </a:rPr>
              <a:t>3 · Per-function deep dive</a:t>
            </a:r>
          </a:p>
        </p:txBody>
      </p:sp>
      <p:sp>
        <p:nvSpPr>
          <p:cNvPr id="19" name="Rectangle 18"/>
          <p:cNvSpPr/>
          <p:nvPr/>
        </p:nvSpPr>
        <p:spPr>
          <a:xfrm>
            <a:off x="8193023" y="2130552"/>
            <a:ext cx="3529584" cy="82296"/>
          </a:xfrm>
          <a:prstGeom prst="rect">
            <a:avLst/>
          </a:prstGeom>
          <a:solidFill>
            <a:srgbClr val="D88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39327" y="2286000"/>
            <a:ext cx="3255264" cy="2852928"/>
          </a:xfrm>
          <a:prstGeom prst="rect">
            <a:avLst/>
          </a:prstGeom>
          <a:noFill/>
        </p:spPr>
        <p:txBody>
          <a:bodyPr wrap="square" anchor="t" lIns="0" rIns="0" tIns="0" bIns="0">
            <a:spAutoFit/>
          </a:bodyPr>
          <a:lstStyle/>
          <a:p>
            <a:pPr algn="l">
              <a:spcAft>
                <a:spcPts val="400"/>
              </a:spcAft>
            </a:pPr>
            <a:r>
              <a:rPr sz="1250" b="0" i="0">
                <a:solidFill>
                  <a:srgbClr val="1A202C"/>
                </a:solidFill>
                <a:latin typeface="Arial"/>
              </a:rPr>
              <a:t>•  @kernel-function-research  (/function_detail)</a:t>
            </a:r>
          </a:p>
          <a:p>
            <a:pPr algn="l">
              <a:spcAft>
                <a:spcPts val="400"/>
              </a:spcAft>
            </a:pPr>
            <a:r>
              <a:rPr sz="1250" b="0" i="0">
                <a:solidFill>
                  <a:srgbClr val="1A202C"/>
                </a:solidFill>
                <a:latin typeface="Arial"/>
              </a:rPr>
              <a:t>•  One-shot: design + multi-level callee graph</a:t>
            </a:r>
          </a:p>
          <a:p>
            <a:pPr algn="l">
              <a:spcAft>
                <a:spcPts val="400"/>
              </a:spcAft>
            </a:pPr>
            <a:r>
              <a:rPr sz="1250" b="0" i="0">
                <a:solidFill>
                  <a:srgbClr val="1A202C"/>
                </a:solidFill>
                <a:latin typeface="Arial"/>
              </a:rPr>
              <a:t>•  Explain-only, single pass</a:t>
            </a:r>
          </a:p>
          <a:p>
            <a:pPr algn="l">
              <a:spcAft>
                <a:spcPts val="400"/>
              </a:spcAft>
            </a:pPr>
            <a:r>
              <a:rPr sz="1250" b="0" i="0">
                <a:solidFill>
                  <a:srgbClr val="1A202C"/>
                </a:solidFill>
                <a:latin typeface="Arial"/>
              </a:rPr>
              <a:t>•  Use when: you need to understand ONE function fast</a:t>
            </a:r>
          </a:p>
        </p:txBody>
      </p:sp>
      <p:sp>
        <p:nvSpPr>
          <p:cNvPr id="21" name="TextBox 20"/>
          <p:cNvSpPr txBox="1"/>
          <p:nvPr/>
        </p:nvSpPr>
        <p:spPr>
          <a:xfrm>
            <a:off x="640080" y="5532120"/>
            <a:ext cx="10881360" cy="365760"/>
          </a:xfrm>
          <a:prstGeom prst="rect">
            <a:avLst/>
          </a:prstGeom>
          <a:noFill/>
        </p:spPr>
        <p:txBody>
          <a:bodyPr wrap="square" anchor="t" lIns="0" rIns="0" tIns="0" bIns="0">
            <a:spAutoFit/>
          </a:bodyPr>
          <a:lstStyle/>
          <a:p>
            <a:pPr algn="l">
              <a:spcAft>
                <a:spcPts val="400"/>
              </a:spcAft>
            </a:pPr>
            <a:r>
              <a:rPr sz="1150" b="0" i="1">
                <a:solidFill>
                  <a:srgbClr val="5B657A"/>
                </a:solidFill>
                <a:latin typeface="Arial"/>
              </a:rPr>
              <a:t>Routes 2 → 1 chain: @kernel-plan writes a plan that /optimize_generic picks up, implements, and tests.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320040"/>
          </a:xfrm>
          <a:prstGeom prst="rect">
            <a:avLst/>
          </a:prstGeom>
          <a:noFill/>
        </p:spPr>
        <p:txBody>
          <a:bodyPr wrap="square" anchor="t" lIns="0" rIns="0" tIns="0" bIns="0">
            <a:spAutoFit/>
          </a:bodyPr>
          <a:lstStyle/>
          <a:p>
            <a:pPr algn="l">
              <a:spcAft>
                <a:spcPts val="400"/>
              </a:spcAft>
            </a:pPr>
            <a:r>
              <a:rPr sz="1250" b="1" i="0">
                <a:solidFill>
                  <a:srgbClr val="14A096"/>
                </a:solidFill>
                <a:latin typeface="Arial"/>
              </a:rPr>
              <a:t>THE SPINE</a:t>
            </a:r>
          </a:p>
        </p:txBody>
      </p:sp>
      <p:sp>
        <p:nvSpPr>
          <p:cNvPr id="5" name="TextBox 4"/>
          <p:cNvSpPr txBox="1"/>
          <p:nvPr/>
        </p:nvSpPr>
        <p:spPr>
          <a:xfrm>
            <a:off x="640080" y="658368"/>
            <a:ext cx="10972800" cy="731520"/>
          </a:xfrm>
          <a:prstGeom prst="rect">
            <a:avLst/>
          </a:prstGeom>
          <a:noFill/>
        </p:spPr>
        <p:txBody>
          <a:bodyPr wrap="square" anchor="t" lIns="0" rIns="0" tIns="0" bIns="0">
            <a:spAutoFit/>
          </a:bodyPr>
          <a:lstStyle/>
          <a:p>
            <a:pPr algn="l">
              <a:spcAft>
                <a:spcPts val="400"/>
              </a:spcAft>
            </a:pPr>
            <a:r>
              <a:rPr sz="3000" b="1" i="0">
                <a:solidFill>
                  <a:srgbClr val="2B368C"/>
                </a:solidFill>
                <a:latin typeface="Arial"/>
              </a:rPr>
              <a:t>The 7-stage gated pipeline</a:t>
            </a:r>
          </a:p>
        </p:txBody>
      </p:sp>
      <p:sp>
        <p:nvSpPr>
          <p:cNvPr id="6" name="Rectangle 5"/>
          <p:cNvSpPr/>
          <p:nvPr/>
        </p:nvSpPr>
        <p:spPr>
          <a:xfrm>
            <a:off x="640080" y="1371600"/>
            <a:ext cx="10972800" cy="17780"/>
          </a:xfrm>
          <a:prstGeom prst="rect">
            <a:avLst/>
          </a:prstGeom>
          <a:solidFill>
            <a:srgbClr val="C8C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55664"/>
            <a:ext cx="7315200" cy="274320"/>
          </a:xfrm>
          <a:prstGeom prst="rect">
            <a:avLst/>
          </a:prstGeom>
          <a:noFill/>
        </p:spPr>
        <p:txBody>
          <a:bodyPr wrap="square" anchor="t" lIns="0" rIns="0" tIns="0" bIns="0">
            <a:spAutoFit/>
          </a:bodyPr>
          <a:lstStyle/>
          <a:p>
            <a:pPr algn="l">
              <a:spcAft>
                <a:spcPts val="400"/>
              </a:spcAft>
            </a:pPr>
            <a:r>
              <a:rPr sz="950" b="0" i="0">
                <a:solidFill>
                  <a:srgbClr val="5B657A"/>
                </a:solidFill>
                <a:latin typeface="Arial"/>
              </a:rPr>
              <a:t>.opencode multi-agent harness</a:t>
            </a:r>
          </a:p>
        </p:txBody>
      </p:sp>
      <p:sp>
        <p:nvSpPr>
          <p:cNvPr id="8" name="TextBox 7"/>
          <p:cNvSpPr txBox="1"/>
          <p:nvPr/>
        </p:nvSpPr>
        <p:spPr>
          <a:xfrm>
            <a:off x="10424160" y="6455664"/>
            <a:ext cx="1280160" cy="274320"/>
          </a:xfrm>
          <a:prstGeom prst="rect">
            <a:avLst/>
          </a:prstGeom>
          <a:noFill/>
        </p:spPr>
        <p:txBody>
          <a:bodyPr wrap="square" anchor="t" lIns="0" rIns="0" tIns="0" bIns="0">
            <a:spAutoFit/>
          </a:bodyPr>
          <a:lstStyle/>
          <a:p>
            <a:pPr algn="r">
              <a:spcAft>
                <a:spcPts val="400"/>
              </a:spcAft>
            </a:pPr>
            <a:r>
              <a:rPr sz="950" b="0" i="0">
                <a:solidFill>
                  <a:srgbClr val="5B657A"/>
                </a:solidFill>
                <a:latin typeface="Arial"/>
              </a:rPr>
              <a:t>6 / 19</a:t>
            </a:r>
          </a:p>
        </p:txBody>
      </p:sp>
      <p:sp>
        <p:nvSpPr>
          <p:cNvPr id="9" name="TextBox 8"/>
          <p:cNvSpPr txBox="1"/>
          <p:nvPr/>
        </p:nvSpPr>
        <p:spPr>
          <a:xfrm>
            <a:off x="640080" y="1517904"/>
            <a:ext cx="10881360" cy="411480"/>
          </a:xfrm>
          <a:prstGeom prst="rect">
            <a:avLst/>
          </a:prstGeom>
          <a:noFill/>
        </p:spPr>
        <p:txBody>
          <a:bodyPr wrap="square" anchor="t" lIns="0" rIns="0" tIns="0" bIns="0">
            <a:spAutoFit/>
          </a:bodyPr>
          <a:lstStyle/>
          <a:p>
            <a:pPr algn="l">
              <a:spcAft>
                <a:spcPts val="400"/>
              </a:spcAft>
            </a:pPr>
            <a:r>
              <a:rPr sz="1300" b="1" i="0">
                <a:solidFill>
                  <a:srgbClr val="14A096"/>
                </a:solidFill>
                <a:latin typeface="Arial"/>
              </a:rPr>
              <a:t>Green = the success path (runs in order). </a:t>
            </a:r>
            <a:r>
              <a:rPr sz="1300" b="1" i="0">
                <a:solidFill>
                  <a:srgbClr val="C03A3A"/>
                </a:solidFill>
                <a:latin typeface="Arial"/>
              </a:rPr>
              <a:t>Red = exception branches — a failed gate or test loops back to one upstream owner.</a:t>
            </a:r>
          </a:p>
        </p:txBody>
      </p:sp>
      <p:sp>
        <p:nvSpPr>
          <p:cNvPr id="10" name="Rounded Rectangle 9"/>
          <p:cNvSpPr/>
          <p:nvPr/>
        </p:nvSpPr>
        <p:spPr>
          <a:xfrm>
            <a:off x="640080" y="2148840"/>
            <a:ext cx="1456509" cy="960120"/>
          </a:xfrm>
          <a:prstGeom prst="roundRect">
            <a:avLst>
              <a:gd name="adj" fmla="val 8000"/>
            </a:avLst>
          </a:prstGeom>
          <a:solidFill>
            <a:srgbClr val="2B368C"/>
          </a:solidFill>
          <a:ln w="1524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150" b="1" i="0">
                <a:solidFill>
                  <a:srgbClr val="FFFFFF"/>
                </a:solidFill>
                <a:latin typeface="Arial"/>
              </a:rPr>
              <a:t>1
intake +
routing</a:t>
            </a:r>
          </a:p>
        </p:txBody>
      </p:sp>
      <p:cxnSp>
        <p:nvCxnSpPr>
          <p:cNvPr id="11" name="Connector 10"/>
          <p:cNvCxnSpPr/>
          <p:nvPr/>
        </p:nvCxnSpPr>
        <p:spPr>
          <a:xfrm>
            <a:off x="2096589" y="2628900"/>
            <a:ext cx="118872" cy="0"/>
          </a:xfrm>
          <a:prstGeom prst="line">
            <a:avLst/>
          </a:prstGeom>
          <a:ln w="27940">
            <a:solidFill>
              <a:srgbClr val="14A09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215461" y="2148840"/>
            <a:ext cx="1456509" cy="960120"/>
          </a:xfrm>
          <a:prstGeom prst="roundRect">
            <a:avLst>
              <a:gd name="adj" fmla="val 8000"/>
            </a:avLst>
          </a:prstGeom>
          <a:solidFill>
            <a:srgbClr val="EEF1F8"/>
          </a:solidFill>
          <a:ln w="1524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150" b="0" i="0">
                <a:solidFill>
                  <a:srgbClr val="1A202C"/>
                </a:solidFill>
                <a:latin typeface="Arial"/>
              </a:rPr>
              <a:t>2
research</a:t>
            </a:r>
          </a:p>
        </p:txBody>
      </p:sp>
      <p:cxnSp>
        <p:nvCxnSpPr>
          <p:cNvPr id="13" name="Connector 12"/>
          <p:cNvCxnSpPr/>
          <p:nvPr/>
        </p:nvCxnSpPr>
        <p:spPr>
          <a:xfrm>
            <a:off x="3671969" y="2628900"/>
            <a:ext cx="118872" cy="0"/>
          </a:xfrm>
          <a:prstGeom prst="line">
            <a:avLst/>
          </a:prstGeom>
          <a:ln w="27940">
            <a:solidFill>
              <a:srgbClr val="14A09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790841" y="2148840"/>
            <a:ext cx="1456509" cy="960120"/>
          </a:xfrm>
          <a:prstGeom prst="roundRect">
            <a:avLst>
              <a:gd name="adj" fmla="val 8000"/>
            </a:avLst>
          </a:prstGeom>
          <a:solidFill>
            <a:srgbClr val="D88416"/>
          </a:solidFill>
          <a:ln w="1524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150" b="1" i="0">
                <a:solidFill>
                  <a:srgbClr val="FFFFFF"/>
                </a:solidFill>
                <a:latin typeface="Arial"/>
              </a:rPr>
              <a:t>3
PLAN
REVIEW</a:t>
            </a:r>
          </a:p>
        </p:txBody>
      </p:sp>
      <p:cxnSp>
        <p:nvCxnSpPr>
          <p:cNvPr id="15" name="Connector 14"/>
          <p:cNvCxnSpPr/>
          <p:nvPr/>
        </p:nvCxnSpPr>
        <p:spPr>
          <a:xfrm>
            <a:off x="5247350" y="2628900"/>
            <a:ext cx="118872" cy="0"/>
          </a:xfrm>
          <a:prstGeom prst="line">
            <a:avLst/>
          </a:prstGeom>
          <a:ln w="27940">
            <a:solidFill>
              <a:srgbClr val="14A09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366222" y="2148840"/>
            <a:ext cx="1456509" cy="960120"/>
          </a:xfrm>
          <a:prstGeom prst="roundRect">
            <a:avLst>
              <a:gd name="adj" fmla="val 8000"/>
            </a:avLst>
          </a:prstGeom>
          <a:solidFill>
            <a:srgbClr val="EEF1F8"/>
          </a:solidFill>
          <a:ln w="1524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150" b="0" i="0">
                <a:solidFill>
                  <a:srgbClr val="1A202C"/>
                </a:solidFill>
                <a:latin typeface="Arial"/>
              </a:rPr>
              <a:t>4
implement</a:t>
            </a:r>
          </a:p>
        </p:txBody>
      </p:sp>
      <p:cxnSp>
        <p:nvCxnSpPr>
          <p:cNvPr id="17" name="Connector 16"/>
          <p:cNvCxnSpPr/>
          <p:nvPr/>
        </p:nvCxnSpPr>
        <p:spPr>
          <a:xfrm>
            <a:off x="6822730" y="2628900"/>
            <a:ext cx="118872" cy="0"/>
          </a:xfrm>
          <a:prstGeom prst="line">
            <a:avLst/>
          </a:prstGeom>
          <a:ln w="27940">
            <a:solidFill>
              <a:srgbClr val="14A09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941602" y="2148840"/>
            <a:ext cx="1456509" cy="960120"/>
          </a:xfrm>
          <a:prstGeom prst="roundRect">
            <a:avLst>
              <a:gd name="adj" fmla="val 8000"/>
            </a:avLst>
          </a:prstGeom>
          <a:solidFill>
            <a:srgbClr val="D88416"/>
          </a:solidFill>
          <a:ln w="1524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150" b="1" i="0">
                <a:solidFill>
                  <a:srgbClr val="FFFFFF"/>
                </a:solidFill>
                <a:latin typeface="Arial"/>
              </a:rPr>
              <a:t>5
CODE
REVIEW</a:t>
            </a:r>
          </a:p>
        </p:txBody>
      </p:sp>
      <p:cxnSp>
        <p:nvCxnSpPr>
          <p:cNvPr id="19" name="Connector 18"/>
          <p:cNvCxnSpPr/>
          <p:nvPr/>
        </p:nvCxnSpPr>
        <p:spPr>
          <a:xfrm>
            <a:off x="8398111" y="2628900"/>
            <a:ext cx="118872" cy="0"/>
          </a:xfrm>
          <a:prstGeom prst="line">
            <a:avLst/>
          </a:prstGeom>
          <a:ln w="27940">
            <a:solidFill>
              <a:srgbClr val="14A09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516983" y="2148840"/>
            <a:ext cx="1456509" cy="960120"/>
          </a:xfrm>
          <a:prstGeom prst="roundRect">
            <a:avLst>
              <a:gd name="adj" fmla="val 8000"/>
            </a:avLst>
          </a:prstGeom>
          <a:solidFill>
            <a:srgbClr val="EEF1F8"/>
          </a:solidFill>
          <a:ln w="1524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150" b="0" i="0">
                <a:solidFill>
                  <a:srgbClr val="1A202C"/>
                </a:solidFill>
                <a:latin typeface="Arial"/>
              </a:rPr>
              <a:t>6
A/B test</a:t>
            </a:r>
          </a:p>
        </p:txBody>
      </p:sp>
      <p:cxnSp>
        <p:nvCxnSpPr>
          <p:cNvPr id="21" name="Connector 20"/>
          <p:cNvCxnSpPr/>
          <p:nvPr/>
        </p:nvCxnSpPr>
        <p:spPr>
          <a:xfrm>
            <a:off x="9973491" y="2628900"/>
            <a:ext cx="118872" cy="0"/>
          </a:xfrm>
          <a:prstGeom prst="line">
            <a:avLst/>
          </a:prstGeom>
          <a:ln w="27940">
            <a:solidFill>
              <a:srgbClr val="14A09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0092363" y="2148840"/>
            <a:ext cx="1456509" cy="960120"/>
          </a:xfrm>
          <a:prstGeom prst="roundRect">
            <a:avLst>
              <a:gd name="adj" fmla="val 8000"/>
            </a:avLst>
          </a:prstGeom>
          <a:solidFill>
            <a:srgbClr val="2B368C"/>
          </a:solidFill>
          <a:ln w="1524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150" b="1" i="0">
                <a:solidFill>
                  <a:srgbClr val="FFFFFF"/>
                </a:solidFill>
                <a:latin typeface="Arial"/>
              </a:rPr>
              <a:t>7
decision +
memory</a:t>
            </a:r>
          </a:p>
        </p:txBody>
      </p:sp>
      <p:cxnSp>
        <p:nvCxnSpPr>
          <p:cNvPr id="23" name="Connector 22"/>
          <p:cNvCxnSpPr/>
          <p:nvPr/>
        </p:nvCxnSpPr>
        <p:spPr>
          <a:xfrm>
            <a:off x="4519095" y="3108960"/>
            <a:ext cx="0" cy="475488"/>
          </a:xfrm>
          <a:prstGeom prst="line">
            <a:avLst/>
          </a:prstGeom>
          <a:ln w="19050">
            <a:solidFill>
              <a:srgbClr val="C03A3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3236323" y="3584448"/>
            <a:ext cx="1282772" cy="0"/>
          </a:xfrm>
          <a:prstGeom prst="line">
            <a:avLst/>
          </a:prstGeom>
          <a:ln w="19050">
            <a:solidFill>
              <a:srgbClr val="C03A3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236323" y="3108960"/>
            <a:ext cx="0" cy="475488"/>
          </a:xfrm>
          <a:prstGeom prst="line">
            <a:avLst/>
          </a:prstGeom>
          <a:ln w="19050">
            <a:solidFill>
              <a:srgbClr val="C03A3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236323" y="3602736"/>
            <a:ext cx="1282773" cy="256032"/>
          </a:xfrm>
          <a:prstGeom prst="rect">
            <a:avLst/>
          </a:prstGeom>
          <a:noFill/>
        </p:spPr>
        <p:txBody>
          <a:bodyPr wrap="square" anchor="t" lIns="0" rIns="0" tIns="0" bIns="0">
            <a:spAutoFit/>
          </a:bodyPr>
          <a:lstStyle/>
          <a:p>
            <a:pPr algn="ctr">
              <a:spcAft>
                <a:spcPts val="400"/>
              </a:spcAft>
            </a:pPr>
            <a:r>
              <a:rPr sz="950" b="1" i="0">
                <a:solidFill>
                  <a:srgbClr val="C03A3A"/>
                </a:solidFill>
                <a:latin typeface="Arial"/>
              </a:rPr>
              <a:t>reject → research  (×3)</a:t>
            </a:r>
          </a:p>
        </p:txBody>
      </p:sp>
      <p:cxnSp>
        <p:nvCxnSpPr>
          <p:cNvPr id="27" name="Connector 26"/>
          <p:cNvCxnSpPr/>
          <p:nvPr/>
        </p:nvCxnSpPr>
        <p:spPr>
          <a:xfrm>
            <a:off x="7669857" y="3108960"/>
            <a:ext cx="0" cy="475488"/>
          </a:xfrm>
          <a:prstGeom prst="line">
            <a:avLst/>
          </a:prstGeom>
          <a:ln w="19050">
            <a:solidFill>
              <a:srgbClr val="C03A3A"/>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6094476" y="3584448"/>
            <a:ext cx="1575381" cy="0"/>
          </a:xfrm>
          <a:prstGeom prst="line">
            <a:avLst/>
          </a:prstGeom>
          <a:ln w="19050">
            <a:solidFill>
              <a:srgbClr val="C03A3A"/>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094476" y="3108960"/>
            <a:ext cx="0" cy="475488"/>
          </a:xfrm>
          <a:prstGeom prst="line">
            <a:avLst/>
          </a:prstGeom>
          <a:ln w="19050">
            <a:solidFill>
              <a:srgbClr val="C03A3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094476" y="3602736"/>
            <a:ext cx="1575381" cy="256032"/>
          </a:xfrm>
          <a:prstGeom prst="rect">
            <a:avLst/>
          </a:prstGeom>
          <a:noFill/>
        </p:spPr>
        <p:txBody>
          <a:bodyPr wrap="square" anchor="t" lIns="0" rIns="0" tIns="0" bIns="0">
            <a:spAutoFit/>
          </a:bodyPr>
          <a:lstStyle/>
          <a:p>
            <a:pPr algn="ctr">
              <a:spcAft>
                <a:spcPts val="400"/>
              </a:spcAft>
            </a:pPr>
            <a:r>
              <a:rPr sz="950" b="1" i="0">
                <a:solidFill>
                  <a:srgbClr val="C03A3A"/>
                </a:solidFill>
                <a:latin typeface="Arial"/>
              </a:rPr>
              <a:t>reject → coder  (×3)</a:t>
            </a:r>
          </a:p>
        </p:txBody>
      </p:sp>
      <p:cxnSp>
        <p:nvCxnSpPr>
          <p:cNvPr id="31" name="Connector 30"/>
          <p:cNvCxnSpPr/>
          <p:nvPr/>
        </p:nvCxnSpPr>
        <p:spPr>
          <a:xfrm>
            <a:off x="9245237" y="3108960"/>
            <a:ext cx="0" cy="1060703"/>
          </a:xfrm>
          <a:prstGeom prst="line">
            <a:avLst/>
          </a:prstGeom>
          <a:ln w="19050">
            <a:solidFill>
              <a:srgbClr val="C03A3A"/>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2651107" y="4169663"/>
            <a:ext cx="6594130" cy="0"/>
          </a:xfrm>
          <a:prstGeom prst="line">
            <a:avLst/>
          </a:prstGeom>
          <a:ln w="19050">
            <a:solidFill>
              <a:srgbClr val="C03A3A"/>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651107" y="3108960"/>
            <a:ext cx="0" cy="1060703"/>
          </a:xfrm>
          <a:prstGeom prst="line">
            <a:avLst/>
          </a:prstGeom>
          <a:ln w="19050">
            <a:solidFill>
              <a:srgbClr val="C03A3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651107" y="4187951"/>
            <a:ext cx="6594130" cy="256032"/>
          </a:xfrm>
          <a:prstGeom prst="rect">
            <a:avLst/>
          </a:prstGeom>
          <a:noFill/>
        </p:spPr>
        <p:txBody>
          <a:bodyPr wrap="square" anchor="t" lIns="0" rIns="0" tIns="0" bIns="0">
            <a:spAutoFit/>
          </a:bodyPr>
          <a:lstStyle/>
          <a:p>
            <a:pPr algn="ctr">
              <a:spcAft>
                <a:spcPts val="400"/>
              </a:spcAft>
            </a:pPr>
            <a:r>
              <a:rPr sz="950" b="1" i="0">
                <a:solidFill>
                  <a:srgbClr val="C03A3A"/>
                </a:solidFill>
                <a:latin typeface="Arial"/>
              </a:rPr>
              <a:t>fail / regression → research  (×2)</a:t>
            </a:r>
          </a:p>
        </p:txBody>
      </p:sp>
      <p:sp>
        <p:nvSpPr>
          <p:cNvPr id="35" name="Rounded Rectangle 34"/>
          <p:cNvSpPr/>
          <p:nvPr/>
        </p:nvSpPr>
        <p:spPr>
          <a:xfrm>
            <a:off x="640080" y="4590288"/>
            <a:ext cx="237744" cy="237744"/>
          </a:xfrm>
          <a:prstGeom prst="roundRect">
            <a:avLst>
              <a:gd name="adj" fmla="val 25000"/>
            </a:avLst>
          </a:prstGeom>
          <a:solidFill>
            <a:srgbClr val="D88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9264" y="4572000"/>
            <a:ext cx="4754880" cy="292608"/>
          </a:xfrm>
          <a:prstGeom prst="rect">
            <a:avLst/>
          </a:prstGeom>
          <a:noFill/>
        </p:spPr>
        <p:txBody>
          <a:bodyPr wrap="square" anchor="t" lIns="0" rIns="0" tIns="0" bIns="0">
            <a:spAutoFit/>
          </a:bodyPr>
          <a:lstStyle/>
          <a:p>
            <a:pPr algn="l">
              <a:spcAft>
                <a:spcPts val="400"/>
              </a:spcAft>
            </a:pPr>
            <a:r>
              <a:rPr sz="1150" b="1" i="0">
                <a:solidFill>
                  <a:srgbClr val="D88416"/>
                </a:solidFill>
                <a:latin typeface="Arial"/>
              </a:rPr>
              <a:t>mandatory gate</a:t>
            </a:r>
          </a:p>
        </p:txBody>
      </p:sp>
      <p:sp>
        <p:nvSpPr>
          <p:cNvPr id="37" name="Rounded Rectangle 36"/>
          <p:cNvSpPr/>
          <p:nvPr/>
        </p:nvSpPr>
        <p:spPr>
          <a:xfrm>
            <a:off x="3246120" y="4590288"/>
            <a:ext cx="237744" cy="237744"/>
          </a:xfrm>
          <a:prstGeom prst="roundRect">
            <a:avLst>
              <a:gd name="adj" fmla="val 25000"/>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75303" y="4572000"/>
            <a:ext cx="4754880" cy="292608"/>
          </a:xfrm>
          <a:prstGeom prst="rect">
            <a:avLst/>
          </a:prstGeom>
          <a:noFill/>
        </p:spPr>
        <p:txBody>
          <a:bodyPr wrap="square" anchor="t" lIns="0" rIns="0" tIns="0" bIns="0">
            <a:spAutoFit/>
          </a:bodyPr>
          <a:lstStyle/>
          <a:p>
            <a:pPr algn="l">
              <a:spcAft>
                <a:spcPts val="400"/>
              </a:spcAft>
            </a:pPr>
            <a:r>
              <a:rPr sz="1150" b="1" i="0">
                <a:solidFill>
                  <a:srgbClr val="2B368C"/>
                </a:solidFill>
                <a:latin typeface="Arial"/>
              </a:rPr>
              <a:t>manager-owned stage</a:t>
            </a:r>
          </a:p>
        </p:txBody>
      </p:sp>
      <p:sp>
        <p:nvSpPr>
          <p:cNvPr id="39" name="Rounded Rectangle 38"/>
          <p:cNvSpPr/>
          <p:nvPr/>
        </p:nvSpPr>
        <p:spPr>
          <a:xfrm>
            <a:off x="6400800" y="4590288"/>
            <a:ext cx="237744" cy="237744"/>
          </a:xfrm>
          <a:prstGeom prst="roundRect">
            <a:avLst>
              <a:gd name="adj" fmla="val 25000"/>
            </a:avLst>
          </a:prstGeom>
          <a:solidFill>
            <a:srgbClr val="C0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29984" y="4572000"/>
            <a:ext cx="4754880" cy="292608"/>
          </a:xfrm>
          <a:prstGeom prst="rect">
            <a:avLst/>
          </a:prstGeom>
          <a:noFill/>
        </p:spPr>
        <p:txBody>
          <a:bodyPr wrap="square" anchor="t" lIns="0" rIns="0" tIns="0" bIns="0">
            <a:spAutoFit/>
          </a:bodyPr>
          <a:lstStyle/>
          <a:p>
            <a:pPr algn="l">
              <a:spcAft>
                <a:spcPts val="400"/>
              </a:spcAft>
            </a:pPr>
            <a:r>
              <a:rPr sz="1150" b="1" i="0">
                <a:solidFill>
                  <a:srgbClr val="C03A3A"/>
                </a:solidFill>
                <a:latin typeface="Arial"/>
              </a:rPr>
              <a:t>failure → routes back to one upstream owner</a:t>
            </a:r>
          </a:p>
        </p:txBody>
      </p:sp>
      <p:sp>
        <p:nvSpPr>
          <p:cNvPr id="41" name="Rounded Rectangle 40"/>
          <p:cNvSpPr/>
          <p:nvPr/>
        </p:nvSpPr>
        <p:spPr>
          <a:xfrm>
            <a:off x="640080" y="5029200"/>
            <a:ext cx="10908792" cy="960120"/>
          </a:xfrm>
          <a:prstGeom prst="roundRect">
            <a:avLst>
              <a:gd name="adj" fmla="val 4500"/>
            </a:avLst>
          </a:prstGeom>
          <a:solidFill>
            <a:srgbClr val="FFFFFF"/>
          </a:solidFill>
          <a:ln w="1270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640080" y="5029200"/>
            <a:ext cx="10908792" cy="384048"/>
          </a:xfrm>
          <a:prstGeom prst="roundRect">
            <a:avLst>
              <a:gd name="adj" fmla="val 4500"/>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400" b="1" i="0">
                <a:solidFill>
                  <a:srgbClr val="FFFFFF"/>
                </a:solidFill>
                <a:latin typeface="Arial"/>
              </a:rPr>
              <a:t>On success vs. failure</a:t>
            </a:r>
          </a:p>
        </p:txBody>
      </p:sp>
      <p:sp>
        <p:nvSpPr>
          <p:cNvPr id="43" name="Rectangle 42"/>
          <p:cNvSpPr/>
          <p:nvPr/>
        </p:nvSpPr>
        <p:spPr>
          <a:xfrm>
            <a:off x="640080" y="5330952"/>
            <a:ext cx="10908792" cy="82296"/>
          </a:xfrm>
          <a:prstGeom prst="rect">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86384" y="5486400"/>
            <a:ext cx="10634472" cy="429768"/>
          </a:xfrm>
          <a:prstGeom prst="rect">
            <a:avLst/>
          </a:prstGeom>
          <a:noFill/>
        </p:spPr>
        <p:txBody>
          <a:bodyPr wrap="square" anchor="t" lIns="0" rIns="0" tIns="0" bIns="0">
            <a:spAutoFit/>
          </a:bodyPr>
          <a:lstStyle/>
          <a:p>
            <a:pPr algn="l">
              <a:spcAft>
                <a:spcPts val="400"/>
              </a:spcAft>
            </a:pPr>
            <a:r>
              <a:rPr sz="1250" b="0" i="0">
                <a:solidFill>
                  <a:srgbClr val="1A202C"/>
                </a:solidFill>
                <a:latin typeface="Arial"/>
              </a:rPr>
              <a:t>•  Forward only on success. A gate or test failure routes back to exactly one upstream owner — with loop caps (plan 3 · code 3 · test 2).</a:t>
            </a:r>
          </a:p>
          <a:p>
            <a:pPr algn="l">
              <a:spcAft>
                <a:spcPts val="400"/>
              </a:spcAft>
            </a:pPr>
            <a:r>
              <a:rPr sz="1250" b="0" i="0">
                <a:solidFill>
                  <a:srgbClr val="1A202C"/>
                </a:solidFill>
                <a:latin typeface="Arial"/>
              </a:rPr>
              <a:t>•  Exceed a cap → the run stops and surfaces to a human. A clean final PASS can auto-start the next iteration (Auto-Iterate).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320040"/>
          </a:xfrm>
          <a:prstGeom prst="rect">
            <a:avLst/>
          </a:prstGeom>
          <a:noFill/>
        </p:spPr>
        <p:txBody>
          <a:bodyPr wrap="square" anchor="t" lIns="0" rIns="0" tIns="0" bIns="0">
            <a:spAutoFit/>
          </a:bodyPr>
          <a:lstStyle/>
          <a:p>
            <a:pPr algn="l">
              <a:spcAft>
                <a:spcPts val="400"/>
              </a:spcAft>
            </a:pPr>
            <a:r>
              <a:rPr sz="1250" b="1" i="0">
                <a:solidFill>
                  <a:srgbClr val="14A096"/>
                </a:solidFill>
                <a:latin typeface="Arial"/>
              </a:rPr>
              <a:t>ORCHESTRATION</a:t>
            </a:r>
          </a:p>
        </p:txBody>
      </p:sp>
      <p:sp>
        <p:nvSpPr>
          <p:cNvPr id="5" name="TextBox 4"/>
          <p:cNvSpPr txBox="1"/>
          <p:nvPr/>
        </p:nvSpPr>
        <p:spPr>
          <a:xfrm>
            <a:off x="640080" y="658368"/>
            <a:ext cx="10972800" cy="731520"/>
          </a:xfrm>
          <a:prstGeom prst="rect">
            <a:avLst/>
          </a:prstGeom>
          <a:noFill/>
        </p:spPr>
        <p:txBody>
          <a:bodyPr wrap="square" anchor="t" lIns="0" rIns="0" tIns="0" bIns="0">
            <a:spAutoFit/>
          </a:bodyPr>
          <a:lstStyle/>
          <a:p>
            <a:pPr algn="l">
              <a:spcAft>
                <a:spcPts val="400"/>
              </a:spcAft>
            </a:pPr>
            <a:r>
              <a:rPr sz="3000" b="1" i="0">
                <a:solidFill>
                  <a:srgbClr val="2B368C"/>
                </a:solidFill>
                <a:latin typeface="Arial"/>
              </a:rPr>
              <a:t>Hub-and-spoke: the manager owns the loop</a:t>
            </a:r>
          </a:p>
        </p:txBody>
      </p:sp>
      <p:sp>
        <p:nvSpPr>
          <p:cNvPr id="6" name="Rectangle 5"/>
          <p:cNvSpPr/>
          <p:nvPr/>
        </p:nvSpPr>
        <p:spPr>
          <a:xfrm>
            <a:off x="640080" y="1371600"/>
            <a:ext cx="10972800" cy="17780"/>
          </a:xfrm>
          <a:prstGeom prst="rect">
            <a:avLst/>
          </a:prstGeom>
          <a:solidFill>
            <a:srgbClr val="C8C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55664"/>
            <a:ext cx="7315200" cy="274320"/>
          </a:xfrm>
          <a:prstGeom prst="rect">
            <a:avLst/>
          </a:prstGeom>
          <a:noFill/>
        </p:spPr>
        <p:txBody>
          <a:bodyPr wrap="square" anchor="t" lIns="0" rIns="0" tIns="0" bIns="0">
            <a:spAutoFit/>
          </a:bodyPr>
          <a:lstStyle/>
          <a:p>
            <a:pPr algn="l">
              <a:spcAft>
                <a:spcPts val="400"/>
              </a:spcAft>
            </a:pPr>
            <a:r>
              <a:rPr sz="950" b="0" i="0">
                <a:solidFill>
                  <a:srgbClr val="5B657A"/>
                </a:solidFill>
                <a:latin typeface="Arial"/>
              </a:rPr>
              <a:t>.opencode multi-agent harness</a:t>
            </a:r>
          </a:p>
        </p:txBody>
      </p:sp>
      <p:sp>
        <p:nvSpPr>
          <p:cNvPr id="8" name="TextBox 7"/>
          <p:cNvSpPr txBox="1"/>
          <p:nvPr/>
        </p:nvSpPr>
        <p:spPr>
          <a:xfrm>
            <a:off x="10424160" y="6455664"/>
            <a:ext cx="1280160" cy="274320"/>
          </a:xfrm>
          <a:prstGeom prst="rect">
            <a:avLst/>
          </a:prstGeom>
          <a:noFill/>
        </p:spPr>
        <p:txBody>
          <a:bodyPr wrap="square" anchor="t" lIns="0" rIns="0" tIns="0" bIns="0">
            <a:spAutoFit/>
          </a:bodyPr>
          <a:lstStyle/>
          <a:p>
            <a:pPr algn="r">
              <a:spcAft>
                <a:spcPts val="400"/>
              </a:spcAft>
            </a:pPr>
            <a:r>
              <a:rPr sz="950" b="0" i="0">
                <a:solidFill>
                  <a:srgbClr val="5B657A"/>
                </a:solidFill>
                <a:latin typeface="Arial"/>
              </a:rPr>
              <a:t>7 / 19</a:t>
            </a:r>
          </a:p>
        </p:txBody>
      </p:sp>
      <p:sp>
        <p:nvSpPr>
          <p:cNvPr id="9" name="Rounded Rectangle 8"/>
          <p:cNvSpPr/>
          <p:nvPr/>
        </p:nvSpPr>
        <p:spPr>
          <a:xfrm>
            <a:off x="4718304" y="3063240"/>
            <a:ext cx="2743200" cy="1097280"/>
          </a:xfrm>
          <a:prstGeom prst="roundRect">
            <a:avLst>
              <a:gd name="adj" fmla="val 10000"/>
            </a:avLst>
          </a:prstGeom>
          <a:solidFill>
            <a:srgbClr val="2B368C"/>
          </a:solidFill>
          <a:ln w="25400">
            <a:solidFill>
              <a:srgbClr val="14A09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500" b="1" i="0">
                <a:solidFill>
                  <a:srgbClr val="FFFFFF"/>
                </a:solidFill>
                <a:latin typeface="Arial"/>
              </a:rPr>
              <a:t>os-opt-manager</a:t>
            </a:r>
          </a:p>
          <a:p>
            <a:pPr algn="ctr">
              <a:spcBef>
                <a:spcPts val="200"/>
              </a:spcBef>
              <a:spcAft>
                <a:spcPts val="400"/>
              </a:spcAft>
            </a:pPr>
            <a:r>
              <a:rPr sz="1050" b="0" i="0">
                <a:solidFill>
                  <a:srgbClr val="C7CEF2"/>
                </a:solidFill>
                <a:latin typeface="Arial"/>
              </a:rPr>
              <a:t>the only delegator</a:t>
            </a:r>
          </a:p>
        </p:txBody>
      </p:sp>
      <p:sp>
        <p:nvSpPr>
          <p:cNvPr id="10" name="Rounded Rectangle 9"/>
          <p:cNvSpPr/>
          <p:nvPr/>
        </p:nvSpPr>
        <p:spPr>
          <a:xfrm>
            <a:off x="914400" y="1691640"/>
            <a:ext cx="2103120" cy="868680"/>
          </a:xfrm>
          <a:prstGeom prst="roundRect">
            <a:avLst>
              <a:gd name="adj" fmla="val 10000"/>
            </a:avLst>
          </a:prstGeom>
          <a:solidFill>
            <a:srgbClr val="EEF1F8"/>
          </a:solidFill>
          <a:ln w="16510">
            <a:solidFill>
              <a:srgbClr val="3A47B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150" b="0" i="0">
                <a:solidFill>
                  <a:srgbClr val="1A202C"/>
                </a:solidFill>
                <a:latin typeface="Arial"/>
              </a:rPr>
              <a:t>research
specialist</a:t>
            </a:r>
          </a:p>
        </p:txBody>
      </p:sp>
      <p:cxnSp>
        <p:nvCxnSpPr>
          <p:cNvPr id="11" name="Connector 10"/>
          <p:cNvCxnSpPr/>
          <p:nvPr/>
        </p:nvCxnSpPr>
        <p:spPr>
          <a:xfrm>
            <a:off x="1965960" y="2130552"/>
            <a:ext cx="4123944" cy="1481328"/>
          </a:xfrm>
          <a:prstGeom prst="line">
            <a:avLst/>
          </a:prstGeom>
          <a:ln w="16510">
            <a:solidFill>
              <a:srgbClr val="5B657A"/>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611880" y="1554480"/>
            <a:ext cx="2103120" cy="868680"/>
          </a:xfrm>
          <a:prstGeom prst="roundRect">
            <a:avLst>
              <a:gd name="adj" fmla="val 10000"/>
            </a:avLst>
          </a:prstGeom>
          <a:solidFill>
            <a:srgbClr val="D88416"/>
          </a:solidFill>
          <a:ln w="16510">
            <a:solidFill>
              <a:srgbClr val="D8841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150" b="1" i="0">
                <a:solidFill>
                  <a:srgbClr val="FFFFFF"/>
                </a:solidFill>
                <a:latin typeface="Arial"/>
              </a:rPr>
              <a:t>plan-reviewer
(GATE)</a:t>
            </a:r>
          </a:p>
        </p:txBody>
      </p:sp>
      <p:cxnSp>
        <p:nvCxnSpPr>
          <p:cNvPr id="13" name="Connector 12"/>
          <p:cNvCxnSpPr/>
          <p:nvPr/>
        </p:nvCxnSpPr>
        <p:spPr>
          <a:xfrm>
            <a:off x="4663440" y="1993391"/>
            <a:ext cx="1426464" cy="1618489"/>
          </a:xfrm>
          <a:prstGeom prst="line">
            <a:avLst/>
          </a:prstGeom>
          <a:ln w="16510">
            <a:solidFill>
              <a:srgbClr val="5B657A"/>
            </a:solidFill>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492240" y="1554480"/>
            <a:ext cx="2103120" cy="868680"/>
          </a:xfrm>
          <a:prstGeom prst="roundRect">
            <a:avLst>
              <a:gd name="adj" fmla="val 10000"/>
            </a:avLst>
          </a:prstGeom>
          <a:solidFill>
            <a:srgbClr val="EEF1F8"/>
          </a:solidFill>
          <a:ln w="16510">
            <a:solidFill>
              <a:srgbClr val="3A47B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150" b="0" i="0">
                <a:solidFill>
                  <a:srgbClr val="1A202C"/>
                </a:solidFill>
                <a:latin typeface="Arial"/>
              </a:rPr>
              <a:t>code-agent</a:t>
            </a:r>
          </a:p>
        </p:txBody>
      </p:sp>
      <p:cxnSp>
        <p:nvCxnSpPr>
          <p:cNvPr id="15" name="Connector 14"/>
          <p:cNvCxnSpPr/>
          <p:nvPr/>
        </p:nvCxnSpPr>
        <p:spPr>
          <a:xfrm flipH="1">
            <a:off x="6089904" y="1993391"/>
            <a:ext cx="1453896" cy="1618489"/>
          </a:xfrm>
          <a:prstGeom prst="line">
            <a:avLst/>
          </a:prstGeom>
          <a:ln w="16510">
            <a:solidFill>
              <a:srgbClr val="5B657A"/>
            </a:solidFill>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189720" y="1691640"/>
            <a:ext cx="2103120" cy="868680"/>
          </a:xfrm>
          <a:prstGeom prst="roundRect">
            <a:avLst>
              <a:gd name="adj" fmla="val 10000"/>
            </a:avLst>
          </a:prstGeom>
          <a:solidFill>
            <a:srgbClr val="D88416"/>
          </a:solidFill>
          <a:ln w="16510">
            <a:solidFill>
              <a:srgbClr val="D8841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150" b="1" i="0">
                <a:solidFill>
                  <a:srgbClr val="FFFFFF"/>
                </a:solidFill>
                <a:latin typeface="Arial"/>
              </a:rPr>
              <a:t>code-reviewer
(GATE)</a:t>
            </a:r>
          </a:p>
        </p:txBody>
      </p:sp>
      <p:cxnSp>
        <p:nvCxnSpPr>
          <p:cNvPr id="17" name="Connector 16"/>
          <p:cNvCxnSpPr/>
          <p:nvPr/>
        </p:nvCxnSpPr>
        <p:spPr>
          <a:xfrm flipH="1">
            <a:off x="6089904" y="2130552"/>
            <a:ext cx="4151376" cy="1481328"/>
          </a:xfrm>
          <a:prstGeom prst="line">
            <a:avLst/>
          </a:prstGeom>
          <a:ln w="16510">
            <a:solidFill>
              <a:srgbClr val="5B657A"/>
            </a:solidFill>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189720" y="4343400"/>
            <a:ext cx="2103120" cy="868680"/>
          </a:xfrm>
          <a:prstGeom prst="roundRect">
            <a:avLst>
              <a:gd name="adj" fmla="val 10000"/>
            </a:avLst>
          </a:prstGeom>
          <a:solidFill>
            <a:srgbClr val="EEF1F8"/>
          </a:solidFill>
          <a:ln w="16510">
            <a:solidFill>
              <a:srgbClr val="3A47B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150" b="0" i="0">
                <a:solidFill>
                  <a:srgbClr val="1A202C"/>
                </a:solidFill>
                <a:latin typeface="Arial"/>
              </a:rPr>
              <a:t>tester
(A/B)</a:t>
            </a:r>
          </a:p>
        </p:txBody>
      </p:sp>
      <p:cxnSp>
        <p:nvCxnSpPr>
          <p:cNvPr id="19" name="Connector 18"/>
          <p:cNvCxnSpPr/>
          <p:nvPr/>
        </p:nvCxnSpPr>
        <p:spPr>
          <a:xfrm flipH="1" flipV="1">
            <a:off x="6089904" y="3611880"/>
            <a:ext cx="4151376" cy="1170432"/>
          </a:xfrm>
          <a:prstGeom prst="line">
            <a:avLst/>
          </a:prstGeom>
          <a:ln w="16510">
            <a:solidFill>
              <a:srgbClr val="5B657A"/>
            </a:solidFill>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14400" y="4343400"/>
            <a:ext cx="2103120" cy="868680"/>
          </a:xfrm>
          <a:prstGeom prst="roundRect">
            <a:avLst>
              <a:gd name="adj" fmla="val 10000"/>
            </a:avLst>
          </a:prstGeom>
          <a:solidFill>
            <a:srgbClr val="EEF1F8"/>
          </a:solidFill>
          <a:ln w="16510">
            <a:solidFill>
              <a:srgbClr val="3A47B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150" b="0" i="0">
                <a:solidFill>
                  <a:srgbClr val="1A202C"/>
                </a:solidFill>
                <a:latin typeface="Arial"/>
              </a:rPr>
              <a:t>decision +
memory</a:t>
            </a:r>
          </a:p>
        </p:txBody>
      </p:sp>
      <p:cxnSp>
        <p:nvCxnSpPr>
          <p:cNvPr id="21" name="Connector 20"/>
          <p:cNvCxnSpPr/>
          <p:nvPr/>
        </p:nvCxnSpPr>
        <p:spPr>
          <a:xfrm flipV="1">
            <a:off x="1965960" y="3611880"/>
            <a:ext cx="4123944" cy="1170432"/>
          </a:xfrm>
          <a:prstGeom prst="line">
            <a:avLst/>
          </a:prstGeom>
          <a:ln w="16510">
            <a:solidFill>
              <a:srgbClr val="5B657A"/>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772400" y="2834640"/>
            <a:ext cx="3749039" cy="777240"/>
          </a:xfrm>
          <a:prstGeom prst="rect">
            <a:avLst/>
          </a:prstGeom>
          <a:noFill/>
        </p:spPr>
        <p:txBody>
          <a:bodyPr wrap="square" anchor="t" lIns="0" rIns="0" tIns="0" bIns="0">
            <a:spAutoFit/>
          </a:bodyPr>
          <a:lstStyle/>
          <a:p>
            <a:pPr algn="l">
              <a:spcAft>
                <a:spcPts val="400"/>
              </a:spcAft>
            </a:pPr>
            <a:r>
              <a:rPr sz="1200" b="1" i="0">
                <a:solidFill>
                  <a:srgbClr val="2B368C"/>
                </a:solidFill>
                <a:latin typeface="Arial"/>
              </a:rPr>
              <a:t>Every sub-agent returns to the hub.</a:t>
            </a:r>
          </a:p>
          <a:p>
            <a:pPr algn="l">
              <a:spcBef>
                <a:spcPts val="300"/>
              </a:spcBef>
              <a:spcAft>
                <a:spcPts val="400"/>
              </a:spcAft>
            </a:pPr>
            <a:r>
              <a:rPr sz="1100" b="0" i="0">
                <a:solidFill>
                  <a:srgbClr val="5B657A"/>
                </a:solidFill>
                <a:latin typeface="Arial"/>
              </a:rPr>
              <a:t>It checks the gate, then delegates the next stage — never waiting for the user.</a:t>
            </a:r>
          </a:p>
        </p:txBody>
      </p:sp>
      <p:sp>
        <p:nvSpPr>
          <p:cNvPr id="23" name="Rounded Rectangle 22"/>
          <p:cNvSpPr/>
          <p:nvPr/>
        </p:nvSpPr>
        <p:spPr>
          <a:xfrm>
            <a:off x="640080" y="5285232"/>
            <a:ext cx="10908792" cy="1078992"/>
          </a:xfrm>
          <a:prstGeom prst="roundRect">
            <a:avLst>
              <a:gd name="adj" fmla="val 4500"/>
            </a:avLst>
          </a:prstGeom>
          <a:solidFill>
            <a:srgbClr val="FFFFFF"/>
          </a:solidFill>
          <a:ln w="1270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0080" y="5285232"/>
            <a:ext cx="10908792" cy="384048"/>
          </a:xfrm>
          <a:prstGeom prst="roundRect">
            <a:avLst>
              <a:gd name="adj" fmla="val 4500"/>
            </a:avLst>
          </a:prstGeom>
          <a:solidFill>
            <a:srgbClr val="C03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400" b="1" i="0">
                <a:solidFill>
                  <a:srgbClr val="FFFFFF"/>
                </a:solidFill>
                <a:latin typeface="Arial"/>
              </a:rPr>
              <a:t>#1 failure mode it guards against: hallucinated delegation</a:t>
            </a:r>
          </a:p>
        </p:txBody>
      </p:sp>
      <p:sp>
        <p:nvSpPr>
          <p:cNvPr id="25" name="Rectangle 24"/>
          <p:cNvSpPr/>
          <p:nvPr/>
        </p:nvSpPr>
        <p:spPr>
          <a:xfrm>
            <a:off x="640080" y="5586984"/>
            <a:ext cx="10908792" cy="82296"/>
          </a:xfrm>
          <a:prstGeom prst="rect">
            <a:avLst/>
          </a:prstGeom>
          <a:solidFill>
            <a:srgbClr val="C0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 y="5742432"/>
            <a:ext cx="10634472" cy="548640"/>
          </a:xfrm>
          <a:prstGeom prst="rect">
            <a:avLst/>
          </a:prstGeom>
          <a:noFill/>
        </p:spPr>
        <p:txBody>
          <a:bodyPr wrap="square" anchor="t" lIns="0" rIns="0" tIns="0" bIns="0">
            <a:spAutoFit/>
          </a:bodyPr>
          <a:lstStyle/>
          <a:p>
            <a:pPr algn="l">
              <a:spcAft>
                <a:spcPts val="400"/>
              </a:spcAft>
            </a:pPr>
            <a:r>
              <a:rPr sz="1200" b="0" i="0">
                <a:solidFill>
                  <a:srgbClr val="1A202C"/>
                </a:solidFill>
                <a:latin typeface="Arial"/>
              </a:rPr>
              <a:t>•  The manager must make a real delegate() tool call — not print a "Delegation to X" markdown block and stop.</a:t>
            </a:r>
          </a:p>
          <a:p>
            <a:pPr algn="l">
              <a:spcAft>
                <a:spcPts val="400"/>
              </a:spcAft>
            </a:pPr>
            <a:r>
              <a:rPr sz="1200" b="0" i="0">
                <a:solidFill>
                  <a:srgbClr val="1A202C"/>
                </a:solidFill>
                <a:latin typeface="Arial"/>
              </a:rPr>
              <a:t>•  Verify it's real: sub-agent identity banner · status-line switch · new artifact on disk · delegate() in the tool trace.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320040"/>
          </a:xfrm>
          <a:prstGeom prst="rect">
            <a:avLst/>
          </a:prstGeom>
          <a:noFill/>
        </p:spPr>
        <p:txBody>
          <a:bodyPr wrap="square" anchor="t" lIns="0" rIns="0" tIns="0" bIns="0">
            <a:spAutoFit/>
          </a:bodyPr>
          <a:lstStyle/>
          <a:p>
            <a:pPr algn="l">
              <a:spcAft>
                <a:spcPts val="400"/>
              </a:spcAft>
            </a:pPr>
            <a:r>
              <a:rPr sz="1250" b="1" i="0">
                <a:solidFill>
                  <a:srgbClr val="14A096"/>
                </a:solidFill>
                <a:latin typeface="Arial"/>
              </a:rPr>
              <a:t>GATES</a:t>
            </a:r>
          </a:p>
        </p:txBody>
      </p:sp>
      <p:sp>
        <p:nvSpPr>
          <p:cNvPr id="5" name="TextBox 4"/>
          <p:cNvSpPr txBox="1"/>
          <p:nvPr/>
        </p:nvSpPr>
        <p:spPr>
          <a:xfrm>
            <a:off x="640080" y="658368"/>
            <a:ext cx="10972800" cy="731520"/>
          </a:xfrm>
          <a:prstGeom prst="rect">
            <a:avLst/>
          </a:prstGeom>
          <a:noFill/>
        </p:spPr>
        <p:txBody>
          <a:bodyPr wrap="square" anchor="t" lIns="0" rIns="0" tIns="0" bIns="0">
            <a:spAutoFit/>
          </a:bodyPr>
          <a:lstStyle/>
          <a:p>
            <a:pPr algn="l">
              <a:spcAft>
                <a:spcPts val="400"/>
              </a:spcAft>
            </a:pPr>
            <a:r>
              <a:rPr sz="3000" b="1" i="0">
                <a:solidFill>
                  <a:srgbClr val="2B368C"/>
                </a:solidFill>
                <a:latin typeface="Arial"/>
              </a:rPr>
              <a:t>Two mandatory gates + the A/B rule</a:t>
            </a:r>
          </a:p>
        </p:txBody>
      </p:sp>
      <p:sp>
        <p:nvSpPr>
          <p:cNvPr id="6" name="Rectangle 5"/>
          <p:cNvSpPr/>
          <p:nvPr/>
        </p:nvSpPr>
        <p:spPr>
          <a:xfrm>
            <a:off x="640080" y="1371600"/>
            <a:ext cx="10972800" cy="17780"/>
          </a:xfrm>
          <a:prstGeom prst="rect">
            <a:avLst/>
          </a:prstGeom>
          <a:solidFill>
            <a:srgbClr val="C8C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55664"/>
            <a:ext cx="7315200" cy="274320"/>
          </a:xfrm>
          <a:prstGeom prst="rect">
            <a:avLst/>
          </a:prstGeom>
          <a:noFill/>
        </p:spPr>
        <p:txBody>
          <a:bodyPr wrap="square" anchor="t" lIns="0" rIns="0" tIns="0" bIns="0">
            <a:spAutoFit/>
          </a:bodyPr>
          <a:lstStyle/>
          <a:p>
            <a:pPr algn="l">
              <a:spcAft>
                <a:spcPts val="400"/>
              </a:spcAft>
            </a:pPr>
            <a:r>
              <a:rPr sz="950" b="0" i="0">
                <a:solidFill>
                  <a:srgbClr val="5B657A"/>
                </a:solidFill>
                <a:latin typeface="Arial"/>
              </a:rPr>
              <a:t>.opencode multi-agent harness</a:t>
            </a:r>
          </a:p>
        </p:txBody>
      </p:sp>
      <p:sp>
        <p:nvSpPr>
          <p:cNvPr id="8" name="TextBox 7"/>
          <p:cNvSpPr txBox="1"/>
          <p:nvPr/>
        </p:nvSpPr>
        <p:spPr>
          <a:xfrm>
            <a:off x="10424160" y="6455664"/>
            <a:ext cx="1280160" cy="274320"/>
          </a:xfrm>
          <a:prstGeom prst="rect">
            <a:avLst/>
          </a:prstGeom>
          <a:noFill/>
        </p:spPr>
        <p:txBody>
          <a:bodyPr wrap="square" anchor="t" lIns="0" rIns="0" tIns="0" bIns="0">
            <a:spAutoFit/>
          </a:bodyPr>
          <a:lstStyle/>
          <a:p>
            <a:pPr algn="r">
              <a:spcAft>
                <a:spcPts val="400"/>
              </a:spcAft>
            </a:pPr>
            <a:r>
              <a:rPr sz="950" b="0" i="0">
                <a:solidFill>
                  <a:srgbClr val="5B657A"/>
                </a:solidFill>
                <a:latin typeface="Arial"/>
              </a:rPr>
              <a:t>8 / 19</a:t>
            </a:r>
          </a:p>
        </p:txBody>
      </p:sp>
      <p:sp>
        <p:nvSpPr>
          <p:cNvPr id="9" name="Rounded Rectangle 8"/>
          <p:cNvSpPr/>
          <p:nvPr/>
        </p:nvSpPr>
        <p:spPr>
          <a:xfrm>
            <a:off x="640080" y="1828800"/>
            <a:ext cx="3529584" cy="3429000"/>
          </a:xfrm>
          <a:prstGeom prst="roundRect">
            <a:avLst>
              <a:gd name="adj" fmla="val 4500"/>
            </a:avLst>
          </a:prstGeom>
          <a:solidFill>
            <a:srgbClr val="FFFFFF"/>
          </a:solidFill>
          <a:ln w="1270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1828800"/>
            <a:ext cx="3529584" cy="384048"/>
          </a:xfrm>
          <a:prstGeom prst="roundRect">
            <a:avLst>
              <a:gd name="adj" fmla="val 4500"/>
            </a:avLst>
          </a:prstGeom>
          <a:solidFill>
            <a:srgbClr val="D884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300" b="1" i="0">
                <a:solidFill>
                  <a:srgbClr val="FFFFFF"/>
                </a:solidFill>
                <a:latin typeface="Arial"/>
              </a:rPr>
              <a:t>Plan Review  (gate)</a:t>
            </a:r>
          </a:p>
        </p:txBody>
      </p:sp>
      <p:sp>
        <p:nvSpPr>
          <p:cNvPr id="11" name="Rectangle 10"/>
          <p:cNvSpPr/>
          <p:nvPr/>
        </p:nvSpPr>
        <p:spPr>
          <a:xfrm>
            <a:off x="640080" y="2130552"/>
            <a:ext cx="3529584" cy="82296"/>
          </a:xfrm>
          <a:prstGeom prst="rect">
            <a:avLst/>
          </a:prstGeom>
          <a:solidFill>
            <a:srgbClr val="D88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2286000"/>
            <a:ext cx="3255264" cy="2898648"/>
          </a:xfrm>
          <a:prstGeom prst="rect">
            <a:avLst/>
          </a:prstGeom>
          <a:noFill/>
        </p:spPr>
        <p:txBody>
          <a:bodyPr wrap="square" anchor="t" lIns="0" rIns="0" tIns="0" bIns="0">
            <a:spAutoFit/>
          </a:bodyPr>
          <a:lstStyle/>
          <a:p>
            <a:pPr algn="l">
              <a:spcAft>
                <a:spcPts val="400"/>
              </a:spcAft>
            </a:pPr>
            <a:r>
              <a:rPr sz="1200" b="0" i="0">
                <a:solidFill>
                  <a:srgbClr val="1A202C"/>
                </a:solidFill>
                <a:latin typeface="Arial"/>
              </a:rPr>
              <a:t>•  BEFORE any code is written</a:t>
            </a:r>
          </a:p>
          <a:p>
            <a:pPr algn="l">
              <a:spcAft>
                <a:spcPts val="400"/>
              </a:spcAft>
            </a:pPr>
            <a:r>
              <a:rPr sz="1200" b="0" i="0">
                <a:solidFill>
                  <a:srgbClr val="1A202C"/>
                </a:solidFill>
                <a:latin typeface="Arial"/>
              </a:rPr>
              <a:t>•  approve / needs-revision / reject</a:t>
            </a:r>
          </a:p>
          <a:p>
            <a:pPr algn="l">
              <a:spcAft>
                <a:spcPts val="400"/>
              </a:spcAft>
            </a:pPr>
            <a:r>
              <a:rPr sz="1200" b="0" i="0">
                <a:solidFill>
                  <a:srgbClr val="1A202C"/>
                </a:solidFill>
                <a:latin typeface="Arial"/>
              </a:rPr>
              <a:t>•  Bad-plan gate: rejects ideas already rejected or already landed</a:t>
            </a:r>
          </a:p>
          <a:p>
            <a:pPr algn="l">
              <a:spcAft>
                <a:spcPts val="400"/>
              </a:spcAft>
            </a:pPr>
            <a:r>
              <a:rPr sz="1200" b="0" i="0">
                <a:solidFill>
                  <a:srgbClr val="1A202C"/>
                </a:solidFill>
                <a:latin typeface="Arial"/>
              </a:rPr>
              <a:t>•  Scope gate: rejects if the structural audit / scope justification is missing</a:t>
            </a:r>
          </a:p>
        </p:txBody>
      </p:sp>
      <p:sp>
        <p:nvSpPr>
          <p:cNvPr id="13" name="Rounded Rectangle 12"/>
          <p:cNvSpPr/>
          <p:nvPr/>
        </p:nvSpPr>
        <p:spPr>
          <a:xfrm>
            <a:off x="4416552" y="1828800"/>
            <a:ext cx="3529584" cy="3429000"/>
          </a:xfrm>
          <a:prstGeom prst="roundRect">
            <a:avLst>
              <a:gd name="adj" fmla="val 4500"/>
            </a:avLst>
          </a:prstGeom>
          <a:solidFill>
            <a:srgbClr val="FFFFFF"/>
          </a:solidFill>
          <a:ln w="1270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16552" y="1828800"/>
            <a:ext cx="3529584" cy="384048"/>
          </a:xfrm>
          <a:prstGeom prst="roundRect">
            <a:avLst>
              <a:gd name="adj" fmla="val 4500"/>
            </a:avLst>
          </a:prstGeom>
          <a:solidFill>
            <a:srgbClr val="D884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300" b="1" i="0">
                <a:solidFill>
                  <a:srgbClr val="FFFFFF"/>
                </a:solidFill>
                <a:latin typeface="Arial"/>
              </a:rPr>
              <a:t>Code Review  (gate)</a:t>
            </a:r>
          </a:p>
        </p:txBody>
      </p:sp>
      <p:sp>
        <p:nvSpPr>
          <p:cNvPr id="15" name="Rectangle 14"/>
          <p:cNvSpPr/>
          <p:nvPr/>
        </p:nvSpPr>
        <p:spPr>
          <a:xfrm>
            <a:off x="4416552" y="2130552"/>
            <a:ext cx="3529584" cy="82296"/>
          </a:xfrm>
          <a:prstGeom prst="rect">
            <a:avLst/>
          </a:prstGeom>
          <a:solidFill>
            <a:srgbClr val="D88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2856" y="2286000"/>
            <a:ext cx="3255264" cy="2898648"/>
          </a:xfrm>
          <a:prstGeom prst="rect">
            <a:avLst/>
          </a:prstGeom>
          <a:noFill/>
        </p:spPr>
        <p:txBody>
          <a:bodyPr wrap="square" anchor="t" lIns="0" rIns="0" tIns="0" bIns="0">
            <a:spAutoFit/>
          </a:bodyPr>
          <a:lstStyle/>
          <a:p>
            <a:pPr algn="l">
              <a:spcAft>
                <a:spcPts val="400"/>
              </a:spcAft>
            </a:pPr>
            <a:r>
              <a:rPr sz="1200" b="0" i="0">
                <a:solidFill>
                  <a:srgbClr val="1A202C"/>
                </a:solidFill>
                <a:latin typeface="Arial"/>
              </a:rPr>
              <a:t>•  AFTER every change, before acceptance</a:t>
            </a:r>
          </a:p>
          <a:p>
            <a:pPr algn="l">
              <a:spcAft>
                <a:spcPts val="400"/>
              </a:spcAft>
            </a:pPr>
            <a:r>
              <a:rPr sz="1200" b="0" i="0">
                <a:solidFill>
                  <a:srgbClr val="1A202C"/>
                </a:solidFill>
                <a:latin typeface="Arial"/>
              </a:rPr>
              <a:t>•  approve / needs-revision / reject</a:t>
            </a:r>
          </a:p>
          <a:p>
            <a:pPr algn="l">
              <a:spcAft>
                <a:spcPts val="400"/>
              </a:spcAft>
            </a:pPr>
            <a:r>
              <a:rPr sz="1200" b="0" i="0">
                <a:solidFill>
                  <a:srgbClr val="1A202C"/>
                </a:solidFill>
                <a:latin typeface="Arial"/>
              </a:rPr>
              <a:t>•  Checks added branches/loads/stores, deadlocks, leaks, lifecycle, scope</a:t>
            </a:r>
          </a:p>
          <a:p>
            <a:pPr algn="l">
              <a:spcAft>
                <a:spcPts val="400"/>
              </a:spcAft>
            </a:pPr>
            <a:r>
              <a:rPr sz="1200" b="0" i="0">
                <a:solidFill>
                  <a:srgbClr val="1A202C"/>
                </a:solidFill>
                <a:latin typeface="Arial"/>
              </a:rPr>
              <a:t>•  Emits tester decision: required / recommended / skipped</a:t>
            </a:r>
          </a:p>
        </p:txBody>
      </p:sp>
      <p:sp>
        <p:nvSpPr>
          <p:cNvPr id="17" name="Rounded Rectangle 16"/>
          <p:cNvSpPr/>
          <p:nvPr/>
        </p:nvSpPr>
        <p:spPr>
          <a:xfrm>
            <a:off x="8193023" y="1828800"/>
            <a:ext cx="3529584" cy="3429000"/>
          </a:xfrm>
          <a:prstGeom prst="roundRect">
            <a:avLst>
              <a:gd name="adj" fmla="val 4500"/>
            </a:avLst>
          </a:prstGeom>
          <a:solidFill>
            <a:srgbClr val="FFFFFF"/>
          </a:solidFill>
          <a:ln w="1270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93023" y="1828800"/>
            <a:ext cx="3529584" cy="384048"/>
          </a:xfrm>
          <a:prstGeom prst="roundRect">
            <a:avLst>
              <a:gd name="adj" fmla="val 4500"/>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300" b="1" i="0">
                <a:solidFill>
                  <a:srgbClr val="FFFFFF"/>
                </a:solidFill>
                <a:latin typeface="Arial"/>
              </a:rPr>
              <a:t>A/B Test rule</a:t>
            </a:r>
          </a:p>
        </p:txBody>
      </p:sp>
      <p:sp>
        <p:nvSpPr>
          <p:cNvPr id="19" name="Rectangle 18"/>
          <p:cNvSpPr/>
          <p:nvPr/>
        </p:nvSpPr>
        <p:spPr>
          <a:xfrm>
            <a:off x="8193023" y="2130552"/>
            <a:ext cx="3529584" cy="82296"/>
          </a:xfrm>
          <a:prstGeom prst="rect">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39327" y="2286000"/>
            <a:ext cx="3255264" cy="2898648"/>
          </a:xfrm>
          <a:prstGeom prst="rect">
            <a:avLst/>
          </a:prstGeom>
          <a:noFill/>
        </p:spPr>
        <p:txBody>
          <a:bodyPr wrap="square" anchor="t" lIns="0" rIns="0" tIns="0" bIns="0">
            <a:spAutoFit/>
          </a:bodyPr>
          <a:lstStyle/>
          <a:p>
            <a:pPr algn="l">
              <a:spcAft>
                <a:spcPts val="400"/>
              </a:spcAft>
            </a:pPr>
            <a:r>
              <a:rPr sz="1200" b="0" i="0">
                <a:solidFill>
                  <a:srgbClr val="1A202C"/>
                </a:solidFill>
                <a:latin typeface="Arial"/>
              </a:rPr>
              <a:t>•  Flash AND test BOTH images: stock + feature</a:t>
            </a:r>
          </a:p>
          <a:p>
            <a:pPr algn="l">
              <a:spcAft>
                <a:spcPts val="400"/>
              </a:spcAft>
            </a:pPr>
            <a:r>
              <a:rPr sz="1200" b="0" i="0">
                <a:solidFill>
                  <a:srgbClr val="1A202C"/>
                </a:solidFill>
                <a:latin typeface="Arial"/>
              </a:rPr>
              <a:t>•  A single-image result is FORBIDDEN as a verdict</a:t>
            </a:r>
          </a:p>
          <a:p>
            <a:pPr algn="l">
              <a:spcAft>
                <a:spcPts val="400"/>
              </a:spcAft>
            </a:pPr>
            <a:r>
              <a:rPr sz="1200" b="0" i="0">
                <a:solidFill>
                  <a:srgbClr val="1A202C"/>
                </a:solidFill>
                <a:latin typeface="Arial"/>
              </a:rPr>
              <a:t>•  Verdict from delta: ≤0 = PASS · &gt;0 = FAIL · within ±1% = INCONCLUSIVE</a:t>
            </a:r>
          </a:p>
          <a:p>
            <a:pPr algn="l">
              <a:spcAft>
                <a:spcPts val="400"/>
              </a:spcAft>
            </a:pPr>
            <a:r>
              <a:rPr sz="1200" b="0" i="0">
                <a:solidFill>
                  <a:srgbClr val="1A202C"/>
                </a:solidFill>
                <a:latin typeface="Arial"/>
              </a:rPr>
              <a:t>•  Per-modified-function compare, not just aggregate</a:t>
            </a:r>
          </a:p>
        </p:txBody>
      </p:sp>
      <p:sp>
        <p:nvSpPr>
          <p:cNvPr id="21" name="TextBox 20"/>
          <p:cNvSpPr txBox="1"/>
          <p:nvPr/>
        </p:nvSpPr>
        <p:spPr>
          <a:xfrm>
            <a:off x="640080" y="5577840"/>
            <a:ext cx="10881360" cy="365760"/>
          </a:xfrm>
          <a:prstGeom prst="rect">
            <a:avLst/>
          </a:prstGeom>
          <a:noFill/>
        </p:spPr>
        <p:txBody>
          <a:bodyPr wrap="square" anchor="t" lIns="0" rIns="0" tIns="0" bIns="0">
            <a:spAutoFit/>
          </a:bodyPr>
          <a:lstStyle/>
          <a:p>
            <a:pPr algn="l">
              <a:spcAft>
                <a:spcPts val="400"/>
              </a:spcAft>
            </a:pPr>
            <a:r>
              <a:rPr sz="1150" b="0" i="1">
                <a:solidFill>
                  <a:srgbClr val="5B657A"/>
                </a:solidFill>
                <a:latin typeface="Arial"/>
              </a:rPr>
              <a:t>The gates are the whole point: "no code without a reviewed plan; no win without a measurement."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320040"/>
          </a:xfrm>
          <a:prstGeom prst="rect">
            <a:avLst/>
          </a:prstGeom>
          <a:noFill/>
        </p:spPr>
        <p:txBody>
          <a:bodyPr wrap="square" anchor="t" lIns="0" rIns="0" tIns="0" bIns="0">
            <a:spAutoFit/>
          </a:bodyPr>
          <a:lstStyle/>
          <a:p>
            <a:pPr algn="l">
              <a:spcAft>
                <a:spcPts val="400"/>
              </a:spcAft>
            </a:pPr>
            <a:r>
              <a:rPr sz="1250" b="1" i="0">
                <a:solidFill>
                  <a:srgbClr val="14A096"/>
                </a:solidFill>
                <a:latin typeface="Arial"/>
              </a:rPr>
              <a:t>SELF-CORRECTION</a:t>
            </a:r>
          </a:p>
        </p:txBody>
      </p:sp>
      <p:sp>
        <p:nvSpPr>
          <p:cNvPr id="5" name="TextBox 4"/>
          <p:cNvSpPr txBox="1"/>
          <p:nvPr/>
        </p:nvSpPr>
        <p:spPr>
          <a:xfrm>
            <a:off x="640080" y="658368"/>
            <a:ext cx="10972800" cy="731520"/>
          </a:xfrm>
          <a:prstGeom prst="rect">
            <a:avLst/>
          </a:prstGeom>
          <a:noFill/>
        </p:spPr>
        <p:txBody>
          <a:bodyPr wrap="square" anchor="t" lIns="0" rIns="0" tIns="0" bIns="0">
            <a:spAutoFit/>
          </a:bodyPr>
          <a:lstStyle/>
          <a:p>
            <a:pPr algn="l">
              <a:spcAft>
                <a:spcPts val="400"/>
              </a:spcAft>
            </a:pPr>
            <a:r>
              <a:rPr sz="3000" b="1" i="0">
                <a:solidFill>
                  <a:srgbClr val="2B368C"/>
                </a:solidFill>
                <a:latin typeface="Arial"/>
              </a:rPr>
              <a:t>Closed-loop: failures route back, wins iterate</a:t>
            </a:r>
          </a:p>
        </p:txBody>
      </p:sp>
      <p:sp>
        <p:nvSpPr>
          <p:cNvPr id="6" name="Rectangle 5"/>
          <p:cNvSpPr/>
          <p:nvPr/>
        </p:nvSpPr>
        <p:spPr>
          <a:xfrm>
            <a:off x="640080" y="1371600"/>
            <a:ext cx="10972800" cy="17780"/>
          </a:xfrm>
          <a:prstGeom prst="rect">
            <a:avLst/>
          </a:prstGeom>
          <a:solidFill>
            <a:srgbClr val="C8C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55664"/>
            <a:ext cx="7315200" cy="274320"/>
          </a:xfrm>
          <a:prstGeom prst="rect">
            <a:avLst/>
          </a:prstGeom>
          <a:noFill/>
        </p:spPr>
        <p:txBody>
          <a:bodyPr wrap="square" anchor="t" lIns="0" rIns="0" tIns="0" bIns="0">
            <a:spAutoFit/>
          </a:bodyPr>
          <a:lstStyle/>
          <a:p>
            <a:pPr algn="l">
              <a:spcAft>
                <a:spcPts val="400"/>
              </a:spcAft>
            </a:pPr>
            <a:r>
              <a:rPr sz="950" b="0" i="0">
                <a:solidFill>
                  <a:srgbClr val="5B657A"/>
                </a:solidFill>
                <a:latin typeface="Arial"/>
              </a:rPr>
              <a:t>.opencode multi-agent harness</a:t>
            </a:r>
          </a:p>
        </p:txBody>
      </p:sp>
      <p:sp>
        <p:nvSpPr>
          <p:cNvPr id="8" name="TextBox 7"/>
          <p:cNvSpPr txBox="1"/>
          <p:nvPr/>
        </p:nvSpPr>
        <p:spPr>
          <a:xfrm>
            <a:off x="10424160" y="6455664"/>
            <a:ext cx="1280160" cy="274320"/>
          </a:xfrm>
          <a:prstGeom prst="rect">
            <a:avLst/>
          </a:prstGeom>
          <a:noFill/>
        </p:spPr>
        <p:txBody>
          <a:bodyPr wrap="square" anchor="t" lIns="0" rIns="0" tIns="0" bIns="0">
            <a:spAutoFit/>
          </a:bodyPr>
          <a:lstStyle/>
          <a:p>
            <a:pPr algn="r">
              <a:spcAft>
                <a:spcPts val="400"/>
              </a:spcAft>
            </a:pPr>
            <a:r>
              <a:rPr sz="950" b="0" i="0">
                <a:solidFill>
                  <a:srgbClr val="5B657A"/>
                </a:solidFill>
                <a:latin typeface="Arial"/>
              </a:rPr>
              <a:t>9 / 19</a:t>
            </a:r>
          </a:p>
        </p:txBody>
      </p:sp>
      <p:sp>
        <p:nvSpPr>
          <p:cNvPr id="9" name="Rounded Rectangle 8"/>
          <p:cNvSpPr/>
          <p:nvPr/>
        </p:nvSpPr>
        <p:spPr>
          <a:xfrm>
            <a:off x="1463040" y="2057400"/>
            <a:ext cx="1733702" cy="777240"/>
          </a:xfrm>
          <a:prstGeom prst="roundRect">
            <a:avLst>
              <a:gd name="adj" fmla="val 8000"/>
            </a:avLst>
          </a:prstGeom>
          <a:solidFill>
            <a:srgbClr val="EEF1F8"/>
          </a:solidFill>
          <a:ln w="1524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200" b="0" i="0">
                <a:solidFill>
                  <a:srgbClr val="1A202C"/>
                </a:solidFill>
                <a:latin typeface="Arial"/>
              </a:rPr>
              <a:t>research</a:t>
            </a:r>
          </a:p>
        </p:txBody>
      </p:sp>
      <p:cxnSp>
        <p:nvCxnSpPr>
          <p:cNvPr id="10" name="Connector 9"/>
          <p:cNvCxnSpPr/>
          <p:nvPr/>
        </p:nvCxnSpPr>
        <p:spPr>
          <a:xfrm>
            <a:off x="3196742" y="2446020"/>
            <a:ext cx="118872" cy="0"/>
          </a:xfrm>
          <a:prstGeom prst="line">
            <a:avLst/>
          </a:prstGeom>
          <a:ln w="27940">
            <a:solidFill>
              <a:srgbClr val="14A09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315614" y="2057400"/>
            <a:ext cx="1733702" cy="777240"/>
          </a:xfrm>
          <a:prstGeom prst="roundRect">
            <a:avLst>
              <a:gd name="adj" fmla="val 8000"/>
            </a:avLst>
          </a:prstGeom>
          <a:solidFill>
            <a:srgbClr val="D88416"/>
          </a:solidFill>
          <a:ln w="1524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200" b="1" i="0">
                <a:solidFill>
                  <a:srgbClr val="FFFFFF"/>
                </a:solidFill>
                <a:latin typeface="Arial"/>
              </a:rPr>
              <a:t>plan
review</a:t>
            </a:r>
          </a:p>
        </p:txBody>
      </p:sp>
      <p:cxnSp>
        <p:nvCxnSpPr>
          <p:cNvPr id="12" name="Connector 11"/>
          <p:cNvCxnSpPr/>
          <p:nvPr/>
        </p:nvCxnSpPr>
        <p:spPr>
          <a:xfrm>
            <a:off x="5049317" y="2446020"/>
            <a:ext cx="118872" cy="0"/>
          </a:xfrm>
          <a:prstGeom prst="line">
            <a:avLst/>
          </a:prstGeom>
          <a:ln w="27940">
            <a:solidFill>
              <a:srgbClr val="14A09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168189" y="2057400"/>
            <a:ext cx="1733702" cy="777240"/>
          </a:xfrm>
          <a:prstGeom prst="roundRect">
            <a:avLst>
              <a:gd name="adj" fmla="val 8000"/>
            </a:avLst>
          </a:prstGeom>
          <a:solidFill>
            <a:srgbClr val="EEF1F8"/>
          </a:solidFill>
          <a:ln w="1524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200" b="0" i="0">
                <a:solidFill>
                  <a:srgbClr val="1A202C"/>
                </a:solidFill>
                <a:latin typeface="Arial"/>
              </a:rPr>
              <a:t>code</a:t>
            </a:r>
          </a:p>
        </p:txBody>
      </p:sp>
      <p:cxnSp>
        <p:nvCxnSpPr>
          <p:cNvPr id="14" name="Connector 13"/>
          <p:cNvCxnSpPr/>
          <p:nvPr/>
        </p:nvCxnSpPr>
        <p:spPr>
          <a:xfrm>
            <a:off x="6901891" y="2446020"/>
            <a:ext cx="118872" cy="0"/>
          </a:xfrm>
          <a:prstGeom prst="line">
            <a:avLst/>
          </a:prstGeom>
          <a:ln w="27940">
            <a:solidFill>
              <a:srgbClr val="14A09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020763" y="2057400"/>
            <a:ext cx="1733702" cy="777240"/>
          </a:xfrm>
          <a:prstGeom prst="roundRect">
            <a:avLst>
              <a:gd name="adj" fmla="val 8000"/>
            </a:avLst>
          </a:prstGeom>
          <a:solidFill>
            <a:srgbClr val="D88416"/>
          </a:solidFill>
          <a:ln w="1524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200" b="1" i="0">
                <a:solidFill>
                  <a:srgbClr val="FFFFFF"/>
                </a:solidFill>
                <a:latin typeface="Arial"/>
              </a:rPr>
              <a:t>code
review</a:t>
            </a:r>
          </a:p>
        </p:txBody>
      </p:sp>
      <p:cxnSp>
        <p:nvCxnSpPr>
          <p:cNvPr id="16" name="Connector 15"/>
          <p:cNvCxnSpPr/>
          <p:nvPr/>
        </p:nvCxnSpPr>
        <p:spPr>
          <a:xfrm>
            <a:off x="8754466" y="2446020"/>
            <a:ext cx="118872" cy="0"/>
          </a:xfrm>
          <a:prstGeom prst="line">
            <a:avLst/>
          </a:prstGeom>
          <a:ln w="27940">
            <a:solidFill>
              <a:srgbClr val="14A09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873338" y="2057400"/>
            <a:ext cx="1733702" cy="777240"/>
          </a:xfrm>
          <a:prstGeom prst="roundRect">
            <a:avLst>
              <a:gd name="adj" fmla="val 8000"/>
            </a:avLst>
          </a:prstGeom>
          <a:solidFill>
            <a:srgbClr val="EEF1F8"/>
          </a:solidFill>
          <a:ln w="1524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200" b="0" i="0">
                <a:solidFill>
                  <a:srgbClr val="1A202C"/>
                </a:solidFill>
                <a:latin typeface="Arial"/>
              </a:rPr>
              <a:t>A/B
test</a:t>
            </a:r>
          </a:p>
        </p:txBody>
      </p:sp>
      <p:sp>
        <p:nvSpPr>
          <p:cNvPr id="18" name="TextBox 17"/>
          <p:cNvSpPr txBox="1"/>
          <p:nvPr/>
        </p:nvSpPr>
        <p:spPr>
          <a:xfrm>
            <a:off x="640080" y="2240280"/>
            <a:ext cx="731520" cy="365760"/>
          </a:xfrm>
          <a:prstGeom prst="rect">
            <a:avLst/>
          </a:prstGeom>
          <a:noFill/>
        </p:spPr>
        <p:txBody>
          <a:bodyPr wrap="square" anchor="t" lIns="0" rIns="0" tIns="0" bIns="0">
            <a:spAutoFit/>
          </a:bodyPr>
          <a:lstStyle/>
          <a:p>
            <a:pPr algn="l">
              <a:spcAft>
                <a:spcPts val="400"/>
              </a:spcAft>
            </a:pPr>
            <a:r>
              <a:rPr sz="1000" b="1" i="0">
                <a:solidFill>
                  <a:srgbClr val="14A096"/>
                </a:solidFill>
                <a:latin typeface="Arial"/>
              </a:rPr>
              <a:t>fwd</a:t>
            </a:r>
          </a:p>
        </p:txBody>
      </p:sp>
      <p:graphicFrame>
        <p:nvGraphicFramePr>
          <p:cNvPr id="19" name="Table 18"/>
          <p:cNvGraphicFramePr>
            <a:graphicFrameLocks noGrp="1"/>
          </p:cNvGraphicFramePr>
          <p:nvPr/>
        </p:nvGraphicFramePr>
        <p:xfrm>
          <a:off x="640080" y="3200400"/>
          <a:ext cx="6766560" cy="1920240"/>
        </p:xfrm>
        <a:graphic>
          <a:graphicData uri="http://schemas.openxmlformats.org/drawingml/2006/table">
            <a:tbl>
              <a:tblPr firstRow="1">
                <a:tableStyleId>{5C22544A-7EE6-4342-B048-85BDC9FD1C3A}</a:tableStyleId>
              </a:tblPr>
              <a:tblGrid>
                <a:gridCol w="1554480"/>
                <a:gridCol w="1920240"/>
                <a:gridCol w="2651760"/>
                <a:gridCol w="640080"/>
              </a:tblGrid>
              <a:tr h="384048">
                <a:tc>
                  <a:txBody>
                    <a:bodyPr wrap="square"/>
                    <a:lstStyle/>
                    <a:p>
                      <a:pPr algn="l"/>
                      <a:r>
                        <a:rPr sz="1100" b="1">
                          <a:solidFill>
                            <a:srgbClr val="FFFFFF"/>
                          </a:solidFill>
                          <a:latin typeface="Arial"/>
                        </a:rPr>
                        <a:t>Failing stage</a:t>
                      </a:r>
                    </a:p>
                  </a:txBody>
                  <a:tcPr marL="73152" marR="73152" marT="18288" marB="18288" anchor="ctr">
                    <a:solidFill>
                      <a:srgbClr val="2B368C"/>
                    </a:solidFill>
                  </a:tcPr>
                </a:tc>
                <a:tc>
                  <a:txBody>
                    <a:bodyPr wrap="square"/>
                    <a:lstStyle/>
                    <a:p>
                      <a:pPr algn="l"/>
                      <a:r>
                        <a:rPr sz="1100" b="1">
                          <a:solidFill>
                            <a:srgbClr val="FFFFFF"/>
                          </a:solidFill>
                          <a:latin typeface="Arial"/>
                        </a:rPr>
                        <a:t>Verdict</a:t>
                      </a:r>
                    </a:p>
                  </a:txBody>
                  <a:tcPr marL="73152" marR="73152" marT="18288" marB="18288" anchor="ctr">
                    <a:solidFill>
                      <a:srgbClr val="2B368C"/>
                    </a:solidFill>
                  </a:tcPr>
                </a:tc>
                <a:tc>
                  <a:txBody>
                    <a:bodyPr wrap="square"/>
                    <a:lstStyle/>
                    <a:p>
                      <a:pPr algn="l"/>
                      <a:r>
                        <a:rPr sz="1100" b="1">
                          <a:solidFill>
                            <a:srgbClr val="FFFFFF"/>
                          </a:solidFill>
                          <a:latin typeface="Arial"/>
                        </a:rPr>
                        <a:t>Routes back to</a:t>
                      </a:r>
                    </a:p>
                  </a:txBody>
                  <a:tcPr marL="73152" marR="73152" marT="18288" marB="18288" anchor="ctr">
                    <a:solidFill>
                      <a:srgbClr val="2B368C"/>
                    </a:solidFill>
                  </a:tcPr>
                </a:tc>
                <a:tc>
                  <a:txBody>
                    <a:bodyPr wrap="square"/>
                    <a:lstStyle/>
                    <a:p>
                      <a:pPr algn="l"/>
                      <a:r>
                        <a:rPr sz="1100" b="1">
                          <a:solidFill>
                            <a:srgbClr val="FFFFFF"/>
                          </a:solidFill>
                          <a:latin typeface="Arial"/>
                        </a:rPr>
                        <a:t>Cap</a:t>
                      </a:r>
                    </a:p>
                  </a:txBody>
                  <a:tcPr marL="73152" marR="73152" marT="18288" marB="18288" anchor="ctr">
                    <a:solidFill>
                      <a:srgbClr val="2B368C"/>
                    </a:solidFill>
                  </a:tcPr>
                </a:tc>
              </a:tr>
              <a:tr h="384048">
                <a:tc>
                  <a:txBody>
                    <a:bodyPr wrap="square"/>
                    <a:lstStyle/>
                    <a:p>
                      <a:pPr algn="l"/>
                      <a:r>
                        <a:rPr sz="1100" b="1">
                          <a:solidFill>
                            <a:srgbClr val="1A202C"/>
                          </a:solidFill>
                          <a:latin typeface="Arial"/>
                        </a:rPr>
                        <a:t>Plan review</a:t>
                      </a:r>
                    </a:p>
                  </a:txBody>
                  <a:tcPr marL="73152" marR="73152" marT="18288" marB="18288" anchor="ctr">
                    <a:solidFill>
                      <a:srgbClr val="FFFFFF"/>
                    </a:solidFill>
                  </a:tcPr>
                </a:tc>
                <a:tc>
                  <a:txBody>
                    <a:bodyPr wrap="square"/>
                    <a:lstStyle/>
                    <a:p>
                      <a:pPr algn="l"/>
                      <a:r>
                        <a:rPr sz="1100" b="0">
                          <a:solidFill>
                            <a:srgbClr val="1A202C"/>
                          </a:solidFill>
                          <a:latin typeface="Arial"/>
                        </a:rPr>
                        <a:t>needs-revision / reject</a:t>
                      </a:r>
                    </a:p>
                  </a:txBody>
                  <a:tcPr marL="73152" marR="73152" marT="18288" marB="18288" anchor="ctr">
                    <a:solidFill>
                      <a:srgbClr val="FFFFFF"/>
                    </a:solidFill>
                  </a:tcPr>
                </a:tc>
                <a:tc>
                  <a:txBody>
                    <a:bodyPr wrap="square"/>
                    <a:lstStyle/>
                    <a:p>
                      <a:pPr algn="l"/>
                      <a:r>
                        <a:rPr sz="1100" b="0">
                          <a:solidFill>
                            <a:srgbClr val="1A202C"/>
                          </a:solidFill>
                          <a:latin typeface="Arial"/>
                        </a:rPr>
                        <a:t>researcher (new mechanism)</a:t>
                      </a:r>
                    </a:p>
                  </a:txBody>
                  <a:tcPr marL="73152" marR="73152" marT="18288" marB="18288" anchor="ctr">
                    <a:solidFill>
                      <a:srgbClr val="FFFFFF"/>
                    </a:solidFill>
                  </a:tcPr>
                </a:tc>
                <a:tc>
                  <a:txBody>
                    <a:bodyPr wrap="square"/>
                    <a:lstStyle/>
                    <a:p>
                      <a:pPr algn="l"/>
                      <a:r>
                        <a:rPr sz="1100" b="0">
                          <a:solidFill>
                            <a:srgbClr val="1A202C"/>
                          </a:solidFill>
                          <a:latin typeface="Arial"/>
                        </a:rPr>
                        <a:t>3</a:t>
                      </a:r>
                    </a:p>
                  </a:txBody>
                  <a:tcPr marL="73152" marR="73152" marT="18288" marB="18288" anchor="ctr">
                    <a:solidFill>
                      <a:srgbClr val="FFFFFF"/>
                    </a:solidFill>
                  </a:tcPr>
                </a:tc>
              </a:tr>
              <a:tr h="384048">
                <a:tc>
                  <a:txBody>
                    <a:bodyPr wrap="square"/>
                    <a:lstStyle/>
                    <a:p>
                      <a:pPr algn="l"/>
                      <a:r>
                        <a:rPr sz="1100" b="1">
                          <a:solidFill>
                            <a:srgbClr val="1A202C"/>
                          </a:solidFill>
                          <a:latin typeface="Arial"/>
                        </a:rPr>
                        <a:t>Code review</a:t>
                      </a:r>
                    </a:p>
                  </a:txBody>
                  <a:tcPr marL="73152" marR="73152" marT="18288" marB="18288" anchor="ctr">
                    <a:solidFill>
                      <a:srgbClr val="EEF1F8"/>
                    </a:solidFill>
                  </a:tcPr>
                </a:tc>
                <a:tc>
                  <a:txBody>
                    <a:bodyPr wrap="square"/>
                    <a:lstStyle/>
                    <a:p>
                      <a:pPr algn="l"/>
                      <a:r>
                        <a:rPr sz="1100" b="0">
                          <a:solidFill>
                            <a:srgbClr val="1A202C"/>
                          </a:solidFill>
                          <a:latin typeface="Arial"/>
                        </a:rPr>
                        <a:t>needs-revision / reject</a:t>
                      </a:r>
                    </a:p>
                  </a:txBody>
                  <a:tcPr marL="73152" marR="73152" marT="18288" marB="18288" anchor="ctr">
                    <a:solidFill>
                      <a:srgbClr val="EEF1F8"/>
                    </a:solidFill>
                  </a:tcPr>
                </a:tc>
                <a:tc>
                  <a:txBody>
                    <a:bodyPr wrap="square"/>
                    <a:lstStyle/>
                    <a:p>
                      <a:pPr algn="l"/>
                      <a:r>
                        <a:rPr sz="1100" b="0">
                          <a:solidFill>
                            <a:srgbClr val="1A202C"/>
                          </a:solidFill>
                          <a:latin typeface="Arial"/>
                        </a:rPr>
                        <a:t>coder, or researcher if plan is flawed</a:t>
                      </a:r>
                    </a:p>
                  </a:txBody>
                  <a:tcPr marL="73152" marR="73152" marT="18288" marB="18288" anchor="ctr">
                    <a:solidFill>
                      <a:srgbClr val="EEF1F8"/>
                    </a:solidFill>
                  </a:tcPr>
                </a:tc>
                <a:tc>
                  <a:txBody>
                    <a:bodyPr wrap="square"/>
                    <a:lstStyle/>
                    <a:p>
                      <a:pPr algn="l"/>
                      <a:r>
                        <a:rPr sz="1100" b="0">
                          <a:solidFill>
                            <a:srgbClr val="1A202C"/>
                          </a:solidFill>
                          <a:latin typeface="Arial"/>
                        </a:rPr>
                        <a:t>3</a:t>
                      </a:r>
                    </a:p>
                  </a:txBody>
                  <a:tcPr marL="73152" marR="73152" marT="18288" marB="18288" anchor="ctr">
                    <a:solidFill>
                      <a:srgbClr val="EEF1F8"/>
                    </a:solidFill>
                  </a:tcPr>
                </a:tc>
              </a:tr>
              <a:tr h="384048">
                <a:tc>
                  <a:txBody>
                    <a:bodyPr wrap="square"/>
                    <a:lstStyle/>
                    <a:p>
                      <a:pPr algn="l"/>
                      <a:r>
                        <a:rPr sz="1100" b="1">
                          <a:solidFill>
                            <a:srgbClr val="1A202C"/>
                          </a:solidFill>
                          <a:latin typeface="Arial"/>
                        </a:rPr>
                        <a:t>A/B test</a:t>
                      </a:r>
                    </a:p>
                  </a:txBody>
                  <a:tcPr marL="73152" marR="73152" marT="18288" marB="18288" anchor="ctr">
                    <a:solidFill>
                      <a:srgbClr val="FFFFFF"/>
                    </a:solidFill>
                  </a:tcPr>
                </a:tc>
                <a:tc>
                  <a:txBody>
                    <a:bodyPr wrap="square"/>
                    <a:lstStyle/>
                    <a:p>
                      <a:pPr algn="l"/>
                      <a:r>
                        <a:rPr sz="1100" b="0">
                          <a:solidFill>
                            <a:srgbClr val="1A202C"/>
                          </a:solidFill>
                          <a:latin typeface="Arial"/>
                        </a:rPr>
                        <a:t>regression / target gone</a:t>
                      </a:r>
                    </a:p>
                  </a:txBody>
                  <a:tcPr marL="73152" marR="73152" marT="18288" marB="18288" anchor="ctr">
                    <a:solidFill>
                      <a:srgbClr val="FFFFFF"/>
                    </a:solidFill>
                  </a:tcPr>
                </a:tc>
                <a:tc>
                  <a:txBody>
                    <a:bodyPr wrap="square"/>
                    <a:lstStyle/>
                    <a:p>
                      <a:pPr algn="l"/>
                      <a:r>
                        <a:rPr sz="1100" b="0">
                          <a:solidFill>
                            <a:srgbClr val="1A202C"/>
                          </a:solidFill>
                          <a:latin typeface="Arial"/>
                        </a:rPr>
                        <a:t>researcher — thesis disproven</a:t>
                      </a:r>
                    </a:p>
                  </a:txBody>
                  <a:tcPr marL="73152" marR="73152" marT="18288" marB="18288" anchor="ctr">
                    <a:solidFill>
                      <a:srgbClr val="FFFFFF"/>
                    </a:solidFill>
                  </a:tcPr>
                </a:tc>
                <a:tc>
                  <a:txBody>
                    <a:bodyPr wrap="square"/>
                    <a:lstStyle/>
                    <a:p>
                      <a:pPr algn="l"/>
                      <a:r>
                        <a:rPr sz="1100" b="0">
                          <a:solidFill>
                            <a:srgbClr val="1A202C"/>
                          </a:solidFill>
                          <a:latin typeface="Arial"/>
                        </a:rPr>
                        <a:t>2</a:t>
                      </a:r>
                    </a:p>
                  </a:txBody>
                  <a:tcPr marL="73152" marR="73152" marT="18288" marB="18288" anchor="ctr">
                    <a:solidFill>
                      <a:srgbClr val="FFFFFF"/>
                    </a:solidFill>
                  </a:tcPr>
                </a:tc>
              </a:tr>
              <a:tr h="384048">
                <a:tc>
                  <a:txBody>
                    <a:bodyPr wrap="square"/>
                    <a:lstStyle/>
                    <a:p>
                      <a:pPr algn="l"/>
                      <a:r>
                        <a:rPr sz="1100" b="1">
                          <a:solidFill>
                            <a:srgbClr val="1A202C"/>
                          </a:solidFill>
                          <a:latin typeface="Arial"/>
                        </a:rPr>
                        <a:t>A/B test</a:t>
                      </a:r>
                    </a:p>
                  </a:txBody>
                  <a:tcPr marL="73152" marR="73152" marT="18288" marB="18288" anchor="ctr">
                    <a:solidFill>
                      <a:srgbClr val="EEF1F8"/>
                    </a:solidFill>
                  </a:tcPr>
                </a:tc>
                <a:tc>
                  <a:txBody>
                    <a:bodyPr wrap="square"/>
                    <a:lstStyle/>
                    <a:p>
                      <a:pPr algn="l"/>
                      <a:r>
                        <a:rPr sz="1100" b="0">
                          <a:solidFill>
                            <a:srgbClr val="1A202C"/>
                          </a:solidFill>
                          <a:latin typeface="Arial"/>
                        </a:rPr>
                        <a:t>within noise / too small</a:t>
                      </a:r>
                    </a:p>
                  </a:txBody>
                  <a:tcPr marL="73152" marR="73152" marT="18288" marB="18288" anchor="ctr">
                    <a:solidFill>
                      <a:srgbClr val="EEF1F8"/>
                    </a:solidFill>
                  </a:tcPr>
                </a:tc>
                <a:tc>
                  <a:txBody>
                    <a:bodyPr wrap="square"/>
                    <a:lstStyle/>
                    <a:p>
                      <a:pPr algn="l"/>
                      <a:r>
                        <a:rPr sz="1100" b="0">
                          <a:solidFill>
                            <a:srgbClr val="1A202C"/>
                          </a:solidFill>
                          <a:latin typeface="Arial"/>
                        </a:rPr>
                        <a:t>coder or researcher (per-pair table)</a:t>
                      </a:r>
                    </a:p>
                  </a:txBody>
                  <a:tcPr marL="73152" marR="73152" marT="18288" marB="18288" anchor="ctr">
                    <a:solidFill>
                      <a:srgbClr val="EEF1F8"/>
                    </a:solidFill>
                  </a:tcPr>
                </a:tc>
                <a:tc>
                  <a:txBody>
                    <a:bodyPr wrap="square"/>
                    <a:lstStyle/>
                    <a:p>
                      <a:pPr algn="l"/>
                      <a:r>
                        <a:rPr sz="1100" b="0">
                          <a:solidFill>
                            <a:srgbClr val="1A202C"/>
                          </a:solidFill>
                          <a:latin typeface="Arial"/>
                        </a:rPr>
                        <a:t>2</a:t>
                      </a:r>
                    </a:p>
                  </a:txBody>
                  <a:tcPr marL="73152" marR="73152" marT="18288" marB="18288" anchor="ctr">
                    <a:solidFill>
                      <a:srgbClr val="EEF1F8"/>
                    </a:solidFill>
                  </a:tcPr>
                </a:tc>
              </a:tr>
            </a:tbl>
          </a:graphicData>
        </a:graphic>
      </p:graphicFrame>
      <p:sp>
        <p:nvSpPr>
          <p:cNvPr id="20" name="Rounded Rectangle 19"/>
          <p:cNvSpPr/>
          <p:nvPr/>
        </p:nvSpPr>
        <p:spPr>
          <a:xfrm>
            <a:off x="7635240" y="3200400"/>
            <a:ext cx="3913632" cy="2697480"/>
          </a:xfrm>
          <a:prstGeom prst="roundRect">
            <a:avLst>
              <a:gd name="adj" fmla="val 4500"/>
            </a:avLst>
          </a:prstGeom>
          <a:solidFill>
            <a:srgbClr val="FFFFFF"/>
          </a:solidFill>
          <a:ln w="1270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635240" y="3200400"/>
            <a:ext cx="3913632" cy="384048"/>
          </a:xfrm>
          <a:prstGeom prst="roundRect">
            <a:avLst>
              <a:gd name="adj" fmla="val 4500"/>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400" b="1" i="0">
                <a:solidFill>
                  <a:srgbClr val="FFFFFF"/>
                </a:solidFill>
                <a:latin typeface="Arial"/>
              </a:rPr>
              <a:t>Auto-Iterate: N</a:t>
            </a:r>
          </a:p>
        </p:txBody>
      </p:sp>
      <p:sp>
        <p:nvSpPr>
          <p:cNvPr id="22" name="Rectangle 21"/>
          <p:cNvSpPr/>
          <p:nvPr/>
        </p:nvSpPr>
        <p:spPr>
          <a:xfrm>
            <a:off x="7635240" y="3502152"/>
            <a:ext cx="3913632" cy="82296"/>
          </a:xfrm>
          <a:prstGeom prst="rect">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81544" y="3657600"/>
            <a:ext cx="3639312" cy="2167128"/>
          </a:xfrm>
          <a:prstGeom prst="rect">
            <a:avLst/>
          </a:prstGeom>
          <a:noFill/>
        </p:spPr>
        <p:txBody>
          <a:bodyPr wrap="square" anchor="t" lIns="0" rIns="0" tIns="0" bIns="0">
            <a:spAutoFit/>
          </a:bodyPr>
          <a:lstStyle/>
          <a:p>
            <a:pPr algn="l">
              <a:spcAft>
                <a:spcPts val="400"/>
              </a:spcAft>
            </a:pPr>
            <a:r>
              <a:rPr sz="1200" b="0" i="0">
                <a:solidFill>
                  <a:srgbClr val="1A202C"/>
                </a:solidFill>
                <a:latin typeface="Arial"/>
              </a:rPr>
              <a:t>•  A clean PASS auto-launches pass K+1 on the same target</a:t>
            </a:r>
          </a:p>
          <a:p>
            <a:pPr algn="l">
              <a:spcAft>
                <a:spcPts val="400"/>
              </a:spcAft>
            </a:pPr>
            <a:r>
              <a:rPr sz="1200" b="0" i="0">
                <a:solidFill>
                  <a:srgbClr val="1A202C"/>
                </a:solidFill>
                <a:latin typeface="Arial"/>
              </a:rPr>
              <a:t>•  Prior wins treated as LANDED context</a:t>
            </a:r>
          </a:p>
          <a:p>
            <a:pPr algn="l">
              <a:spcAft>
                <a:spcPts val="400"/>
              </a:spcAft>
            </a:pPr>
            <a:r>
              <a:rPr sz="1200" b="0" i="0">
                <a:solidFill>
                  <a:srgbClr val="1A202C"/>
                </a:solidFill>
                <a:latin typeface="Arial"/>
              </a:rPr>
              <a:t>•  Researcher must find orthogonal new mechanisms</a:t>
            </a:r>
          </a:p>
          <a:p>
            <a:pPr algn="l">
              <a:spcAft>
                <a:spcPts val="400"/>
              </a:spcAft>
            </a:pPr>
            <a:r>
              <a:rPr sz="1200" b="0" i="0">
                <a:solidFill>
                  <a:srgbClr val="1A202C"/>
                </a:solidFill>
                <a:latin typeface="Arial"/>
              </a:rPr>
              <a:t>•  Slugs: base_slug, base_slug__iter2, …  (no clobber)</a:t>
            </a:r>
          </a:p>
          <a:p>
            <a:pPr algn="l">
              <a:spcAft>
                <a:spcPts val="400"/>
              </a:spcAft>
            </a:pPr>
            <a:r>
              <a:rPr sz="1200" b="0" i="0">
                <a:solidFill>
                  <a:srgbClr val="1A202C"/>
                </a:solidFill>
                <a:latin typeface="Arial"/>
              </a:rPr>
              <a:t>•  Stops on: N reached · no_more_ideas · two passes in noise</a:t>
            </a:r>
          </a:p>
        </p:txBody>
      </p:sp>
      <p:sp>
        <p:nvSpPr>
          <p:cNvPr id="24" name="TextBox 23"/>
          <p:cNvSpPr txBox="1"/>
          <p:nvPr/>
        </p:nvSpPr>
        <p:spPr>
          <a:xfrm>
            <a:off x="640080" y="6035040"/>
            <a:ext cx="10881360" cy="365760"/>
          </a:xfrm>
          <a:prstGeom prst="rect">
            <a:avLst/>
          </a:prstGeom>
          <a:noFill/>
        </p:spPr>
        <p:txBody>
          <a:bodyPr wrap="square" anchor="t" lIns="0" rIns="0" tIns="0" bIns="0">
            <a:spAutoFit/>
          </a:bodyPr>
          <a:lstStyle/>
          <a:p>
            <a:pPr algn="l">
              <a:spcAft>
                <a:spcPts val="400"/>
              </a:spcAft>
            </a:pPr>
            <a:r>
              <a:rPr sz="1150" b="0" i="1">
                <a:solidFill>
                  <a:srgbClr val="5B657A"/>
                </a:solidFill>
                <a:latin typeface="Arial"/>
              </a:rPr>
              <a:t>Every bounce carries the prior artifacts + the failure reason + a loop counter. Hit the cap → stop and surface to the human.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320040"/>
          </a:xfrm>
          <a:prstGeom prst="rect">
            <a:avLst/>
          </a:prstGeom>
          <a:noFill/>
        </p:spPr>
        <p:txBody>
          <a:bodyPr wrap="square" anchor="t" lIns="0" rIns="0" tIns="0" bIns="0">
            <a:spAutoFit/>
          </a:bodyPr>
          <a:lstStyle/>
          <a:p>
            <a:pPr algn="l">
              <a:spcAft>
                <a:spcPts val="400"/>
              </a:spcAft>
            </a:pPr>
            <a:r>
              <a:rPr sz="1250" b="1" i="0">
                <a:solidFill>
                  <a:srgbClr val="14A096"/>
                </a:solidFill>
                <a:latin typeface="Arial"/>
              </a:rPr>
              <a:t>CONNECTIVE TISSUE</a:t>
            </a:r>
          </a:p>
        </p:txBody>
      </p:sp>
      <p:sp>
        <p:nvSpPr>
          <p:cNvPr id="5" name="TextBox 4"/>
          <p:cNvSpPr txBox="1"/>
          <p:nvPr/>
        </p:nvSpPr>
        <p:spPr>
          <a:xfrm>
            <a:off x="640080" y="658368"/>
            <a:ext cx="10972800" cy="731520"/>
          </a:xfrm>
          <a:prstGeom prst="rect">
            <a:avLst/>
          </a:prstGeom>
          <a:noFill/>
        </p:spPr>
        <p:txBody>
          <a:bodyPr wrap="square" anchor="t" lIns="0" rIns="0" tIns="0" bIns="0">
            <a:spAutoFit/>
          </a:bodyPr>
          <a:lstStyle/>
          <a:p>
            <a:pPr algn="l">
              <a:spcAft>
                <a:spcPts val="400"/>
              </a:spcAft>
            </a:pPr>
            <a:r>
              <a:rPr sz="3000" b="1" i="0">
                <a:solidFill>
                  <a:srgbClr val="2B368C"/>
                </a:solidFill>
                <a:latin typeface="Arial"/>
              </a:rPr>
              <a:t>The handoff packet contract</a:t>
            </a:r>
          </a:p>
        </p:txBody>
      </p:sp>
      <p:sp>
        <p:nvSpPr>
          <p:cNvPr id="6" name="Rectangle 5"/>
          <p:cNvSpPr/>
          <p:nvPr/>
        </p:nvSpPr>
        <p:spPr>
          <a:xfrm>
            <a:off x="640080" y="1371600"/>
            <a:ext cx="10972800" cy="17780"/>
          </a:xfrm>
          <a:prstGeom prst="rect">
            <a:avLst/>
          </a:prstGeom>
          <a:solidFill>
            <a:srgbClr val="C8C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55664"/>
            <a:ext cx="7315200" cy="274320"/>
          </a:xfrm>
          <a:prstGeom prst="rect">
            <a:avLst/>
          </a:prstGeom>
          <a:noFill/>
        </p:spPr>
        <p:txBody>
          <a:bodyPr wrap="square" anchor="t" lIns="0" rIns="0" tIns="0" bIns="0">
            <a:spAutoFit/>
          </a:bodyPr>
          <a:lstStyle/>
          <a:p>
            <a:pPr algn="l">
              <a:spcAft>
                <a:spcPts val="400"/>
              </a:spcAft>
            </a:pPr>
            <a:r>
              <a:rPr sz="950" b="0" i="0">
                <a:solidFill>
                  <a:srgbClr val="5B657A"/>
                </a:solidFill>
                <a:latin typeface="Arial"/>
              </a:rPr>
              <a:t>.opencode multi-agent harness</a:t>
            </a:r>
          </a:p>
        </p:txBody>
      </p:sp>
      <p:sp>
        <p:nvSpPr>
          <p:cNvPr id="8" name="TextBox 7"/>
          <p:cNvSpPr txBox="1"/>
          <p:nvPr/>
        </p:nvSpPr>
        <p:spPr>
          <a:xfrm>
            <a:off x="10424160" y="6455664"/>
            <a:ext cx="1280160" cy="274320"/>
          </a:xfrm>
          <a:prstGeom prst="rect">
            <a:avLst/>
          </a:prstGeom>
          <a:noFill/>
        </p:spPr>
        <p:txBody>
          <a:bodyPr wrap="square" anchor="t" lIns="0" rIns="0" tIns="0" bIns="0">
            <a:spAutoFit/>
          </a:bodyPr>
          <a:lstStyle/>
          <a:p>
            <a:pPr algn="r">
              <a:spcAft>
                <a:spcPts val="400"/>
              </a:spcAft>
            </a:pPr>
            <a:r>
              <a:rPr sz="950" b="0" i="0">
                <a:solidFill>
                  <a:srgbClr val="5B657A"/>
                </a:solidFill>
                <a:latin typeface="Arial"/>
              </a:rPr>
              <a:t>10 / 19</a:t>
            </a:r>
          </a:p>
        </p:txBody>
      </p:sp>
      <p:sp>
        <p:nvSpPr>
          <p:cNvPr id="9" name="TextBox 8"/>
          <p:cNvSpPr txBox="1"/>
          <p:nvPr/>
        </p:nvSpPr>
        <p:spPr>
          <a:xfrm>
            <a:off x="640080" y="1517904"/>
            <a:ext cx="10881360" cy="384048"/>
          </a:xfrm>
          <a:prstGeom prst="rect">
            <a:avLst/>
          </a:prstGeom>
          <a:noFill/>
        </p:spPr>
        <p:txBody>
          <a:bodyPr wrap="square" anchor="t" lIns="0" rIns="0" tIns="0" bIns="0">
            <a:spAutoFit/>
          </a:bodyPr>
          <a:lstStyle/>
          <a:p>
            <a:pPr algn="l">
              <a:spcAft>
                <a:spcPts val="400"/>
              </a:spcAft>
            </a:pPr>
            <a:r>
              <a:rPr sz="1400" b="1" i="0">
                <a:solidFill>
                  <a:srgbClr val="2B368C"/>
                </a:solidFill>
                <a:latin typeface="Arial"/>
              </a:rPr>
              <a:t>One shared packet on every handoff</a:t>
            </a:r>
            <a:r>
              <a:rPr sz="1400" b="0" i="0">
                <a:solidFill>
                  <a:srgbClr val="5B657A"/>
                </a:solidFill>
                <a:latin typeface="Arial"/>
              </a:rPr>
              <a:t>   +   each transition adds a few of its own fields.</a:t>
            </a:r>
          </a:p>
        </p:txBody>
      </p:sp>
      <p:sp>
        <p:nvSpPr>
          <p:cNvPr id="10" name="Rounded Rectangle 9"/>
          <p:cNvSpPr/>
          <p:nvPr/>
        </p:nvSpPr>
        <p:spPr>
          <a:xfrm>
            <a:off x="640080" y="2011680"/>
            <a:ext cx="3886200" cy="3383280"/>
          </a:xfrm>
          <a:prstGeom prst="roundRect">
            <a:avLst>
              <a:gd name="adj" fmla="val 4500"/>
            </a:avLst>
          </a:prstGeom>
          <a:solidFill>
            <a:srgbClr val="FFFFFF"/>
          </a:solidFill>
          <a:ln w="1270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2011680"/>
            <a:ext cx="3886200" cy="384048"/>
          </a:xfrm>
          <a:prstGeom prst="roundRect">
            <a:avLst>
              <a:gd name="adj" fmla="val 4500"/>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400" b="1" i="0">
                <a:solidFill>
                  <a:srgbClr val="FFFFFF"/>
                </a:solidFill>
                <a:latin typeface="Arial"/>
              </a:rPr>
              <a:t>Common packet — every handoff</a:t>
            </a:r>
          </a:p>
        </p:txBody>
      </p:sp>
      <p:sp>
        <p:nvSpPr>
          <p:cNvPr id="12" name="Rectangle 11"/>
          <p:cNvSpPr/>
          <p:nvPr/>
        </p:nvSpPr>
        <p:spPr>
          <a:xfrm>
            <a:off x="640080" y="2313432"/>
            <a:ext cx="3886200" cy="82296"/>
          </a:xfrm>
          <a:prstGeom prst="rect">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2468880"/>
            <a:ext cx="3611880" cy="2852928"/>
          </a:xfrm>
          <a:prstGeom prst="rect">
            <a:avLst/>
          </a:prstGeom>
          <a:noFill/>
        </p:spPr>
        <p:txBody>
          <a:bodyPr wrap="square" anchor="t" lIns="0" rIns="0" tIns="0" bIns="0">
            <a:spAutoFit/>
          </a:bodyPr>
          <a:lstStyle/>
          <a:p>
            <a:pPr algn="l">
              <a:spcAft>
                <a:spcPts val="400"/>
              </a:spcAft>
            </a:pPr>
            <a:r>
              <a:rPr sz="1200" b="0" i="0">
                <a:solidFill>
                  <a:srgbClr val="1A202C"/>
                </a:solidFill>
                <a:latin typeface="Arial"/>
              </a:rPr>
              <a:t>•  target + subsystem</a:t>
            </a:r>
          </a:p>
          <a:p>
            <a:pPr algn="l">
              <a:spcAft>
                <a:spcPts val="400"/>
              </a:spcAft>
            </a:pPr>
            <a:r>
              <a:rPr sz="1200" b="0" i="0">
                <a:solidFill>
                  <a:srgbClr val="1A202C"/>
                </a:solidFill>
                <a:latin typeface="Arial"/>
              </a:rPr>
              <a:t>•  primary metric (instruction count)</a:t>
            </a:r>
          </a:p>
          <a:p>
            <a:pPr algn="l">
              <a:spcAft>
                <a:spcPts val="400"/>
              </a:spcAft>
            </a:pPr>
            <a:r>
              <a:rPr sz="1200" b="0" i="0">
                <a:solidFill>
                  <a:srgbClr val="1A202C"/>
                </a:solidFill>
                <a:latin typeface="Arial"/>
              </a:rPr>
              <a:t>•  hot path + evidence source</a:t>
            </a:r>
          </a:p>
          <a:p>
            <a:pPr algn="l">
              <a:spcAft>
                <a:spcPts val="400"/>
              </a:spcAft>
            </a:pPr>
            <a:r>
              <a:rPr sz="1200" b="0" i="0">
                <a:solidFill>
                  <a:srgbClr val="1A202C"/>
                </a:solidFill>
                <a:latin typeface="Arial"/>
              </a:rPr>
              <a:t>•  files / functions / structs in scope</a:t>
            </a:r>
          </a:p>
          <a:p>
            <a:pPr algn="l">
              <a:spcAft>
                <a:spcPts val="400"/>
              </a:spcAft>
            </a:pPr>
            <a:r>
              <a:rPr sz="1200" b="0" i="0">
                <a:solidFill>
                  <a:srgbClr val="1A202C"/>
                </a:solidFill>
                <a:latin typeface="Arial"/>
              </a:rPr>
              <a:t>•  hypothesis + constraints (correctness · locks · lifetime)</a:t>
            </a:r>
          </a:p>
          <a:p>
            <a:pPr algn="l">
              <a:spcAft>
                <a:spcPts val="400"/>
              </a:spcAft>
            </a:pPr>
            <a:r>
              <a:rPr sz="1200" b="0" i="0">
                <a:solidFill>
                  <a:srgbClr val="1A202C"/>
                </a:solidFill>
                <a:latin typeface="Arial"/>
              </a:rPr>
              <a:t>•  open questions</a:t>
            </a:r>
          </a:p>
          <a:p>
            <a:pPr algn="l">
              <a:spcAft>
                <a:spcPts val="400"/>
              </a:spcAft>
            </a:pPr>
            <a:r>
              <a:rPr sz="1200" b="0" i="0">
                <a:solidFill>
                  <a:srgbClr val="1A202C"/>
                </a:solidFill>
                <a:latin typeface="Arial"/>
              </a:rPr>
              <a:t>•  next action + required reading</a:t>
            </a:r>
          </a:p>
        </p:txBody>
      </p:sp>
      <p:sp>
        <p:nvSpPr>
          <p:cNvPr id="14" name="TextBox 13"/>
          <p:cNvSpPr txBox="1"/>
          <p:nvPr/>
        </p:nvSpPr>
        <p:spPr>
          <a:xfrm>
            <a:off x="4709160" y="2011680"/>
            <a:ext cx="6839712" cy="274320"/>
          </a:xfrm>
          <a:prstGeom prst="rect">
            <a:avLst/>
          </a:prstGeom>
          <a:noFill/>
        </p:spPr>
        <p:txBody>
          <a:bodyPr wrap="square" anchor="t" lIns="0" rIns="0" tIns="0" bIns="0">
            <a:spAutoFit/>
          </a:bodyPr>
          <a:lstStyle/>
          <a:p>
            <a:pPr algn="l">
              <a:spcAft>
                <a:spcPts val="400"/>
              </a:spcAft>
            </a:pPr>
            <a:r>
              <a:rPr sz="1250" b="1" i="0">
                <a:solidFill>
                  <a:srgbClr val="14A096"/>
                </a:solidFill>
                <a:latin typeface="Arial"/>
              </a:rPr>
              <a:t>Each transition adds (key extra fields)</a:t>
            </a:r>
          </a:p>
        </p:txBody>
      </p:sp>
      <p:graphicFrame>
        <p:nvGraphicFramePr>
          <p:cNvPr id="15" name="Table 14"/>
          <p:cNvGraphicFramePr>
            <a:graphicFrameLocks noGrp="1"/>
          </p:cNvGraphicFramePr>
          <p:nvPr/>
        </p:nvGraphicFramePr>
        <p:xfrm>
          <a:off x="4709160" y="2359152"/>
          <a:ext cx="6839712" cy="3035808"/>
        </p:xfrm>
        <a:graphic>
          <a:graphicData uri="http://schemas.openxmlformats.org/drawingml/2006/table">
            <a:tbl>
              <a:tblPr firstRow="1">
                <a:tableStyleId>{5C22544A-7EE6-4342-B048-85BDC9FD1C3A}</a:tableStyleId>
              </a:tblPr>
              <a:tblGrid>
                <a:gridCol w="2331720"/>
                <a:gridCol w="4507992"/>
              </a:tblGrid>
              <a:tr h="505968">
                <a:tc>
                  <a:txBody>
                    <a:bodyPr wrap="square"/>
                    <a:lstStyle/>
                    <a:p>
                      <a:pPr algn="l"/>
                      <a:r>
                        <a:rPr sz="1100" b="1">
                          <a:solidFill>
                            <a:srgbClr val="FFFFFF"/>
                          </a:solidFill>
                          <a:latin typeface="Arial"/>
                        </a:rPr>
                        <a:t>Transition</a:t>
                      </a:r>
                    </a:p>
                  </a:txBody>
                  <a:tcPr marL="73152" marR="73152" marT="18288" marB="18288" anchor="ctr">
                    <a:solidFill>
                      <a:srgbClr val="2B368C"/>
                    </a:solidFill>
                  </a:tcPr>
                </a:tc>
                <a:tc>
                  <a:txBody>
                    <a:bodyPr wrap="square"/>
                    <a:lstStyle/>
                    <a:p>
                      <a:pPr algn="l"/>
                      <a:r>
                        <a:rPr sz="1100" b="1">
                          <a:solidFill>
                            <a:srgbClr val="FFFFFF"/>
                          </a:solidFill>
                          <a:latin typeface="Arial"/>
                        </a:rPr>
                        <a:t>Adds, on top of the common packet</a:t>
                      </a:r>
                    </a:p>
                  </a:txBody>
                  <a:tcPr marL="73152" marR="73152" marT="18288" marB="18288" anchor="ctr">
                    <a:solidFill>
                      <a:srgbClr val="2B368C"/>
                    </a:solidFill>
                  </a:tcPr>
                </a:tc>
              </a:tr>
              <a:tr h="505968">
                <a:tc>
                  <a:txBody>
                    <a:bodyPr wrap="square"/>
                    <a:lstStyle/>
                    <a:p>
                      <a:pPr algn="l"/>
                      <a:r>
                        <a:rPr sz="1100" b="1">
                          <a:solidFill>
                            <a:srgbClr val="1A202C"/>
                          </a:solidFill>
                          <a:latin typeface="Arial"/>
                        </a:rPr>
                        <a:t>Research → Plan review</a:t>
                      </a:r>
                    </a:p>
                  </a:txBody>
                  <a:tcPr marL="73152" marR="73152" marT="18288" marB="18288" anchor="ctr">
                    <a:solidFill>
                      <a:srgbClr val="FFFFFF"/>
                    </a:solidFill>
                  </a:tcPr>
                </a:tc>
                <a:tc>
                  <a:txBody>
                    <a:bodyPr wrap="square"/>
                    <a:lstStyle/>
                    <a:p>
                      <a:pPr algn="l"/>
                      <a:r>
                        <a:rPr sz="1100" b="0">
                          <a:solidFill>
                            <a:srgbClr val="1A202C"/>
                          </a:solidFill>
                          <a:latin typeface="Arial"/>
                        </a:rPr>
                        <a:t>IC hypothesis · baseline evidence · rejected alternatives</a:t>
                      </a:r>
                    </a:p>
                  </a:txBody>
                  <a:tcPr marL="73152" marR="73152" marT="18288" marB="18288" anchor="ctr">
                    <a:solidFill>
                      <a:srgbClr val="FFFFFF"/>
                    </a:solidFill>
                  </a:tcPr>
                </a:tc>
              </a:tr>
              <a:tr h="505968">
                <a:tc>
                  <a:txBody>
                    <a:bodyPr wrap="square"/>
                    <a:lstStyle/>
                    <a:p>
                      <a:pPr algn="l"/>
                      <a:r>
                        <a:rPr sz="1100" b="1">
                          <a:solidFill>
                            <a:srgbClr val="1A202C"/>
                          </a:solidFill>
                          <a:latin typeface="Arial"/>
                        </a:rPr>
                        <a:t>Plan review → Coder</a:t>
                      </a:r>
                    </a:p>
                  </a:txBody>
                  <a:tcPr marL="73152" marR="73152" marT="18288" marB="18288" anchor="ctr">
                    <a:solidFill>
                      <a:srgbClr val="EEF1F8"/>
                    </a:solidFill>
                  </a:tcPr>
                </a:tc>
                <a:tc>
                  <a:txBody>
                    <a:bodyPr wrap="square"/>
                    <a:lstStyle/>
                    <a:p>
                      <a:pPr algn="l"/>
                      <a:r>
                        <a:rPr sz="1100" b="0">
                          <a:solidFill>
                            <a:srgbClr val="1A202C"/>
                          </a:solidFill>
                          <a:latin typeface="Arial"/>
                        </a:rPr>
                        <a:t>decision · must-keep semantics · must-not-cross</a:t>
                      </a:r>
                    </a:p>
                  </a:txBody>
                  <a:tcPr marL="73152" marR="73152" marT="18288" marB="18288" anchor="ctr">
                    <a:solidFill>
                      <a:srgbClr val="EEF1F8"/>
                    </a:solidFill>
                  </a:tcPr>
                </a:tc>
              </a:tr>
              <a:tr h="505968">
                <a:tc>
                  <a:txBody>
                    <a:bodyPr wrap="square"/>
                    <a:lstStyle/>
                    <a:p>
                      <a:pPr algn="l"/>
                      <a:r>
                        <a:rPr sz="1100" b="1">
                          <a:solidFill>
                            <a:srgbClr val="1A202C"/>
                          </a:solidFill>
                          <a:latin typeface="Arial"/>
                        </a:rPr>
                        <a:t>Coder → Code review</a:t>
                      </a:r>
                    </a:p>
                  </a:txBody>
                  <a:tcPr marL="73152" marR="73152" marT="18288" marB="18288" anchor="ctr">
                    <a:solidFill>
                      <a:srgbClr val="FFFFFF"/>
                    </a:solidFill>
                  </a:tcPr>
                </a:tc>
                <a:tc>
                  <a:txBody>
                    <a:bodyPr wrap="square"/>
                    <a:lstStyle/>
                    <a:p>
                      <a:pPr algn="l"/>
                      <a:r>
                        <a:rPr sz="1100" b="0">
                          <a:solidFill>
                            <a:srgbClr val="1A202C"/>
                          </a:solidFill>
                          <a:latin typeface="Arial"/>
                        </a:rPr>
                        <a:t>changed files · Modified functions list</a:t>
                      </a:r>
                    </a:p>
                  </a:txBody>
                  <a:tcPr marL="73152" marR="73152" marT="18288" marB="18288" anchor="ctr">
                    <a:solidFill>
                      <a:srgbClr val="FFFFFF"/>
                    </a:solidFill>
                  </a:tcPr>
                </a:tc>
              </a:tr>
              <a:tr h="505968">
                <a:tc>
                  <a:txBody>
                    <a:bodyPr wrap="square"/>
                    <a:lstStyle/>
                    <a:p>
                      <a:pPr algn="l"/>
                      <a:r>
                        <a:rPr sz="1100" b="1">
                          <a:solidFill>
                            <a:srgbClr val="1A202C"/>
                          </a:solidFill>
                          <a:latin typeface="Arial"/>
                        </a:rPr>
                        <a:t>Code review → Tester</a:t>
                      </a:r>
                    </a:p>
                  </a:txBody>
                  <a:tcPr marL="73152" marR="73152" marT="18288" marB="18288" anchor="ctr">
                    <a:solidFill>
                      <a:srgbClr val="EEF1F8"/>
                    </a:solidFill>
                  </a:tcPr>
                </a:tc>
                <a:tc>
                  <a:txBody>
                    <a:bodyPr wrap="square"/>
                    <a:lstStyle/>
                    <a:p>
                      <a:pPr algn="l"/>
                      <a:r>
                        <a:rPr sz="1100" b="0">
                          <a:solidFill>
                            <a:srgbClr val="1A202C"/>
                          </a:solidFill>
                          <a:latin typeface="Arial"/>
                        </a:rPr>
                        <a:t>stock + feature image paths · compare_level</a:t>
                      </a:r>
                    </a:p>
                  </a:txBody>
                  <a:tcPr marL="73152" marR="73152" marT="18288" marB="18288" anchor="ctr">
                    <a:solidFill>
                      <a:srgbClr val="EEF1F8"/>
                    </a:solidFill>
                  </a:tcPr>
                </a:tc>
              </a:tr>
              <a:tr h="505968">
                <a:tc>
                  <a:txBody>
                    <a:bodyPr wrap="square"/>
                    <a:lstStyle/>
                    <a:p>
                      <a:pPr algn="l"/>
                      <a:r>
                        <a:rPr sz="1100" b="1">
                          <a:solidFill>
                            <a:srgbClr val="1A202C"/>
                          </a:solidFill>
                          <a:latin typeface="Arial"/>
                        </a:rPr>
                        <a:t>Tester → Manager</a:t>
                      </a:r>
                    </a:p>
                  </a:txBody>
                  <a:tcPr marL="73152" marR="73152" marT="18288" marB="18288" anchor="ctr">
                    <a:solidFill>
                      <a:srgbClr val="FFFFFF"/>
                    </a:solidFill>
                  </a:tcPr>
                </a:tc>
                <a:tc>
                  <a:txBody>
                    <a:bodyPr wrap="square"/>
                    <a:lstStyle/>
                    <a:p>
                      <a:pPr algn="l"/>
                      <a:r>
                        <a:rPr sz="1100" b="0">
                          <a:solidFill>
                            <a:srgbClr val="1A202C"/>
                          </a:solidFill>
                          <a:latin typeface="Arial"/>
                        </a:rPr>
                        <a:t>verdict · delta_pct · recommended next route</a:t>
                      </a:r>
                    </a:p>
                  </a:txBody>
                  <a:tcPr marL="73152" marR="73152" marT="18288" marB="18288" anchor="ctr">
                    <a:solidFill>
                      <a:srgbClr val="FFFFFF"/>
                    </a:solidFill>
                  </a:tcPr>
                </a:tc>
              </a:tr>
            </a:tbl>
          </a:graphicData>
        </a:graphic>
      </p:graphicFrame>
      <p:sp>
        <p:nvSpPr>
          <p:cNvPr id="16" name="TextBox 15"/>
          <p:cNvSpPr txBox="1"/>
          <p:nvPr/>
        </p:nvSpPr>
        <p:spPr>
          <a:xfrm>
            <a:off x="640080" y="5577840"/>
            <a:ext cx="10881360" cy="365760"/>
          </a:xfrm>
          <a:prstGeom prst="rect">
            <a:avLst/>
          </a:prstGeom>
          <a:noFill/>
        </p:spPr>
        <p:txBody>
          <a:bodyPr wrap="square" anchor="t" lIns="0" rIns="0" tIns="0" bIns="0">
            <a:spAutoFit/>
          </a:bodyPr>
          <a:lstStyle/>
          <a:p>
            <a:pPr algn="l">
              <a:spcAft>
                <a:spcPts val="400"/>
              </a:spcAft>
            </a:pPr>
            <a:r>
              <a:rPr sz="1150" b="0" i="1">
                <a:solidFill>
                  <a:srgbClr val="5B657A"/>
                </a:solidFill>
                <a:latin typeface="Arial"/>
              </a:rPr>
              <a:t>The chat return stays tiny — verdict · artifact paths · a few file:line. The full design / plan / review / patch lives on disk.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320040"/>
          </a:xfrm>
          <a:prstGeom prst="rect">
            <a:avLst/>
          </a:prstGeom>
          <a:noFill/>
        </p:spPr>
        <p:txBody>
          <a:bodyPr wrap="square" anchor="t" lIns="0" rIns="0" tIns="0" bIns="0">
            <a:spAutoFit/>
          </a:bodyPr>
          <a:lstStyle/>
          <a:p>
            <a:pPr algn="l">
              <a:spcAft>
                <a:spcPts val="400"/>
              </a:spcAft>
            </a:pPr>
            <a:r>
              <a:rPr sz="1250" b="1" i="0">
                <a:solidFill>
                  <a:srgbClr val="14A096"/>
                </a:solidFill>
                <a:latin typeface="Arial"/>
              </a:rPr>
              <a:t>CONNECTIVE TISSUE</a:t>
            </a:r>
          </a:p>
        </p:txBody>
      </p:sp>
      <p:sp>
        <p:nvSpPr>
          <p:cNvPr id="5" name="TextBox 4"/>
          <p:cNvSpPr txBox="1"/>
          <p:nvPr/>
        </p:nvSpPr>
        <p:spPr>
          <a:xfrm>
            <a:off x="640080" y="658368"/>
            <a:ext cx="10972800" cy="731520"/>
          </a:xfrm>
          <a:prstGeom prst="rect">
            <a:avLst/>
          </a:prstGeom>
          <a:noFill/>
        </p:spPr>
        <p:txBody>
          <a:bodyPr wrap="square" anchor="t" lIns="0" rIns="0" tIns="0" bIns="0">
            <a:spAutoFit/>
          </a:bodyPr>
          <a:lstStyle/>
          <a:p>
            <a:pPr algn="l">
              <a:spcAft>
                <a:spcPts val="400"/>
              </a:spcAft>
            </a:pPr>
            <a:r>
              <a:rPr sz="3000" b="1" i="0">
                <a:solidFill>
                  <a:srgbClr val="2B368C"/>
                </a:solidFill>
                <a:latin typeface="Arial"/>
              </a:rPr>
              <a:t>Skill packs: shared rules, inlined once</a:t>
            </a:r>
          </a:p>
        </p:txBody>
      </p:sp>
      <p:sp>
        <p:nvSpPr>
          <p:cNvPr id="6" name="Rectangle 5"/>
          <p:cNvSpPr/>
          <p:nvPr/>
        </p:nvSpPr>
        <p:spPr>
          <a:xfrm>
            <a:off x="640080" y="1371600"/>
            <a:ext cx="10972800" cy="17780"/>
          </a:xfrm>
          <a:prstGeom prst="rect">
            <a:avLst/>
          </a:prstGeom>
          <a:solidFill>
            <a:srgbClr val="C8C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55664"/>
            <a:ext cx="7315200" cy="274320"/>
          </a:xfrm>
          <a:prstGeom prst="rect">
            <a:avLst/>
          </a:prstGeom>
          <a:noFill/>
        </p:spPr>
        <p:txBody>
          <a:bodyPr wrap="square" anchor="t" lIns="0" rIns="0" tIns="0" bIns="0">
            <a:spAutoFit/>
          </a:bodyPr>
          <a:lstStyle/>
          <a:p>
            <a:pPr algn="l">
              <a:spcAft>
                <a:spcPts val="400"/>
              </a:spcAft>
            </a:pPr>
            <a:r>
              <a:rPr sz="950" b="0" i="0">
                <a:solidFill>
                  <a:srgbClr val="5B657A"/>
                </a:solidFill>
                <a:latin typeface="Arial"/>
              </a:rPr>
              <a:t>.opencode multi-agent harness</a:t>
            </a:r>
          </a:p>
        </p:txBody>
      </p:sp>
      <p:sp>
        <p:nvSpPr>
          <p:cNvPr id="8" name="TextBox 7"/>
          <p:cNvSpPr txBox="1"/>
          <p:nvPr/>
        </p:nvSpPr>
        <p:spPr>
          <a:xfrm>
            <a:off x="10424160" y="6455664"/>
            <a:ext cx="1280160" cy="274320"/>
          </a:xfrm>
          <a:prstGeom prst="rect">
            <a:avLst/>
          </a:prstGeom>
          <a:noFill/>
        </p:spPr>
        <p:txBody>
          <a:bodyPr wrap="square" anchor="t" lIns="0" rIns="0" tIns="0" bIns="0">
            <a:spAutoFit/>
          </a:bodyPr>
          <a:lstStyle/>
          <a:p>
            <a:pPr algn="r">
              <a:spcAft>
                <a:spcPts val="400"/>
              </a:spcAft>
            </a:pPr>
            <a:r>
              <a:rPr sz="950" b="0" i="0">
                <a:solidFill>
                  <a:srgbClr val="5B657A"/>
                </a:solidFill>
                <a:latin typeface="Arial"/>
              </a:rPr>
              <a:t>11 / 19</a:t>
            </a:r>
          </a:p>
        </p:txBody>
      </p:sp>
      <p:sp>
        <p:nvSpPr>
          <p:cNvPr id="9" name="Rounded Rectangle 8"/>
          <p:cNvSpPr/>
          <p:nvPr/>
        </p:nvSpPr>
        <p:spPr>
          <a:xfrm>
            <a:off x="1645920" y="1783080"/>
            <a:ext cx="2877312" cy="731520"/>
          </a:xfrm>
          <a:prstGeom prst="roundRect">
            <a:avLst>
              <a:gd name="adj" fmla="val 8000"/>
            </a:avLst>
          </a:prstGeom>
          <a:solidFill>
            <a:srgbClr val="EEF1F8"/>
          </a:solidFill>
          <a:ln w="1524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200" b="0" i="0">
                <a:solidFill>
                  <a:srgbClr val="1A202C"/>
                </a:solidFill>
                <a:latin typeface="Arial"/>
              </a:rPr>
              <a:t>/optimize_generic
(command)</a:t>
            </a:r>
          </a:p>
        </p:txBody>
      </p:sp>
      <p:cxnSp>
        <p:nvCxnSpPr>
          <p:cNvPr id="10" name="Connector 9"/>
          <p:cNvCxnSpPr/>
          <p:nvPr/>
        </p:nvCxnSpPr>
        <p:spPr>
          <a:xfrm>
            <a:off x="4523232" y="2148840"/>
            <a:ext cx="118872" cy="0"/>
          </a:xfrm>
          <a:prstGeom prst="line">
            <a:avLst/>
          </a:prstGeom>
          <a:ln w="27940">
            <a:solidFill>
              <a:srgbClr val="14A09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642104" y="1783080"/>
            <a:ext cx="2877312" cy="731520"/>
          </a:xfrm>
          <a:prstGeom prst="roundRect">
            <a:avLst>
              <a:gd name="adj" fmla="val 8000"/>
            </a:avLst>
          </a:prstGeom>
          <a:solidFill>
            <a:srgbClr val="E3F3F1"/>
          </a:solidFill>
          <a:ln w="1524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200" b="1" i="0">
                <a:solidFill>
                  <a:srgbClr val="2B368C"/>
                </a:solidFill>
                <a:latin typeface="Arial"/>
              </a:rPr>
              <a:t>@-inlines skills
into manager prompt</a:t>
            </a:r>
          </a:p>
        </p:txBody>
      </p:sp>
      <p:cxnSp>
        <p:nvCxnSpPr>
          <p:cNvPr id="12" name="Connector 11"/>
          <p:cNvCxnSpPr/>
          <p:nvPr/>
        </p:nvCxnSpPr>
        <p:spPr>
          <a:xfrm>
            <a:off x="7519416" y="2148840"/>
            <a:ext cx="118872" cy="0"/>
          </a:xfrm>
          <a:prstGeom prst="line">
            <a:avLst/>
          </a:prstGeom>
          <a:ln w="27940">
            <a:solidFill>
              <a:srgbClr val="14A09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638288" y="1783080"/>
            <a:ext cx="2877312" cy="731520"/>
          </a:xfrm>
          <a:prstGeom prst="roundRect">
            <a:avLst>
              <a:gd name="adj" fmla="val 8000"/>
            </a:avLst>
          </a:prstGeom>
          <a:solidFill>
            <a:srgbClr val="EEF1F8"/>
          </a:solidFill>
          <a:ln w="1524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200" b="0" i="0">
                <a:solidFill>
                  <a:srgbClr val="1A202C"/>
                </a:solidFill>
                <a:latin typeface="Arial"/>
              </a:rPr>
              <a:t>context propagates
to every sub-agent</a:t>
            </a:r>
          </a:p>
        </p:txBody>
      </p:sp>
      <p:sp>
        <p:nvSpPr>
          <p:cNvPr id="14" name="TextBox 13"/>
          <p:cNvSpPr txBox="1"/>
          <p:nvPr/>
        </p:nvSpPr>
        <p:spPr>
          <a:xfrm>
            <a:off x="640080" y="2606040"/>
            <a:ext cx="10881360" cy="320040"/>
          </a:xfrm>
          <a:prstGeom prst="rect">
            <a:avLst/>
          </a:prstGeom>
          <a:noFill/>
        </p:spPr>
        <p:txBody>
          <a:bodyPr wrap="square" anchor="t" lIns="0" rIns="0" tIns="0" bIns="0">
            <a:spAutoFit/>
          </a:bodyPr>
          <a:lstStyle/>
          <a:p>
            <a:pPr algn="l">
              <a:spcAft>
                <a:spcPts val="400"/>
              </a:spcAft>
            </a:pPr>
            <a:r>
              <a:rPr sz="1200" b="1" i="0">
                <a:solidFill>
                  <a:srgbClr val="C03A3A"/>
                </a:solidFill>
                <a:latin typeface="Arial"/>
              </a:rPr>
              <a:t>Sub-agents must NOT re-Read skill files — </a:t>
            </a:r>
            <a:r>
              <a:rPr sz="1200" b="0" i="0">
                <a:solidFill>
                  <a:srgbClr val="5B657A"/>
                </a:solidFill>
                <a:latin typeface="Arial"/>
              </a:rPr>
              <a:t>the content is already in context (relative paths can resolve to the wrong/stale file).</a:t>
            </a:r>
          </a:p>
        </p:txBody>
      </p:sp>
      <p:sp>
        <p:nvSpPr>
          <p:cNvPr id="15" name="Rounded Rectangle 14"/>
          <p:cNvSpPr/>
          <p:nvPr/>
        </p:nvSpPr>
        <p:spPr>
          <a:xfrm>
            <a:off x="640080" y="3108960"/>
            <a:ext cx="3529584" cy="1325880"/>
          </a:xfrm>
          <a:prstGeom prst="roundRect">
            <a:avLst>
              <a:gd name="adj" fmla="val 4500"/>
            </a:avLst>
          </a:prstGeom>
          <a:solidFill>
            <a:srgbClr val="FFFFFF"/>
          </a:solidFill>
          <a:ln w="1270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0080" y="3108960"/>
            <a:ext cx="3529584" cy="329184"/>
          </a:xfrm>
          <a:prstGeom prst="roundRect">
            <a:avLst>
              <a:gd name="adj" fmla="val 4500"/>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250" b="1" i="0">
                <a:solidFill>
                  <a:srgbClr val="FFFFFF"/>
                </a:solidFill>
                <a:latin typeface="Arial"/>
              </a:rPr>
              <a:t>Objective</a:t>
            </a:r>
          </a:p>
        </p:txBody>
      </p:sp>
      <p:sp>
        <p:nvSpPr>
          <p:cNvPr id="17" name="Rectangle 16"/>
          <p:cNvSpPr/>
          <p:nvPr/>
        </p:nvSpPr>
        <p:spPr>
          <a:xfrm>
            <a:off x="640080" y="3355848"/>
            <a:ext cx="3529584" cy="82296"/>
          </a:xfrm>
          <a:prstGeom prst="rect">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3511296"/>
            <a:ext cx="3255264" cy="850392"/>
          </a:xfrm>
          <a:prstGeom prst="rect">
            <a:avLst/>
          </a:prstGeom>
          <a:noFill/>
        </p:spPr>
        <p:txBody>
          <a:bodyPr wrap="square" anchor="t" lIns="0" rIns="0" tIns="0" bIns="0">
            <a:spAutoFit/>
          </a:bodyPr>
          <a:lstStyle/>
          <a:p>
            <a:pPr algn="l">
              <a:spcAft>
                <a:spcPts val="400"/>
              </a:spcAft>
            </a:pPr>
            <a:r>
              <a:rPr sz="1150" b="0" i="0">
                <a:solidFill>
                  <a:srgbClr val="1A202C"/>
                </a:solidFill>
                <a:latin typeface="Arial"/>
              </a:rPr>
              <a:t>•  instruction-count-first</a:t>
            </a:r>
          </a:p>
        </p:txBody>
      </p:sp>
      <p:sp>
        <p:nvSpPr>
          <p:cNvPr id="19" name="Rounded Rectangle 18"/>
          <p:cNvSpPr/>
          <p:nvPr/>
        </p:nvSpPr>
        <p:spPr>
          <a:xfrm>
            <a:off x="4416552" y="3108960"/>
            <a:ext cx="3529584" cy="1325880"/>
          </a:xfrm>
          <a:prstGeom prst="roundRect">
            <a:avLst>
              <a:gd name="adj" fmla="val 4500"/>
            </a:avLst>
          </a:prstGeom>
          <a:solidFill>
            <a:srgbClr val="FFFFFF"/>
          </a:solidFill>
          <a:ln w="1270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6552" y="3108960"/>
            <a:ext cx="3529584" cy="329184"/>
          </a:xfrm>
          <a:prstGeom prst="roundRect">
            <a:avLst>
              <a:gd name="adj" fmla="val 4500"/>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250" b="1" i="0">
                <a:solidFill>
                  <a:srgbClr val="FFFFFF"/>
                </a:solidFill>
                <a:latin typeface="Arial"/>
              </a:rPr>
              <a:t>Process</a:t>
            </a:r>
          </a:p>
        </p:txBody>
      </p:sp>
      <p:sp>
        <p:nvSpPr>
          <p:cNvPr id="21" name="Rectangle 20"/>
          <p:cNvSpPr/>
          <p:nvPr/>
        </p:nvSpPr>
        <p:spPr>
          <a:xfrm>
            <a:off x="4416552" y="3355848"/>
            <a:ext cx="3529584" cy="82296"/>
          </a:xfrm>
          <a:prstGeom prst="rect">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62856" y="3511296"/>
            <a:ext cx="3255264" cy="850392"/>
          </a:xfrm>
          <a:prstGeom prst="rect">
            <a:avLst/>
          </a:prstGeom>
          <a:noFill/>
        </p:spPr>
        <p:txBody>
          <a:bodyPr wrap="square" anchor="t" lIns="0" rIns="0" tIns="0" bIns="0">
            <a:spAutoFit/>
          </a:bodyPr>
          <a:lstStyle/>
          <a:p>
            <a:pPr algn="l">
              <a:spcAft>
                <a:spcPts val="400"/>
              </a:spcAft>
            </a:pPr>
            <a:r>
              <a:rPr sz="1150" b="0" i="0">
                <a:solidFill>
                  <a:srgbClr val="1A202C"/>
                </a:solidFill>
                <a:latin typeface="Arial"/>
              </a:rPr>
              <a:t>•  research-discipline</a:t>
            </a:r>
          </a:p>
          <a:p>
            <a:pPr algn="l">
              <a:spcAft>
                <a:spcPts val="400"/>
              </a:spcAft>
            </a:pPr>
            <a:r>
              <a:rPr sz="1150" b="0" i="0">
                <a:solidFill>
                  <a:srgbClr val="1A202C"/>
                </a:solidFill>
                <a:latin typeface="Arial"/>
              </a:rPr>
              <a:t>•  optimization-funnel</a:t>
            </a:r>
          </a:p>
        </p:txBody>
      </p:sp>
      <p:sp>
        <p:nvSpPr>
          <p:cNvPr id="23" name="Rounded Rectangle 22"/>
          <p:cNvSpPr/>
          <p:nvPr/>
        </p:nvSpPr>
        <p:spPr>
          <a:xfrm>
            <a:off x="8193023" y="3108960"/>
            <a:ext cx="3529584" cy="1325880"/>
          </a:xfrm>
          <a:prstGeom prst="roundRect">
            <a:avLst>
              <a:gd name="adj" fmla="val 4500"/>
            </a:avLst>
          </a:prstGeom>
          <a:solidFill>
            <a:srgbClr val="FFFFFF"/>
          </a:solidFill>
          <a:ln w="1270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193023" y="3108960"/>
            <a:ext cx="3529584" cy="329184"/>
          </a:xfrm>
          <a:prstGeom prst="roundRect">
            <a:avLst>
              <a:gd name="adj" fmla="val 4500"/>
            </a:avLst>
          </a:prstGeom>
          <a:solidFill>
            <a:srgbClr val="D884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250" b="1" i="0">
                <a:solidFill>
                  <a:srgbClr val="FFFFFF"/>
                </a:solidFill>
                <a:latin typeface="Arial"/>
              </a:rPr>
              <a:t>Gates</a:t>
            </a:r>
          </a:p>
        </p:txBody>
      </p:sp>
      <p:sp>
        <p:nvSpPr>
          <p:cNvPr id="25" name="Rectangle 24"/>
          <p:cNvSpPr/>
          <p:nvPr/>
        </p:nvSpPr>
        <p:spPr>
          <a:xfrm>
            <a:off x="8193023" y="3355848"/>
            <a:ext cx="3529584" cy="82296"/>
          </a:xfrm>
          <a:prstGeom prst="rect">
            <a:avLst/>
          </a:prstGeom>
          <a:solidFill>
            <a:srgbClr val="D88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39327" y="3511296"/>
            <a:ext cx="3255264" cy="850392"/>
          </a:xfrm>
          <a:prstGeom prst="rect">
            <a:avLst/>
          </a:prstGeom>
          <a:noFill/>
        </p:spPr>
        <p:txBody>
          <a:bodyPr wrap="square" anchor="t" lIns="0" rIns="0" tIns="0" bIns="0">
            <a:spAutoFit/>
          </a:bodyPr>
          <a:lstStyle/>
          <a:p>
            <a:pPr algn="l">
              <a:spcAft>
                <a:spcPts val="400"/>
              </a:spcAft>
            </a:pPr>
            <a:r>
              <a:rPr sz="1150" b="0" i="0">
                <a:solidFill>
                  <a:srgbClr val="1A202C"/>
                </a:solidFill>
                <a:latin typeface="Arial"/>
              </a:rPr>
              <a:t>•  stage_gate_enforcement</a:t>
            </a:r>
          </a:p>
          <a:p>
            <a:pPr algn="l">
              <a:spcAft>
                <a:spcPts val="400"/>
              </a:spcAft>
            </a:pPr>
            <a:r>
              <a:rPr sz="1150" b="0" i="0">
                <a:solidFill>
                  <a:srgbClr val="1A202C"/>
                </a:solidFill>
                <a:latin typeface="Arial"/>
              </a:rPr>
              <a:t>•  handoff-contract</a:t>
            </a:r>
          </a:p>
          <a:p>
            <a:pPr algn="l">
              <a:spcAft>
                <a:spcPts val="400"/>
              </a:spcAft>
            </a:pPr>
            <a:r>
              <a:rPr sz="1150" b="0" i="0">
                <a:solidFill>
                  <a:srgbClr val="1A202C"/>
                </a:solidFill>
                <a:latin typeface="Arial"/>
              </a:rPr>
              <a:t>•  implementation-guardrails</a:t>
            </a:r>
          </a:p>
        </p:txBody>
      </p:sp>
      <p:sp>
        <p:nvSpPr>
          <p:cNvPr id="27" name="Rounded Rectangle 26"/>
          <p:cNvSpPr/>
          <p:nvPr/>
        </p:nvSpPr>
        <p:spPr>
          <a:xfrm>
            <a:off x="640080" y="4617720"/>
            <a:ext cx="3529584" cy="1325880"/>
          </a:xfrm>
          <a:prstGeom prst="roundRect">
            <a:avLst>
              <a:gd name="adj" fmla="val 4500"/>
            </a:avLst>
          </a:prstGeom>
          <a:solidFill>
            <a:srgbClr val="FFFFFF"/>
          </a:solidFill>
          <a:ln w="1270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0080" y="4617720"/>
            <a:ext cx="3529584" cy="329184"/>
          </a:xfrm>
          <a:prstGeom prst="roundRect">
            <a:avLst>
              <a:gd name="adj" fmla="val 4500"/>
            </a:avLst>
          </a:prstGeom>
          <a:solidFill>
            <a:srgbClr val="3A47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250" b="1" i="0">
                <a:solidFill>
                  <a:srgbClr val="FFFFFF"/>
                </a:solidFill>
                <a:latin typeface="Arial"/>
              </a:rPr>
              <a:t>Validation</a:t>
            </a:r>
          </a:p>
        </p:txBody>
      </p:sp>
      <p:sp>
        <p:nvSpPr>
          <p:cNvPr id="29" name="Rectangle 28"/>
          <p:cNvSpPr/>
          <p:nvPr/>
        </p:nvSpPr>
        <p:spPr>
          <a:xfrm>
            <a:off x="640080" y="4864608"/>
            <a:ext cx="3529584" cy="82296"/>
          </a:xfrm>
          <a:prstGeom prst="rect">
            <a:avLst/>
          </a:prstGeom>
          <a:solidFill>
            <a:srgbClr val="3A47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020056"/>
            <a:ext cx="3255264" cy="850392"/>
          </a:xfrm>
          <a:prstGeom prst="rect">
            <a:avLst/>
          </a:prstGeom>
          <a:noFill/>
        </p:spPr>
        <p:txBody>
          <a:bodyPr wrap="square" anchor="t" lIns="0" rIns="0" tIns="0" bIns="0">
            <a:spAutoFit/>
          </a:bodyPr>
          <a:lstStyle/>
          <a:p>
            <a:pPr algn="l">
              <a:spcAft>
                <a:spcPts val="400"/>
              </a:spcAft>
            </a:pPr>
            <a:r>
              <a:rPr sz="1150" b="0" i="0">
                <a:solidFill>
                  <a:srgbClr val="1A202C"/>
                </a:solidFill>
                <a:latin typeface="Arial"/>
              </a:rPr>
              <a:t>•  build-and-sign</a:t>
            </a:r>
          </a:p>
          <a:p>
            <a:pPr algn="l">
              <a:spcAft>
                <a:spcPts val="400"/>
              </a:spcAft>
            </a:pPr>
            <a:r>
              <a:rPr sz="1150" b="0" i="0">
                <a:solidFill>
                  <a:srgbClr val="1A202C"/>
                </a:solidFill>
                <a:latin typeface="Arial"/>
              </a:rPr>
              <a:t>•  flash-device-operations</a:t>
            </a:r>
          </a:p>
          <a:p>
            <a:pPr algn="l">
              <a:spcAft>
                <a:spcPts val="400"/>
              </a:spcAft>
            </a:pPr>
            <a:r>
              <a:rPr sz="1150" b="0" i="0">
                <a:solidFill>
                  <a:srgbClr val="1A202C"/>
                </a:solidFill>
                <a:latin typeface="Arial"/>
              </a:rPr>
              <a:t>•  ab-test-comparison</a:t>
            </a:r>
          </a:p>
          <a:p>
            <a:pPr algn="l">
              <a:spcAft>
                <a:spcPts val="400"/>
              </a:spcAft>
            </a:pPr>
            <a:r>
              <a:rPr sz="1150" b="0" i="0">
                <a:solidFill>
                  <a:srgbClr val="1A202C"/>
                </a:solidFill>
                <a:latin typeface="Arial"/>
              </a:rPr>
              <a:t>•  validation-flight-check</a:t>
            </a:r>
          </a:p>
        </p:txBody>
      </p:sp>
      <p:sp>
        <p:nvSpPr>
          <p:cNvPr id="31" name="Rounded Rectangle 30"/>
          <p:cNvSpPr/>
          <p:nvPr/>
        </p:nvSpPr>
        <p:spPr>
          <a:xfrm>
            <a:off x="4416552" y="4617720"/>
            <a:ext cx="3529584" cy="1325880"/>
          </a:xfrm>
          <a:prstGeom prst="roundRect">
            <a:avLst>
              <a:gd name="adj" fmla="val 4500"/>
            </a:avLst>
          </a:prstGeom>
          <a:solidFill>
            <a:srgbClr val="FFFFFF"/>
          </a:solidFill>
          <a:ln w="1270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4416552" y="4617720"/>
            <a:ext cx="3529584" cy="329184"/>
          </a:xfrm>
          <a:prstGeom prst="roundRect">
            <a:avLst>
              <a:gd name="adj" fmla="val 4500"/>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250" b="1" i="0">
                <a:solidFill>
                  <a:srgbClr val="FFFFFF"/>
                </a:solidFill>
                <a:latin typeface="Arial"/>
              </a:rPr>
              <a:t>Loop &amp; memory</a:t>
            </a:r>
          </a:p>
        </p:txBody>
      </p:sp>
      <p:sp>
        <p:nvSpPr>
          <p:cNvPr id="33" name="Rectangle 32"/>
          <p:cNvSpPr/>
          <p:nvPr/>
        </p:nvSpPr>
        <p:spPr>
          <a:xfrm>
            <a:off x="4416552" y="4864608"/>
            <a:ext cx="3529584" cy="82296"/>
          </a:xfrm>
          <a:prstGeom prst="rect">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62856" y="5020056"/>
            <a:ext cx="3255264" cy="850392"/>
          </a:xfrm>
          <a:prstGeom prst="rect">
            <a:avLst/>
          </a:prstGeom>
          <a:noFill/>
        </p:spPr>
        <p:txBody>
          <a:bodyPr wrap="square" anchor="t" lIns="0" rIns="0" tIns="0" bIns="0">
            <a:spAutoFit/>
          </a:bodyPr>
          <a:lstStyle/>
          <a:p>
            <a:pPr algn="l">
              <a:spcAft>
                <a:spcPts val="400"/>
              </a:spcAft>
            </a:pPr>
            <a:r>
              <a:rPr sz="1150" b="0" i="0">
                <a:solidFill>
                  <a:srgbClr val="1A202C"/>
                </a:solidFill>
                <a:latin typeface="Arial"/>
              </a:rPr>
              <a:t>•  iterative-optimization</a:t>
            </a:r>
          </a:p>
          <a:p>
            <a:pPr algn="l">
              <a:spcAft>
                <a:spcPts val="400"/>
              </a:spcAft>
            </a:pPr>
            <a:r>
              <a:rPr sz="1150" b="0" i="0">
                <a:solidFill>
                  <a:srgbClr val="1A202C"/>
                </a:solidFill>
                <a:latin typeface="Arial"/>
              </a:rPr>
              <a:t>•  memory-accumulation</a:t>
            </a:r>
          </a:p>
          <a:p>
            <a:pPr algn="l">
              <a:spcAft>
                <a:spcPts val="400"/>
              </a:spcAft>
            </a:pPr>
            <a:r>
              <a:rPr sz="1150" b="0" i="0">
                <a:solidFill>
                  <a:srgbClr val="1A202C"/>
                </a:solidFill>
                <a:latin typeface="Arial"/>
              </a:rPr>
              <a:t>•  human-interaction-memory</a:t>
            </a:r>
          </a:p>
        </p:txBody>
      </p:sp>
      <p:sp>
        <p:nvSpPr>
          <p:cNvPr id="35" name="Rounded Rectangle 34"/>
          <p:cNvSpPr/>
          <p:nvPr/>
        </p:nvSpPr>
        <p:spPr>
          <a:xfrm>
            <a:off x="8193023" y="4617720"/>
            <a:ext cx="3529584" cy="1325880"/>
          </a:xfrm>
          <a:prstGeom prst="roundRect">
            <a:avLst>
              <a:gd name="adj" fmla="val 4500"/>
            </a:avLst>
          </a:prstGeom>
          <a:solidFill>
            <a:srgbClr val="FFFFFF"/>
          </a:solidFill>
          <a:ln w="1270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193023" y="4617720"/>
            <a:ext cx="3529584" cy="329184"/>
          </a:xfrm>
          <a:prstGeom prst="roundRect">
            <a:avLst>
              <a:gd name="adj" fmla="val 4500"/>
            </a:avLst>
          </a:prstGeom>
          <a:solidFill>
            <a:srgbClr val="5B65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250" b="1" i="0">
                <a:solidFill>
                  <a:srgbClr val="FFFFFF"/>
                </a:solidFill>
                <a:latin typeface="Arial"/>
              </a:rPr>
              <a:t>i18n</a:t>
            </a:r>
          </a:p>
        </p:txBody>
      </p:sp>
      <p:sp>
        <p:nvSpPr>
          <p:cNvPr id="37" name="Rectangle 36"/>
          <p:cNvSpPr/>
          <p:nvPr/>
        </p:nvSpPr>
        <p:spPr>
          <a:xfrm>
            <a:off x="8193023" y="4864608"/>
            <a:ext cx="3529584" cy="82296"/>
          </a:xfrm>
          <a:prstGeom prst="rect">
            <a:avLst/>
          </a:prstGeom>
          <a:solidFill>
            <a:srgbClr val="5B65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39327" y="5020056"/>
            <a:ext cx="3255264" cy="850392"/>
          </a:xfrm>
          <a:prstGeom prst="rect">
            <a:avLst/>
          </a:prstGeom>
          <a:noFill/>
        </p:spPr>
        <p:txBody>
          <a:bodyPr wrap="square" anchor="t" lIns="0" rIns="0" tIns="0" bIns="0">
            <a:spAutoFit/>
          </a:bodyPr>
          <a:lstStyle/>
          <a:p>
            <a:pPr algn="l">
              <a:spcAft>
                <a:spcPts val="400"/>
              </a:spcAft>
            </a:pPr>
            <a:r>
              <a:rPr sz="1150" b="0" i="0">
                <a:solidFill>
                  <a:srgbClr val="1A202C"/>
                </a:solidFill>
                <a:latin typeface="Arial"/>
              </a:rPr>
              <a:t>•  language-config</a:t>
            </a:r>
          </a:p>
        </p:txBody>
      </p:sp>
      <p:sp>
        <p:nvSpPr>
          <p:cNvPr id="39" name="TextBox 38"/>
          <p:cNvSpPr txBox="1"/>
          <p:nvPr/>
        </p:nvSpPr>
        <p:spPr>
          <a:xfrm>
            <a:off x="640080" y="6053328"/>
            <a:ext cx="10881360" cy="365760"/>
          </a:xfrm>
          <a:prstGeom prst="rect">
            <a:avLst/>
          </a:prstGeom>
          <a:noFill/>
        </p:spPr>
        <p:txBody>
          <a:bodyPr wrap="square" anchor="t" lIns="0" rIns="0" tIns="0" bIns="0">
            <a:spAutoFit/>
          </a:bodyPr>
          <a:lstStyle/>
          <a:p>
            <a:pPr algn="l">
              <a:spcAft>
                <a:spcPts val="400"/>
              </a:spcAft>
            </a:pPr>
            <a:r>
              <a:rPr sz="1150" b="0" i="1">
                <a:solidFill>
                  <a:srgbClr val="5B657A"/>
                </a:solidFill>
                <a:latin typeface="Arial"/>
              </a:rPr>
              <a:t>~13 skills load on a full run. They're plain repo-local .md packs — vendor-neutral, version-controlled with the code.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320040"/>
          </a:xfrm>
          <a:prstGeom prst="rect">
            <a:avLst/>
          </a:prstGeom>
          <a:noFill/>
        </p:spPr>
        <p:txBody>
          <a:bodyPr wrap="square" anchor="t" lIns="0" rIns="0" tIns="0" bIns="0">
            <a:spAutoFit/>
          </a:bodyPr>
          <a:lstStyle/>
          <a:p>
            <a:pPr algn="l">
              <a:spcAft>
                <a:spcPts val="400"/>
              </a:spcAft>
            </a:pPr>
            <a:r>
              <a:rPr sz="1250" b="1" i="0">
                <a:solidFill>
                  <a:srgbClr val="14A096"/>
                </a:solidFill>
                <a:latin typeface="Arial"/>
              </a:rPr>
              <a:t>THE ENGINE</a:t>
            </a:r>
          </a:p>
        </p:txBody>
      </p:sp>
      <p:sp>
        <p:nvSpPr>
          <p:cNvPr id="5" name="TextBox 4"/>
          <p:cNvSpPr txBox="1"/>
          <p:nvPr/>
        </p:nvSpPr>
        <p:spPr>
          <a:xfrm>
            <a:off x="640080" y="658368"/>
            <a:ext cx="10972800" cy="731520"/>
          </a:xfrm>
          <a:prstGeom prst="rect">
            <a:avLst/>
          </a:prstGeom>
          <a:noFill/>
        </p:spPr>
        <p:txBody>
          <a:bodyPr wrap="square" anchor="t" lIns="0" rIns="0" tIns="0" bIns="0">
            <a:spAutoFit/>
          </a:bodyPr>
          <a:lstStyle/>
          <a:p>
            <a:pPr algn="l">
              <a:spcAft>
                <a:spcPts val="400"/>
              </a:spcAft>
            </a:pPr>
            <a:r>
              <a:rPr sz="3000" b="1" i="0">
                <a:solidFill>
                  <a:srgbClr val="2B368C"/>
                </a:solidFill>
                <a:latin typeface="Arial"/>
              </a:rPr>
              <a:t>Research &amp; ideation discipline</a:t>
            </a:r>
          </a:p>
        </p:txBody>
      </p:sp>
      <p:sp>
        <p:nvSpPr>
          <p:cNvPr id="6" name="Rectangle 5"/>
          <p:cNvSpPr/>
          <p:nvPr/>
        </p:nvSpPr>
        <p:spPr>
          <a:xfrm>
            <a:off x="640080" y="1371600"/>
            <a:ext cx="10972800" cy="17780"/>
          </a:xfrm>
          <a:prstGeom prst="rect">
            <a:avLst/>
          </a:prstGeom>
          <a:solidFill>
            <a:srgbClr val="C8C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55664"/>
            <a:ext cx="7315200" cy="274320"/>
          </a:xfrm>
          <a:prstGeom prst="rect">
            <a:avLst/>
          </a:prstGeom>
          <a:noFill/>
        </p:spPr>
        <p:txBody>
          <a:bodyPr wrap="square" anchor="t" lIns="0" rIns="0" tIns="0" bIns="0">
            <a:spAutoFit/>
          </a:bodyPr>
          <a:lstStyle/>
          <a:p>
            <a:pPr algn="l">
              <a:spcAft>
                <a:spcPts val="400"/>
              </a:spcAft>
            </a:pPr>
            <a:r>
              <a:rPr sz="950" b="0" i="0">
                <a:solidFill>
                  <a:srgbClr val="5B657A"/>
                </a:solidFill>
                <a:latin typeface="Arial"/>
              </a:rPr>
              <a:t>.opencode multi-agent harness</a:t>
            </a:r>
          </a:p>
        </p:txBody>
      </p:sp>
      <p:sp>
        <p:nvSpPr>
          <p:cNvPr id="8" name="TextBox 7"/>
          <p:cNvSpPr txBox="1"/>
          <p:nvPr/>
        </p:nvSpPr>
        <p:spPr>
          <a:xfrm>
            <a:off x="10424160" y="6455664"/>
            <a:ext cx="1280160" cy="274320"/>
          </a:xfrm>
          <a:prstGeom prst="rect">
            <a:avLst/>
          </a:prstGeom>
          <a:noFill/>
        </p:spPr>
        <p:txBody>
          <a:bodyPr wrap="square" anchor="t" lIns="0" rIns="0" tIns="0" bIns="0">
            <a:spAutoFit/>
          </a:bodyPr>
          <a:lstStyle/>
          <a:p>
            <a:pPr algn="r">
              <a:spcAft>
                <a:spcPts val="400"/>
              </a:spcAft>
            </a:pPr>
            <a:r>
              <a:rPr sz="950" b="0" i="0">
                <a:solidFill>
                  <a:srgbClr val="5B657A"/>
                </a:solidFill>
                <a:latin typeface="Arial"/>
              </a:rPr>
              <a:t>12 / 19</a:t>
            </a:r>
          </a:p>
        </p:txBody>
      </p:sp>
      <p:sp>
        <p:nvSpPr>
          <p:cNvPr id="9" name="Rounded Rectangle 8"/>
          <p:cNvSpPr/>
          <p:nvPr/>
        </p:nvSpPr>
        <p:spPr>
          <a:xfrm>
            <a:off x="640080" y="1783080"/>
            <a:ext cx="5349240" cy="1874519"/>
          </a:xfrm>
          <a:prstGeom prst="roundRect">
            <a:avLst>
              <a:gd name="adj" fmla="val 4500"/>
            </a:avLst>
          </a:prstGeom>
          <a:solidFill>
            <a:srgbClr val="FFFFFF"/>
          </a:solidFill>
          <a:ln w="1270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1783080"/>
            <a:ext cx="5349240" cy="384048"/>
          </a:xfrm>
          <a:prstGeom prst="roundRect">
            <a:avLst>
              <a:gd name="adj" fmla="val 4500"/>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400" b="1" i="0">
                <a:solidFill>
                  <a:srgbClr val="FFFFFF"/>
                </a:solidFill>
                <a:latin typeface="Arial"/>
              </a:rPr>
              <a:t>Fixed research order (no shortcuts)</a:t>
            </a:r>
          </a:p>
        </p:txBody>
      </p:sp>
      <p:sp>
        <p:nvSpPr>
          <p:cNvPr id="11" name="Rectangle 10"/>
          <p:cNvSpPr/>
          <p:nvPr/>
        </p:nvSpPr>
        <p:spPr>
          <a:xfrm>
            <a:off x="640080" y="2084832"/>
            <a:ext cx="5349240" cy="82296"/>
          </a:xfrm>
          <a:prstGeom prst="rect">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2240280"/>
            <a:ext cx="5074920" cy="1344167"/>
          </a:xfrm>
          <a:prstGeom prst="rect">
            <a:avLst/>
          </a:prstGeom>
          <a:noFill/>
        </p:spPr>
        <p:txBody>
          <a:bodyPr wrap="square" anchor="t" lIns="0" rIns="0" tIns="0" bIns="0">
            <a:spAutoFit/>
          </a:bodyPr>
          <a:lstStyle/>
          <a:p>
            <a:pPr algn="l">
              <a:spcAft>
                <a:spcPts val="400"/>
              </a:spcAft>
            </a:pPr>
            <a:r>
              <a:rPr sz="1200" b="0" i="0">
                <a:solidFill>
                  <a:srgbClr val="1A202C"/>
                </a:solidFill>
                <a:latin typeface="Arial"/>
              </a:rPr>
              <a:t>•  Sequential-Thinking MCP → Kernel-Index MCP → local source</a:t>
            </a:r>
          </a:p>
          <a:p>
            <a:pPr algn="l">
              <a:spcAft>
                <a:spcPts val="400"/>
              </a:spcAft>
            </a:pPr>
            <a:r>
              <a:rPr sz="1200" b="0" i="0">
                <a:solidFill>
                  <a:srgbClr val="1A202C"/>
                </a:solidFill>
                <a:latin typeface="Arial"/>
              </a:rPr>
              <a:t>•  → structural design doc → 5-dimension Structural Audit</a:t>
            </a:r>
          </a:p>
          <a:p>
            <a:pPr algn="l">
              <a:spcAft>
                <a:spcPts val="400"/>
              </a:spcAft>
            </a:pPr>
            <a:r>
              <a:rPr sz="1200" b="0" i="0">
                <a:solidFill>
                  <a:srgbClr val="1A202C"/>
                </a:solidFill>
                <a:latin typeface="Arial"/>
              </a:rPr>
              <a:t>•  → instruction-count hypothesis → optimization</a:t>
            </a:r>
          </a:p>
        </p:txBody>
      </p:sp>
      <p:sp>
        <p:nvSpPr>
          <p:cNvPr id="13" name="Rounded Rectangle 12"/>
          <p:cNvSpPr/>
          <p:nvPr/>
        </p:nvSpPr>
        <p:spPr>
          <a:xfrm>
            <a:off x="6199632" y="1783080"/>
            <a:ext cx="5349240" cy="1874519"/>
          </a:xfrm>
          <a:prstGeom prst="roundRect">
            <a:avLst>
              <a:gd name="adj" fmla="val 4500"/>
            </a:avLst>
          </a:prstGeom>
          <a:solidFill>
            <a:srgbClr val="FFFFFF"/>
          </a:solidFill>
          <a:ln w="1270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199632" y="1783080"/>
            <a:ext cx="5349240" cy="384048"/>
          </a:xfrm>
          <a:prstGeom prst="roundRect">
            <a:avLst>
              <a:gd name="adj" fmla="val 4500"/>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400" b="1" i="0">
                <a:solidFill>
                  <a:srgbClr val="FFFFFF"/>
                </a:solidFill>
                <a:latin typeface="Arial"/>
              </a:rPr>
              <a:t>The 5-idea optimization funnel</a:t>
            </a:r>
          </a:p>
        </p:txBody>
      </p:sp>
      <p:sp>
        <p:nvSpPr>
          <p:cNvPr id="15" name="Rectangle 14"/>
          <p:cNvSpPr/>
          <p:nvPr/>
        </p:nvSpPr>
        <p:spPr>
          <a:xfrm>
            <a:off x="6199632" y="2084832"/>
            <a:ext cx="5349240" cy="82296"/>
          </a:xfrm>
          <a:prstGeom prst="rect">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45936" y="2240280"/>
            <a:ext cx="5074920" cy="1344167"/>
          </a:xfrm>
          <a:prstGeom prst="rect">
            <a:avLst/>
          </a:prstGeom>
          <a:noFill/>
        </p:spPr>
        <p:txBody>
          <a:bodyPr wrap="square" anchor="t" lIns="0" rIns="0" tIns="0" bIns="0">
            <a:spAutoFit/>
          </a:bodyPr>
          <a:lstStyle/>
          <a:p>
            <a:pPr algn="l">
              <a:spcAft>
                <a:spcPts val="400"/>
              </a:spcAft>
            </a:pPr>
            <a:r>
              <a:rPr sz="1200" b="0" i="0">
                <a:solidFill>
                  <a:srgbClr val="1A202C"/>
                </a:solidFill>
                <a:latin typeface="Arial"/>
              </a:rPr>
              <a:t>•  Generate exactly 5 ideas; ≥3 distinct scope tags required</a:t>
            </a:r>
          </a:p>
          <a:p>
            <a:pPr algn="l">
              <a:spcAft>
                <a:spcPts val="400"/>
              </a:spcAft>
            </a:pPr>
            <a:r>
              <a:rPr sz="1200" b="0" i="0">
                <a:solidFill>
                  <a:srgbClr val="1A202C"/>
                </a:solidFill>
                <a:latin typeface="Arial"/>
              </a:rPr>
              <a:t>•  Dedup is a FILE check: bad_plans + memory + idea ledger</a:t>
            </a:r>
          </a:p>
          <a:p>
            <a:pPr algn="l">
              <a:spcAft>
                <a:spcPts val="400"/>
              </a:spcAft>
            </a:pPr>
            <a:r>
              <a:rPr sz="1200" b="0" i="0">
                <a:solidFill>
                  <a:srgbClr val="1A202C"/>
                </a:solidFill>
                <a:latin typeface="Arial"/>
              </a:rPr>
              <a:t>•  Rank by hot-path IC win, then risk/cost; surface the top</a:t>
            </a:r>
          </a:p>
        </p:txBody>
      </p:sp>
      <p:graphicFrame>
        <p:nvGraphicFramePr>
          <p:cNvPr id="17" name="Table 16"/>
          <p:cNvGraphicFramePr>
            <a:graphicFrameLocks noGrp="1"/>
          </p:cNvGraphicFramePr>
          <p:nvPr/>
        </p:nvGraphicFramePr>
        <p:xfrm>
          <a:off x="640080" y="3886200"/>
          <a:ext cx="10908792" cy="1965960"/>
        </p:xfrm>
        <a:graphic>
          <a:graphicData uri="http://schemas.openxmlformats.org/drawingml/2006/table">
            <a:tbl>
              <a:tblPr firstRow="1">
                <a:tableStyleId>{5C22544A-7EE6-4342-B048-85BDC9FD1C3A}</a:tableStyleId>
              </a:tblPr>
              <a:tblGrid>
                <a:gridCol w="2926080"/>
                <a:gridCol w="2194560"/>
                <a:gridCol w="1828800"/>
                <a:gridCol w="2130552"/>
                <a:gridCol w="1828800"/>
              </a:tblGrid>
              <a:tr h="327660">
                <a:tc>
                  <a:txBody>
                    <a:bodyPr wrap="square"/>
                    <a:lstStyle/>
                    <a:p>
                      <a:pPr algn="l"/>
                      <a:r>
                        <a:rPr sz="1100" b="1">
                          <a:solidFill>
                            <a:srgbClr val="FFFFFF"/>
                          </a:solidFill>
                          <a:latin typeface="Arial"/>
                        </a:rPr>
                        <a:t>Agent</a:t>
                      </a:r>
                    </a:p>
                  </a:txBody>
                  <a:tcPr marL="73152" marR="73152" marT="18288" marB="18288" anchor="ctr">
                    <a:solidFill>
                      <a:srgbClr val="2B368C"/>
                    </a:solidFill>
                  </a:tcPr>
                </a:tc>
                <a:tc>
                  <a:txBody>
                    <a:bodyPr wrap="square"/>
                    <a:lstStyle/>
                    <a:p>
                      <a:pPr algn="l"/>
                      <a:r>
                        <a:rPr sz="1100" b="1">
                          <a:solidFill>
                            <a:srgbClr val="FFFFFF"/>
                          </a:solidFill>
                          <a:latin typeface="Arial"/>
                        </a:rPr>
                        <a:t>Kind</a:t>
                      </a:r>
                    </a:p>
                  </a:txBody>
                  <a:tcPr marL="73152" marR="73152" marT="18288" marB="18288" anchor="ctr">
                    <a:solidFill>
                      <a:srgbClr val="2B368C"/>
                    </a:solidFill>
                  </a:tcPr>
                </a:tc>
                <a:tc>
                  <a:txBody>
                    <a:bodyPr wrap="square"/>
                    <a:lstStyle/>
                    <a:p>
                      <a:pPr algn="l"/>
                      <a:r>
                        <a:rPr sz="1100" b="1">
                          <a:solidFill>
                            <a:srgbClr val="FFFFFF"/>
                          </a:solidFill>
                          <a:latin typeface="Arial"/>
                        </a:rPr>
                        <a:t>Human-loop?</a:t>
                      </a:r>
                    </a:p>
                  </a:txBody>
                  <a:tcPr marL="73152" marR="73152" marT="18288" marB="18288" anchor="ctr">
                    <a:solidFill>
                      <a:srgbClr val="2B368C"/>
                    </a:solidFill>
                  </a:tcPr>
                </a:tc>
                <a:tc>
                  <a:txBody>
                    <a:bodyPr wrap="square"/>
                    <a:lstStyle/>
                    <a:p>
                      <a:pPr algn="l"/>
                      <a:r>
                        <a:rPr sz="1100" b="1">
                          <a:solidFill>
                            <a:srgbClr val="FFFFFF"/>
                          </a:solidFill>
                          <a:latin typeface="Arial"/>
                        </a:rPr>
                        <a:t>Ideates?</a:t>
                      </a:r>
                    </a:p>
                  </a:txBody>
                  <a:tcPr marL="73152" marR="73152" marT="18288" marB="18288" anchor="ctr">
                    <a:solidFill>
                      <a:srgbClr val="2B368C"/>
                    </a:solidFill>
                  </a:tcPr>
                </a:tc>
                <a:tc>
                  <a:txBody>
                    <a:bodyPr wrap="square"/>
                    <a:lstStyle/>
                    <a:p>
                      <a:pPr algn="l"/>
                      <a:r>
                        <a:rPr sz="1100" b="1">
                          <a:solidFill>
                            <a:srgbClr val="FFFFFF"/>
                          </a:solidFill>
                          <a:latin typeface="Arial"/>
                        </a:rPr>
                        <a:t>Writes plan?</a:t>
                      </a:r>
                    </a:p>
                  </a:txBody>
                  <a:tcPr marL="73152" marR="73152" marT="18288" marB="18288" anchor="ctr">
                    <a:solidFill>
                      <a:srgbClr val="2B368C"/>
                    </a:solidFill>
                  </a:tcPr>
                </a:tc>
              </a:tr>
              <a:tr h="327660">
                <a:tc>
                  <a:txBody>
                    <a:bodyPr wrap="square"/>
                    <a:lstStyle/>
                    <a:p>
                      <a:pPr algn="l"/>
                      <a:r>
                        <a:rPr sz="1100" b="1">
                          <a:solidFill>
                            <a:srgbClr val="1A202C"/>
                          </a:solidFill>
                          <a:latin typeface="Arial"/>
                        </a:rPr>
                        <a:t>kernel-research</a:t>
                      </a:r>
                    </a:p>
                  </a:txBody>
                  <a:tcPr marL="73152" marR="73152" marT="18288" marB="18288" anchor="ctr">
                    <a:solidFill>
                      <a:srgbClr val="FFFFFF"/>
                    </a:solidFill>
                  </a:tcPr>
                </a:tc>
                <a:tc>
                  <a:txBody>
                    <a:bodyPr wrap="square"/>
                    <a:lstStyle/>
                    <a:p>
                      <a:pPr algn="l"/>
                      <a:r>
                        <a:rPr sz="1100" b="0">
                          <a:solidFill>
                            <a:srgbClr val="1A202C"/>
                          </a:solidFill>
                          <a:latin typeface="Arial"/>
                        </a:rPr>
                        <a:t>primary</a:t>
                      </a:r>
                    </a:p>
                  </a:txBody>
                  <a:tcPr marL="73152" marR="73152" marT="18288" marB="18288" anchor="ctr">
                    <a:solidFill>
                      <a:srgbClr val="FFFFFF"/>
                    </a:solidFill>
                  </a:tcPr>
                </a:tc>
                <a:tc>
                  <a:txBody>
                    <a:bodyPr wrap="square"/>
                    <a:lstStyle/>
                    <a:p>
                      <a:pPr algn="l"/>
                      <a:r>
                        <a:rPr sz="1100" b="0">
                          <a:solidFill>
                            <a:srgbClr val="1A202C"/>
                          </a:solidFill>
                          <a:latin typeface="Arial"/>
                        </a:rPr>
                        <a:t>yes</a:t>
                      </a:r>
                    </a:p>
                  </a:txBody>
                  <a:tcPr marL="73152" marR="73152" marT="18288" marB="18288" anchor="ctr">
                    <a:solidFill>
                      <a:srgbClr val="FFFFFF"/>
                    </a:solidFill>
                  </a:tcPr>
                </a:tc>
                <a:tc>
                  <a:txBody>
                    <a:bodyPr wrap="square"/>
                    <a:lstStyle/>
                    <a:p>
                      <a:pPr algn="l"/>
                      <a:r>
                        <a:rPr sz="1100" b="0">
                          <a:solidFill>
                            <a:srgbClr val="1A202C"/>
                          </a:solidFill>
                          <a:latin typeface="Arial"/>
                        </a:rPr>
                        <a:t>no (explain only)</a:t>
                      </a:r>
                    </a:p>
                  </a:txBody>
                  <a:tcPr marL="73152" marR="73152" marT="18288" marB="18288" anchor="ctr">
                    <a:solidFill>
                      <a:srgbClr val="FFFFFF"/>
                    </a:solidFill>
                  </a:tcPr>
                </a:tc>
                <a:tc>
                  <a:txBody>
                    <a:bodyPr wrap="square"/>
                    <a:lstStyle/>
                    <a:p>
                      <a:pPr algn="l"/>
                      <a:r>
                        <a:rPr sz="1100" b="0">
                          <a:solidFill>
                            <a:srgbClr val="1A202C"/>
                          </a:solidFill>
                          <a:latin typeface="Arial"/>
                        </a:rPr>
                        <a:t>no</a:t>
                      </a:r>
                    </a:p>
                  </a:txBody>
                  <a:tcPr marL="73152" marR="73152" marT="18288" marB="18288" anchor="ctr">
                    <a:solidFill>
                      <a:srgbClr val="FFFFFF"/>
                    </a:solidFill>
                  </a:tcPr>
                </a:tc>
              </a:tr>
              <a:tr h="327660">
                <a:tc>
                  <a:txBody>
                    <a:bodyPr wrap="square"/>
                    <a:lstStyle/>
                    <a:p>
                      <a:pPr algn="l"/>
                      <a:r>
                        <a:rPr sz="1100" b="1">
                          <a:solidFill>
                            <a:srgbClr val="1A202C"/>
                          </a:solidFill>
                          <a:latin typeface="Arial"/>
                        </a:rPr>
                        <a:t>kernel-plan</a:t>
                      </a:r>
                    </a:p>
                  </a:txBody>
                  <a:tcPr marL="73152" marR="73152" marT="18288" marB="18288" anchor="ctr">
                    <a:solidFill>
                      <a:srgbClr val="EEF1F8"/>
                    </a:solidFill>
                  </a:tcPr>
                </a:tc>
                <a:tc>
                  <a:txBody>
                    <a:bodyPr wrap="square"/>
                    <a:lstStyle/>
                    <a:p>
                      <a:pPr algn="l"/>
                      <a:r>
                        <a:rPr sz="1100" b="0">
                          <a:solidFill>
                            <a:srgbClr val="1A202C"/>
                          </a:solidFill>
                          <a:latin typeface="Arial"/>
                        </a:rPr>
                        <a:t>primary</a:t>
                      </a:r>
                    </a:p>
                  </a:txBody>
                  <a:tcPr marL="73152" marR="73152" marT="18288" marB="18288" anchor="ctr">
                    <a:solidFill>
                      <a:srgbClr val="EEF1F8"/>
                    </a:solidFill>
                  </a:tcPr>
                </a:tc>
                <a:tc>
                  <a:txBody>
                    <a:bodyPr wrap="square"/>
                    <a:lstStyle/>
                    <a:p>
                      <a:pPr algn="l"/>
                      <a:r>
                        <a:rPr sz="1100" b="0">
                          <a:solidFill>
                            <a:srgbClr val="1A202C"/>
                          </a:solidFill>
                          <a:latin typeface="Arial"/>
                        </a:rPr>
                        <a:t>yes</a:t>
                      </a:r>
                    </a:p>
                  </a:txBody>
                  <a:tcPr marL="73152" marR="73152" marT="18288" marB="18288" anchor="ctr">
                    <a:solidFill>
                      <a:srgbClr val="EEF1F8"/>
                    </a:solidFill>
                  </a:tcPr>
                </a:tc>
                <a:tc>
                  <a:txBody>
                    <a:bodyPr wrap="square"/>
                    <a:lstStyle/>
                    <a:p>
                      <a:pPr algn="l"/>
                      <a:r>
                        <a:rPr sz="1100" b="0">
                          <a:solidFill>
                            <a:srgbClr val="1A202C"/>
                          </a:solidFill>
                          <a:latin typeface="Arial"/>
                        </a:rPr>
                        <a:t>yes (funnel)</a:t>
                      </a:r>
                    </a:p>
                  </a:txBody>
                  <a:tcPr marL="73152" marR="73152" marT="18288" marB="18288" anchor="ctr">
                    <a:solidFill>
                      <a:srgbClr val="EEF1F8"/>
                    </a:solidFill>
                  </a:tcPr>
                </a:tc>
                <a:tc>
                  <a:txBody>
                    <a:bodyPr wrap="square"/>
                    <a:lstStyle/>
                    <a:p>
                      <a:pPr algn="l"/>
                      <a:r>
                        <a:rPr sz="1100" b="0">
                          <a:solidFill>
                            <a:srgbClr val="1A202C"/>
                          </a:solidFill>
                          <a:latin typeface="Arial"/>
                        </a:rPr>
                        <a:t>yes</a:t>
                      </a:r>
                    </a:p>
                  </a:txBody>
                  <a:tcPr marL="73152" marR="73152" marT="18288" marB="18288" anchor="ctr">
                    <a:solidFill>
                      <a:srgbClr val="EEF1F8"/>
                    </a:solidFill>
                  </a:tcPr>
                </a:tc>
              </a:tr>
              <a:tr h="327660">
                <a:tc>
                  <a:txBody>
                    <a:bodyPr wrap="square"/>
                    <a:lstStyle/>
                    <a:p>
                      <a:pPr algn="l"/>
                      <a:r>
                        <a:rPr sz="1100" b="1">
                          <a:solidFill>
                            <a:srgbClr val="1A202C"/>
                          </a:solidFill>
                          <a:latin typeface="Arial"/>
                        </a:rPr>
                        <a:t>kernel-function-research</a:t>
                      </a:r>
                    </a:p>
                  </a:txBody>
                  <a:tcPr marL="73152" marR="73152" marT="18288" marB="18288" anchor="ctr">
                    <a:solidFill>
                      <a:srgbClr val="FFFFFF"/>
                    </a:solidFill>
                  </a:tcPr>
                </a:tc>
                <a:tc>
                  <a:txBody>
                    <a:bodyPr wrap="square"/>
                    <a:lstStyle/>
                    <a:p>
                      <a:pPr algn="l"/>
                      <a:r>
                        <a:rPr sz="1100" b="0">
                          <a:solidFill>
                            <a:srgbClr val="1A202C"/>
                          </a:solidFill>
                          <a:latin typeface="Arial"/>
                        </a:rPr>
                        <a:t>primary</a:t>
                      </a:r>
                    </a:p>
                  </a:txBody>
                  <a:tcPr marL="73152" marR="73152" marT="18288" marB="18288" anchor="ctr">
                    <a:solidFill>
                      <a:srgbClr val="FFFFFF"/>
                    </a:solidFill>
                  </a:tcPr>
                </a:tc>
                <a:tc>
                  <a:txBody>
                    <a:bodyPr wrap="square"/>
                    <a:lstStyle/>
                    <a:p>
                      <a:pPr algn="l"/>
                      <a:r>
                        <a:rPr sz="1100" b="0">
                          <a:solidFill>
                            <a:srgbClr val="1A202C"/>
                          </a:solidFill>
                          <a:latin typeface="Arial"/>
                        </a:rPr>
                        <a:t>no (1-shot)</a:t>
                      </a:r>
                    </a:p>
                  </a:txBody>
                  <a:tcPr marL="73152" marR="73152" marT="18288" marB="18288" anchor="ctr">
                    <a:solidFill>
                      <a:srgbClr val="FFFFFF"/>
                    </a:solidFill>
                  </a:tcPr>
                </a:tc>
                <a:tc>
                  <a:txBody>
                    <a:bodyPr wrap="square"/>
                    <a:lstStyle/>
                    <a:p>
                      <a:pPr algn="l"/>
                      <a:r>
                        <a:rPr sz="1100" b="0">
                          <a:solidFill>
                            <a:srgbClr val="1A202C"/>
                          </a:solidFill>
                          <a:latin typeface="Arial"/>
                        </a:rPr>
                        <a:t>no</a:t>
                      </a:r>
                    </a:p>
                  </a:txBody>
                  <a:tcPr marL="73152" marR="73152" marT="18288" marB="18288" anchor="ctr">
                    <a:solidFill>
                      <a:srgbClr val="FFFFFF"/>
                    </a:solidFill>
                  </a:tcPr>
                </a:tc>
                <a:tc>
                  <a:txBody>
                    <a:bodyPr wrap="square"/>
                    <a:lstStyle/>
                    <a:p>
                      <a:pPr algn="l"/>
                      <a:r>
                        <a:rPr sz="1100" b="0">
                          <a:solidFill>
                            <a:srgbClr val="1A202C"/>
                          </a:solidFill>
                          <a:latin typeface="Arial"/>
                        </a:rPr>
                        <a:t>no</a:t>
                      </a:r>
                    </a:p>
                  </a:txBody>
                  <a:tcPr marL="73152" marR="73152" marT="18288" marB="18288" anchor="ctr">
                    <a:solidFill>
                      <a:srgbClr val="FFFFFF"/>
                    </a:solidFill>
                  </a:tcPr>
                </a:tc>
              </a:tr>
              <a:tr h="327660">
                <a:tc>
                  <a:txBody>
                    <a:bodyPr wrap="square"/>
                    <a:lstStyle/>
                    <a:p>
                      <a:pPr algn="l"/>
                      <a:r>
                        <a:rPr sz="1100" b="1">
                          <a:solidFill>
                            <a:srgbClr val="1A202C"/>
                          </a:solidFill>
                          <a:latin typeface="Arial"/>
                        </a:rPr>
                        <a:t>kernel-source-research</a:t>
                      </a:r>
                    </a:p>
                  </a:txBody>
                  <a:tcPr marL="73152" marR="73152" marT="18288" marB="18288" anchor="ctr">
                    <a:solidFill>
                      <a:srgbClr val="EEF1F8"/>
                    </a:solidFill>
                  </a:tcPr>
                </a:tc>
                <a:tc>
                  <a:txBody>
                    <a:bodyPr wrap="square"/>
                    <a:lstStyle/>
                    <a:p>
                      <a:pPr algn="l"/>
                      <a:r>
                        <a:rPr sz="1100" b="0">
                          <a:solidFill>
                            <a:srgbClr val="1A202C"/>
                          </a:solidFill>
                          <a:latin typeface="Arial"/>
                        </a:rPr>
                        <a:t>pipeline subagent</a:t>
                      </a:r>
                    </a:p>
                  </a:txBody>
                  <a:tcPr marL="73152" marR="73152" marT="18288" marB="18288" anchor="ctr">
                    <a:solidFill>
                      <a:srgbClr val="EEF1F8"/>
                    </a:solidFill>
                  </a:tcPr>
                </a:tc>
                <a:tc>
                  <a:txBody>
                    <a:bodyPr wrap="square"/>
                    <a:lstStyle/>
                    <a:p>
                      <a:pPr algn="l"/>
                      <a:r>
                        <a:rPr sz="1100" b="0">
                          <a:solidFill>
                            <a:srgbClr val="1A202C"/>
                          </a:solidFill>
                          <a:latin typeface="Arial"/>
                        </a:rPr>
                        <a:t>no</a:t>
                      </a:r>
                    </a:p>
                  </a:txBody>
                  <a:tcPr marL="73152" marR="73152" marT="18288" marB="18288" anchor="ctr">
                    <a:solidFill>
                      <a:srgbClr val="EEF1F8"/>
                    </a:solidFill>
                  </a:tcPr>
                </a:tc>
                <a:tc>
                  <a:txBody>
                    <a:bodyPr wrap="square"/>
                    <a:lstStyle/>
                    <a:p>
                      <a:pPr algn="l"/>
                      <a:r>
                        <a:rPr sz="1100" b="0">
                          <a:solidFill>
                            <a:srgbClr val="1A202C"/>
                          </a:solidFill>
                          <a:latin typeface="Arial"/>
                        </a:rPr>
                        <a:t>yes</a:t>
                      </a:r>
                    </a:p>
                  </a:txBody>
                  <a:tcPr marL="73152" marR="73152" marT="18288" marB="18288" anchor="ctr">
                    <a:solidFill>
                      <a:srgbClr val="EEF1F8"/>
                    </a:solidFill>
                  </a:tcPr>
                </a:tc>
                <a:tc>
                  <a:txBody>
                    <a:bodyPr wrap="square"/>
                    <a:lstStyle/>
                    <a:p>
                      <a:pPr algn="l"/>
                      <a:r>
                        <a:rPr sz="1100" b="0">
                          <a:solidFill>
                            <a:srgbClr val="1A202C"/>
                          </a:solidFill>
                          <a:latin typeface="Arial"/>
                        </a:rPr>
                        <a:t>yes</a:t>
                      </a:r>
                    </a:p>
                  </a:txBody>
                  <a:tcPr marL="73152" marR="73152" marT="18288" marB="18288" anchor="ctr">
                    <a:solidFill>
                      <a:srgbClr val="EEF1F8"/>
                    </a:solidFill>
                  </a:tcPr>
                </a:tc>
              </a:tr>
              <a:tr h="327660">
                <a:tc>
                  <a:txBody>
                    <a:bodyPr wrap="square"/>
                    <a:lstStyle/>
                    <a:p>
                      <a:pPr algn="l"/>
                      <a:r>
                        <a:rPr sz="1100" b="1">
                          <a:solidFill>
                            <a:srgbClr val="1A202C"/>
                          </a:solidFill>
                          <a:latin typeface="Arial"/>
                        </a:rPr>
                        <a:t>domain specialists ×4</a:t>
                      </a:r>
                    </a:p>
                  </a:txBody>
                  <a:tcPr marL="73152" marR="73152" marT="18288" marB="18288" anchor="ctr">
                    <a:solidFill>
                      <a:srgbClr val="FFFFFF"/>
                    </a:solidFill>
                  </a:tcPr>
                </a:tc>
                <a:tc>
                  <a:txBody>
                    <a:bodyPr wrap="square"/>
                    <a:lstStyle/>
                    <a:p>
                      <a:pPr algn="l"/>
                      <a:r>
                        <a:rPr sz="1100" b="0">
                          <a:solidFill>
                            <a:srgbClr val="1A202C"/>
                          </a:solidFill>
                          <a:latin typeface="Arial"/>
                        </a:rPr>
                        <a:t>pipeline subagent</a:t>
                      </a:r>
                    </a:p>
                  </a:txBody>
                  <a:tcPr marL="73152" marR="73152" marT="18288" marB="18288" anchor="ctr">
                    <a:solidFill>
                      <a:srgbClr val="FFFFFF"/>
                    </a:solidFill>
                  </a:tcPr>
                </a:tc>
                <a:tc>
                  <a:txBody>
                    <a:bodyPr wrap="square"/>
                    <a:lstStyle/>
                    <a:p>
                      <a:pPr algn="l"/>
                      <a:r>
                        <a:rPr sz="1100" b="0">
                          <a:solidFill>
                            <a:srgbClr val="1A202C"/>
                          </a:solidFill>
                          <a:latin typeface="Arial"/>
                        </a:rPr>
                        <a:t>no</a:t>
                      </a:r>
                    </a:p>
                  </a:txBody>
                  <a:tcPr marL="73152" marR="73152" marT="18288" marB="18288" anchor="ctr">
                    <a:solidFill>
                      <a:srgbClr val="FFFFFF"/>
                    </a:solidFill>
                  </a:tcPr>
                </a:tc>
                <a:tc>
                  <a:txBody>
                    <a:bodyPr wrap="square"/>
                    <a:lstStyle/>
                    <a:p>
                      <a:pPr algn="l"/>
                      <a:r>
                        <a:rPr sz="1100" b="0">
                          <a:solidFill>
                            <a:srgbClr val="1A202C"/>
                          </a:solidFill>
                          <a:latin typeface="Arial"/>
                        </a:rPr>
                        <a:t>yes (ranked)</a:t>
                      </a:r>
                    </a:p>
                  </a:txBody>
                  <a:tcPr marL="73152" marR="73152" marT="18288" marB="18288" anchor="ctr">
                    <a:solidFill>
                      <a:srgbClr val="FFFFFF"/>
                    </a:solidFill>
                  </a:tcPr>
                </a:tc>
                <a:tc>
                  <a:txBody>
                    <a:bodyPr wrap="square"/>
                    <a:lstStyle/>
                    <a:p>
                      <a:pPr algn="l"/>
                      <a:r>
                        <a:rPr sz="1100" b="0">
                          <a:solidFill>
                            <a:srgbClr val="1A202C"/>
                          </a:solidFill>
                          <a:latin typeface="Arial"/>
                        </a:rPr>
                        <a:t>yes</a:t>
                      </a:r>
                    </a:p>
                  </a:txBody>
                  <a:tcPr marL="73152" marR="73152" marT="18288" marB="18288" anchor="ctr">
                    <a:solidFill>
                      <a:srgbClr val="FFFFFF"/>
                    </a:solidFill>
                  </a:tcPr>
                </a:tc>
              </a:tr>
            </a:tbl>
          </a:graphicData>
        </a:graphic>
      </p:graphicFrame>
      <p:sp>
        <p:nvSpPr>
          <p:cNvPr id="18" name="TextBox 17"/>
          <p:cNvSpPr txBox="1"/>
          <p:nvPr/>
        </p:nvSpPr>
        <p:spPr>
          <a:xfrm>
            <a:off x="640080" y="6053328"/>
            <a:ext cx="10881360" cy="365760"/>
          </a:xfrm>
          <a:prstGeom prst="rect">
            <a:avLst/>
          </a:prstGeom>
          <a:noFill/>
        </p:spPr>
        <p:txBody>
          <a:bodyPr wrap="square" anchor="t" lIns="0" rIns="0" tIns="0" bIns="0">
            <a:spAutoFit/>
          </a:bodyPr>
          <a:lstStyle/>
          <a:p>
            <a:pPr algn="l">
              <a:spcAft>
                <a:spcPts val="400"/>
              </a:spcAft>
            </a:pPr>
            <a:r>
              <a:rPr sz="1150" b="0" i="1">
                <a:solidFill>
                  <a:srgbClr val="5B657A"/>
                </a:solidFill>
                <a:latin typeface="Arial"/>
              </a:rPr>
              <a:t>Specialists (×4): memmgr-reclaim · hyperhold-io · sync-mechanism · workqueue-threadpool — auto-picked by keyword routing.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320040"/>
          </a:xfrm>
          <a:prstGeom prst="rect">
            <a:avLst/>
          </a:prstGeom>
          <a:noFill/>
        </p:spPr>
        <p:txBody>
          <a:bodyPr wrap="square" anchor="t" lIns="0" rIns="0" tIns="0" bIns="0">
            <a:spAutoFit/>
          </a:bodyPr>
          <a:lstStyle/>
          <a:p>
            <a:pPr algn="l">
              <a:spcAft>
                <a:spcPts val="400"/>
              </a:spcAft>
            </a:pPr>
            <a:r>
              <a:rPr sz="1250" b="1" i="0">
                <a:solidFill>
                  <a:srgbClr val="14A096"/>
                </a:solidFill>
                <a:latin typeface="Arial"/>
              </a:rPr>
              <a:t>PROVING THE WIN</a:t>
            </a:r>
          </a:p>
        </p:txBody>
      </p:sp>
      <p:sp>
        <p:nvSpPr>
          <p:cNvPr id="5" name="TextBox 4"/>
          <p:cNvSpPr txBox="1"/>
          <p:nvPr/>
        </p:nvSpPr>
        <p:spPr>
          <a:xfrm>
            <a:off x="640080" y="658368"/>
            <a:ext cx="10972800" cy="731520"/>
          </a:xfrm>
          <a:prstGeom prst="rect">
            <a:avLst/>
          </a:prstGeom>
          <a:noFill/>
        </p:spPr>
        <p:txBody>
          <a:bodyPr wrap="square" anchor="t" lIns="0" rIns="0" tIns="0" bIns="0">
            <a:spAutoFit/>
          </a:bodyPr>
          <a:lstStyle/>
          <a:p>
            <a:pPr algn="l">
              <a:spcAft>
                <a:spcPts val="400"/>
              </a:spcAft>
            </a:pPr>
            <a:r>
              <a:rPr sz="3000" b="1" i="0">
                <a:solidFill>
                  <a:srgbClr val="2B368C"/>
                </a:solidFill>
                <a:latin typeface="Arial"/>
              </a:rPr>
              <a:t>A/B validation on real hardware</a:t>
            </a:r>
          </a:p>
        </p:txBody>
      </p:sp>
      <p:sp>
        <p:nvSpPr>
          <p:cNvPr id="6" name="Rectangle 5"/>
          <p:cNvSpPr/>
          <p:nvPr/>
        </p:nvSpPr>
        <p:spPr>
          <a:xfrm>
            <a:off x="640080" y="1371600"/>
            <a:ext cx="10972800" cy="17780"/>
          </a:xfrm>
          <a:prstGeom prst="rect">
            <a:avLst/>
          </a:prstGeom>
          <a:solidFill>
            <a:srgbClr val="C8C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55664"/>
            <a:ext cx="7315200" cy="274320"/>
          </a:xfrm>
          <a:prstGeom prst="rect">
            <a:avLst/>
          </a:prstGeom>
          <a:noFill/>
        </p:spPr>
        <p:txBody>
          <a:bodyPr wrap="square" anchor="t" lIns="0" rIns="0" tIns="0" bIns="0">
            <a:spAutoFit/>
          </a:bodyPr>
          <a:lstStyle/>
          <a:p>
            <a:pPr algn="l">
              <a:spcAft>
                <a:spcPts val="400"/>
              </a:spcAft>
            </a:pPr>
            <a:r>
              <a:rPr sz="950" b="0" i="0">
                <a:solidFill>
                  <a:srgbClr val="5B657A"/>
                </a:solidFill>
                <a:latin typeface="Arial"/>
              </a:rPr>
              <a:t>.opencode multi-agent harness</a:t>
            </a:r>
          </a:p>
        </p:txBody>
      </p:sp>
      <p:sp>
        <p:nvSpPr>
          <p:cNvPr id="8" name="TextBox 7"/>
          <p:cNvSpPr txBox="1"/>
          <p:nvPr/>
        </p:nvSpPr>
        <p:spPr>
          <a:xfrm>
            <a:off x="10424160" y="6455664"/>
            <a:ext cx="1280160" cy="274320"/>
          </a:xfrm>
          <a:prstGeom prst="rect">
            <a:avLst/>
          </a:prstGeom>
          <a:noFill/>
        </p:spPr>
        <p:txBody>
          <a:bodyPr wrap="square" anchor="t" lIns="0" rIns="0" tIns="0" bIns="0">
            <a:spAutoFit/>
          </a:bodyPr>
          <a:lstStyle/>
          <a:p>
            <a:pPr algn="r">
              <a:spcAft>
                <a:spcPts val="400"/>
              </a:spcAft>
            </a:pPr>
            <a:r>
              <a:rPr sz="950" b="0" i="0">
                <a:solidFill>
                  <a:srgbClr val="5B657A"/>
                </a:solidFill>
                <a:latin typeface="Arial"/>
              </a:rPr>
              <a:t>13 / 19</a:t>
            </a:r>
          </a:p>
        </p:txBody>
      </p:sp>
      <p:sp>
        <p:nvSpPr>
          <p:cNvPr id="9" name="Rounded Rectangle 8"/>
          <p:cNvSpPr/>
          <p:nvPr/>
        </p:nvSpPr>
        <p:spPr>
          <a:xfrm>
            <a:off x="640080" y="2011680"/>
            <a:ext cx="1259586" cy="914400"/>
          </a:xfrm>
          <a:prstGeom prst="roundRect">
            <a:avLst>
              <a:gd name="adj" fmla="val 8000"/>
            </a:avLst>
          </a:prstGeom>
          <a:solidFill>
            <a:srgbClr val="EEF1F8"/>
          </a:solidFill>
          <a:ln w="1524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100" b="0" i="0">
                <a:solidFill>
                  <a:srgbClr val="1A202C"/>
                </a:solidFill>
                <a:latin typeface="Arial"/>
              </a:rPr>
              <a:t>build +
sign</a:t>
            </a:r>
          </a:p>
        </p:txBody>
      </p:sp>
      <p:cxnSp>
        <p:nvCxnSpPr>
          <p:cNvPr id="10" name="Connector 9"/>
          <p:cNvCxnSpPr/>
          <p:nvPr/>
        </p:nvCxnSpPr>
        <p:spPr>
          <a:xfrm>
            <a:off x="1899666" y="2468880"/>
            <a:ext cx="118872" cy="0"/>
          </a:xfrm>
          <a:prstGeom prst="line">
            <a:avLst/>
          </a:prstGeom>
          <a:ln w="27940">
            <a:solidFill>
              <a:srgbClr val="3A47B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018538" y="2011680"/>
            <a:ext cx="1259586" cy="914400"/>
          </a:xfrm>
          <a:prstGeom prst="roundRect">
            <a:avLst>
              <a:gd name="adj" fmla="val 8000"/>
            </a:avLst>
          </a:prstGeom>
          <a:solidFill>
            <a:srgbClr val="2B368C"/>
          </a:solidFill>
          <a:ln w="1524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100" b="1" i="0">
                <a:solidFill>
                  <a:srgbClr val="FFFFFF"/>
                </a:solidFill>
                <a:latin typeface="Arial"/>
              </a:rPr>
              <a:t>flash
STOCK</a:t>
            </a:r>
          </a:p>
        </p:txBody>
      </p:sp>
      <p:cxnSp>
        <p:nvCxnSpPr>
          <p:cNvPr id="12" name="Connector 11"/>
          <p:cNvCxnSpPr/>
          <p:nvPr/>
        </p:nvCxnSpPr>
        <p:spPr>
          <a:xfrm>
            <a:off x="3278124" y="2468880"/>
            <a:ext cx="118872" cy="0"/>
          </a:xfrm>
          <a:prstGeom prst="line">
            <a:avLst/>
          </a:prstGeom>
          <a:ln w="27940">
            <a:solidFill>
              <a:srgbClr val="3A47B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96996" y="2011680"/>
            <a:ext cx="1259586" cy="914400"/>
          </a:xfrm>
          <a:prstGeom prst="roundRect">
            <a:avLst>
              <a:gd name="adj" fmla="val 8000"/>
            </a:avLst>
          </a:prstGeom>
          <a:solidFill>
            <a:srgbClr val="EEF1F8"/>
          </a:solidFill>
          <a:ln w="1524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100" b="0" i="0">
                <a:solidFill>
                  <a:srgbClr val="1A202C"/>
                </a:solidFill>
                <a:latin typeface="Arial"/>
              </a:rPr>
              <a:t>settle
~10 min</a:t>
            </a:r>
          </a:p>
        </p:txBody>
      </p:sp>
      <p:cxnSp>
        <p:nvCxnSpPr>
          <p:cNvPr id="14" name="Connector 13"/>
          <p:cNvCxnSpPr/>
          <p:nvPr/>
        </p:nvCxnSpPr>
        <p:spPr>
          <a:xfrm>
            <a:off x="4656582" y="2468880"/>
            <a:ext cx="118872" cy="0"/>
          </a:xfrm>
          <a:prstGeom prst="line">
            <a:avLst/>
          </a:prstGeom>
          <a:ln w="27940">
            <a:solidFill>
              <a:srgbClr val="3A47B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775454" y="2011680"/>
            <a:ext cx="1259586" cy="914400"/>
          </a:xfrm>
          <a:prstGeom prst="roundRect">
            <a:avLst>
              <a:gd name="adj" fmla="val 8000"/>
            </a:avLst>
          </a:prstGeom>
          <a:solidFill>
            <a:srgbClr val="EEF1F8"/>
          </a:solidFill>
          <a:ln w="1524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100" b="0" i="0">
                <a:solidFill>
                  <a:srgbClr val="1A202C"/>
                </a:solidFill>
                <a:latin typeface="Arial"/>
              </a:rPr>
              <a:t>test
stock</a:t>
            </a:r>
          </a:p>
        </p:txBody>
      </p:sp>
      <p:cxnSp>
        <p:nvCxnSpPr>
          <p:cNvPr id="16" name="Connector 15"/>
          <p:cNvCxnSpPr/>
          <p:nvPr/>
        </p:nvCxnSpPr>
        <p:spPr>
          <a:xfrm>
            <a:off x="6035040" y="2468880"/>
            <a:ext cx="118872" cy="0"/>
          </a:xfrm>
          <a:prstGeom prst="line">
            <a:avLst/>
          </a:prstGeom>
          <a:ln w="27940">
            <a:solidFill>
              <a:srgbClr val="3A47B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53912" y="2011680"/>
            <a:ext cx="1259586" cy="914400"/>
          </a:xfrm>
          <a:prstGeom prst="roundRect">
            <a:avLst>
              <a:gd name="adj" fmla="val 8000"/>
            </a:avLst>
          </a:prstGeom>
          <a:solidFill>
            <a:srgbClr val="14A096"/>
          </a:solidFill>
          <a:ln w="1524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100" b="1" i="0">
                <a:solidFill>
                  <a:srgbClr val="FFFFFF"/>
                </a:solidFill>
                <a:latin typeface="Arial"/>
              </a:rPr>
              <a:t>flash
FEATURE</a:t>
            </a:r>
          </a:p>
        </p:txBody>
      </p:sp>
      <p:cxnSp>
        <p:nvCxnSpPr>
          <p:cNvPr id="18" name="Connector 17"/>
          <p:cNvCxnSpPr/>
          <p:nvPr/>
        </p:nvCxnSpPr>
        <p:spPr>
          <a:xfrm>
            <a:off x="7413498" y="2468880"/>
            <a:ext cx="118872" cy="0"/>
          </a:xfrm>
          <a:prstGeom prst="line">
            <a:avLst/>
          </a:prstGeom>
          <a:ln w="27940">
            <a:solidFill>
              <a:srgbClr val="3A47B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532370" y="2011680"/>
            <a:ext cx="1259586" cy="914400"/>
          </a:xfrm>
          <a:prstGeom prst="roundRect">
            <a:avLst>
              <a:gd name="adj" fmla="val 8000"/>
            </a:avLst>
          </a:prstGeom>
          <a:solidFill>
            <a:srgbClr val="EEF1F8"/>
          </a:solidFill>
          <a:ln w="1524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100" b="0" i="0">
                <a:solidFill>
                  <a:srgbClr val="1A202C"/>
                </a:solidFill>
                <a:latin typeface="Arial"/>
              </a:rPr>
              <a:t>settle
~10 min</a:t>
            </a:r>
          </a:p>
        </p:txBody>
      </p:sp>
      <p:cxnSp>
        <p:nvCxnSpPr>
          <p:cNvPr id="20" name="Connector 19"/>
          <p:cNvCxnSpPr/>
          <p:nvPr/>
        </p:nvCxnSpPr>
        <p:spPr>
          <a:xfrm>
            <a:off x="8791956" y="2468880"/>
            <a:ext cx="118872" cy="0"/>
          </a:xfrm>
          <a:prstGeom prst="line">
            <a:avLst/>
          </a:prstGeom>
          <a:ln w="27940">
            <a:solidFill>
              <a:srgbClr val="3A47B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910828" y="2011680"/>
            <a:ext cx="1259586" cy="914400"/>
          </a:xfrm>
          <a:prstGeom prst="roundRect">
            <a:avLst>
              <a:gd name="adj" fmla="val 8000"/>
            </a:avLst>
          </a:prstGeom>
          <a:solidFill>
            <a:srgbClr val="EEF1F8"/>
          </a:solidFill>
          <a:ln w="1524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100" b="0" i="0">
                <a:solidFill>
                  <a:srgbClr val="1A202C"/>
                </a:solidFill>
                <a:latin typeface="Arial"/>
              </a:rPr>
              <a:t>test +
compare</a:t>
            </a:r>
          </a:p>
        </p:txBody>
      </p:sp>
      <p:cxnSp>
        <p:nvCxnSpPr>
          <p:cNvPr id="22" name="Connector 21"/>
          <p:cNvCxnSpPr/>
          <p:nvPr/>
        </p:nvCxnSpPr>
        <p:spPr>
          <a:xfrm>
            <a:off x="10170414" y="2468880"/>
            <a:ext cx="118872" cy="0"/>
          </a:xfrm>
          <a:prstGeom prst="line">
            <a:avLst/>
          </a:prstGeom>
          <a:ln w="27940">
            <a:solidFill>
              <a:srgbClr val="3A47B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0289286" y="2011680"/>
            <a:ext cx="1259586" cy="914400"/>
          </a:xfrm>
          <a:prstGeom prst="roundRect">
            <a:avLst>
              <a:gd name="adj" fmla="val 8000"/>
            </a:avLst>
          </a:prstGeom>
          <a:solidFill>
            <a:srgbClr val="D88416"/>
          </a:solidFill>
          <a:ln w="1524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100" b="1" i="0">
                <a:solidFill>
                  <a:srgbClr val="FFFFFF"/>
                </a:solidFill>
                <a:latin typeface="Arial"/>
              </a:rPr>
              <a:t>verdict</a:t>
            </a:r>
          </a:p>
        </p:txBody>
      </p:sp>
      <p:sp>
        <p:nvSpPr>
          <p:cNvPr id="24" name="TextBox 23"/>
          <p:cNvSpPr txBox="1"/>
          <p:nvPr/>
        </p:nvSpPr>
        <p:spPr>
          <a:xfrm>
            <a:off x="640080" y="3063240"/>
            <a:ext cx="10881360" cy="274320"/>
          </a:xfrm>
          <a:prstGeom prst="rect">
            <a:avLst/>
          </a:prstGeom>
          <a:noFill/>
        </p:spPr>
        <p:txBody>
          <a:bodyPr wrap="square" anchor="t" lIns="0" rIns="0" tIns="0" bIns="0">
            <a:spAutoFit/>
          </a:bodyPr>
          <a:lstStyle/>
          <a:p>
            <a:pPr algn="l">
              <a:spcAft>
                <a:spcPts val="400"/>
              </a:spcAft>
            </a:pPr>
            <a:r>
              <a:rPr sz="1150" b="0" i="1">
                <a:solidFill>
                  <a:srgbClr val="5B657A"/>
                </a:solidFill>
                <a:latin typeface="Arial"/>
              </a:rPr>
              <a:t>A mandatory ~10-min settle follows every flash (stock and feature) before its test — never parallelize the two images.</a:t>
            </a:r>
          </a:p>
        </p:txBody>
      </p:sp>
      <p:sp>
        <p:nvSpPr>
          <p:cNvPr id="25" name="Rounded Rectangle 24"/>
          <p:cNvSpPr/>
          <p:nvPr/>
        </p:nvSpPr>
        <p:spPr>
          <a:xfrm>
            <a:off x="640080" y="3383280"/>
            <a:ext cx="6035040" cy="1874519"/>
          </a:xfrm>
          <a:prstGeom prst="roundRect">
            <a:avLst>
              <a:gd name="adj" fmla="val 4500"/>
            </a:avLst>
          </a:prstGeom>
          <a:solidFill>
            <a:srgbClr val="FFFFFF"/>
          </a:solidFill>
          <a:ln w="1270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0080" y="3383280"/>
            <a:ext cx="6035040" cy="384048"/>
          </a:xfrm>
          <a:prstGeom prst="roundRect">
            <a:avLst>
              <a:gd name="adj" fmla="val 4500"/>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400" b="1" i="0">
                <a:solidFill>
                  <a:srgbClr val="FFFFFF"/>
                </a:solidFill>
                <a:latin typeface="Arial"/>
              </a:rPr>
              <a:t>Flash topology (real devices)</a:t>
            </a:r>
          </a:p>
        </p:txBody>
      </p:sp>
      <p:sp>
        <p:nvSpPr>
          <p:cNvPr id="27" name="Rectangle 26"/>
          <p:cNvSpPr/>
          <p:nvPr/>
        </p:nvSpPr>
        <p:spPr>
          <a:xfrm>
            <a:off x="640080" y="3685032"/>
            <a:ext cx="6035040" cy="82296"/>
          </a:xfrm>
          <a:prstGeom prst="rect">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6384" y="3840480"/>
            <a:ext cx="5760720" cy="1344167"/>
          </a:xfrm>
          <a:prstGeom prst="rect">
            <a:avLst/>
          </a:prstGeom>
          <a:noFill/>
        </p:spPr>
        <p:txBody>
          <a:bodyPr wrap="square" anchor="t" lIns="0" rIns="0" tIns="0" bIns="0">
            <a:spAutoFit/>
          </a:bodyPr>
          <a:lstStyle/>
          <a:p>
            <a:pPr algn="l">
              <a:spcAft>
                <a:spcPts val="400"/>
              </a:spcAft>
            </a:pPr>
            <a:r>
              <a:rPr sz="1200" b="0" i="0">
                <a:solidFill>
                  <a:srgbClr val="1A202C"/>
                </a:solidFill>
                <a:latin typeface="Arial"/>
              </a:rPr>
              <a:t>•  Build server  —pscp→  Windows relay (:9100)  —USB→  phone</a:t>
            </a:r>
          </a:p>
          <a:p>
            <a:pPr algn="l">
              <a:spcAft>
                <a:spcPts val="400"/>
              </a:spcAft>
            </a:pPr>
            <a:r>
              <a:rPr sz="1200" b="0" i="0">
                <a:solidFill>
                  <a:srgbClr val="1A202C"/>
                </a:solidFill>
                <a:latin typeface="Arial"/>
              </a:rPr>
              <a:t>•  Flash MCP (:7337) orchestrates; relay runs fastboot/hdc locally</a:t>
            </a:r>
          </a:p>
          <a:p>
            <a:pPr algn="l">
              <a:spcAft>
                <a:spcPts val="400"/>
              </a:spcAft>
            </a:pPr>
            <a:r>
              <a:rPr sz="1200" b="0" i="0">
                <a:solidFill>
                  <a:srgbClr val="1A202C"/>
                </a:solidFill>
                <a:latin typeface="Arial"/>
              </a:rPr>
              <a:t>•  flash_pipeline.py = one deterministic local process (no HTTP hops)</a:t>
            </a:r>
          </a:p>
          <a:p>
            <a:pPr algn="l">
              <a:spcAft>
                <a:spcPts val="400"/>
              </a:spcAft>
            </a:pPr>
            <a:r>
              <a:rPr sz="1200" b="0" i="0">
                <a:solidFill>
                  <a:srgbClr val="1A202C"/>
                </a:solidFill>
                <a:latin typeface="Arial"/>
              </a:rPr>
              <a:t>•  Mandatory preflight: relay health · device visible · creds</a:t>
            </a:r>
          </a:p>
        </p:txBody>
      </p:sp>
      <p:sp>
        <p:nvSpPr>
          <p:cNvPr id="29" name="Rounded Rectangle 28"/>
          <p:cNvSpPr/>
          <p:nvPr/>
        </p:nvSpPr>
        <p:spPr>
          <a:xfrm>
            <a:off x="6839712" y="3383280"/>
            <a:ext cx="4709160" cy="1874519"/>
          </a:xfrm>
          <a:prstGeom prst="roundRect">
            <a:avLst>
              <a:gd name="adj" fmla="val 4500"/>
            </a:avLst>
          </a:prstGeom>
          <a:solidFill>
            <a:srgbClr val="FFFFFF"/>
          </a:solidFill>
          <a:ln w="1270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839712" y="3383280"/>
            <a:ext cx="4709160" cy="384048"/>
          </a:xfrm>
          <a:prstGeom prst="roundRect">
            <a:avLst>
              <a:gd name="adj" fmla="val 4500"/>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400" b="1" i="0">
                <a:solidFill>
                  <a:srgbClr val="FFFFFF"/>
                </a:solidFill>
                <a:latin typeface="Arial"/>
              </a:rPr>
              <a:t>Test discipline</a:t>
            </a:r>
          </a:p>
        </p:txBody>
      </p:sp>
      <p:sp>
        <p:nvSpPr>
          <p:cNvPr id="31" name="Rectangle 30"/>
          <p:cNvSpPr/>
          <p:nvPr/>
        </p:nvSpPr>
        <p:spPr>
          <a:xfrm>
            <a:off x="6839712" y="3685032"/>
            <a:ext cx="4709160" cy="82296"/>
          </a:xfrm>
          <a:prstGeom prst="rect">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86016" y="3840480"/>
            <a:ext cx="4434840" cy="1344167"/>
          </a:xfrm>
          <a:prstGeom prst="rect">
            <a:avLst/>
          </a:prstGeom>
          <a:noFill/>
        </p:spPr>
        <p:txBody>
          <a:bodyPr wrap="square" anchor="t" lIns="0" rIns="0" tIns="0" bIns="0">
            <a:spAutoFit/>
          </a:bodyPr>
          <a:lstStyle/>
          <a:p>
            <a:pPr algn="l">
              <a:spcAft>
                <a:spcPts val="400"/>
              </a:spcAft>
            </a:pPr>
            <a:r>
              <a:rPr sz="1200" b="0" i="0">
                <a:solidFill>
                  <a:srgbClr val="1A202C"/>
                </a:solidFill>
                <a:latin typeface="Arial"/>
              </a:rPr>
              <a:t>•  Async only: run_*_async + 60 s polling (runs 30–120 min)</a:t>
            </a:r>
          </a:p>
          <a:p>
            <a:pPr algn="l">
              <a:spcAft>
                <a:spcPts val="400"/>
              </a:spcAft>
            </a:pPr>
            <a:r>
              <a:rPr sz="1200" b="0" i="0">
                <a:solidFill>
                  <a:srgbClr val="1A202C"/>
                </a:solidFill>
                <a:latin typeface="Arial"/>
              </a:rPr>
              <a:t>•  180-min ceiling; never declare a verdict while pending</a:t>
            </a:r>
          </a:p>
          <a:p>
            <a:pPr algn="l">
              <a:spcAft>
                <a:spcPts val="400"/>
              </a:spcAft>
            </a:pPr>
            <a:r>
              <a:rPr sz="1200" b="0" i="0">
                <a:solidFill>
                  <a:srgbClr val="1A202C"/>
                </a:solidFill>
                <a:latin typeface="Arial"/>
              </a:rPr>
              <a:t>•  Build/sign fail = FAIL (broken patch)</a:t>
            </a:r>
          </a:p>
          <a:p>
            <a:pPr algn="l">
              <a:spcAft>
                <a:spcPts val="400"/>
              </a:spcAft>
            </a:pPr>
            <a:r>
              <a:rPr sz="1200" b="0" i="0">
                <a:solidFill>
                  <a:srgbClr val="1A202C"/>
                </a:solidFill>
                <a:latin typeface="Arial"/>
              </a:rPr>
              <a:t>•  Relay/device infra fail = SKIPPED (not the patch's fault)</a:t>
            </a:r>
          </a:p>
        </p:txBody>
      </p:sp>
      <p:sp>
        <p:nvSpPr>
          <p:cNvPr id="33" name="TextBox 32"/>
          <p:cNvSpPr txBox="1"/>
          <p:nvPr/>
        </p:nvSpPr>
        <p:spPr>
          <a:xfrm>
            <a:off x="640080" y="5532120"/>
            <a:ext cx="10881360" cy="365760"/>
          </a:xfrm>
          <a:prstGeom prst="rect">
            <a:avLst/>
          </a:prstGeom>
          <a:noFill/>
        </p:spPr>
        <p:txBody>
          <a:bodyPr wrap="square" anchor="t" lIns="0" rIns="0" tIns="0" bIns="0">
            <a:spAutoFit/>
          </a:bodyPr>
          <a:lstStyle/>
          <a:p>
            <a:pPr algn="l">
              <a:spcAft>
                <a:spcPts val="400"/>
              </a:spcAft>
            </a:pPr>
            <a:r>
              <a:rPr sz="1150" b="0" i="1">
                <a:solidFill>
                  <a:srgbClr val="5B657A"/>
                </a:solidFill>
                <a:latin typeface="Arial"/>
              </a:rPr>
              <a:t>This is the part that touches the real world — and why a "win" here is trustworthy, not a guess.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320040"/>
          </a:xfrm>
          <a:prstGeom prst="rect">
            <a:avLst/>
          </a:prstGeom>
          <a:noFill/>
        </p:spPr>
        <p:txBody>
          <a:bodyPr wrap="square" anchor="t" lIns="0" rIns="0" tIns="0" bIns="0">
            <a:spAutoFit/>
          </a:bodyPr>
          <a:lstStyle/>
          <a:p>
            <a:pPr algn="l">
              <a:spcAft>
                <a:spcPts val="400"/>
              </a:spcAft>
            </a:pPr>
            <a:r>
              <a:rPr sz="1250" b="1" i="0">
                <a:solidFill>
                  <a:srgbClr val="14A096"/>
                </a:solidFill>
                <a:latin typeface="Arial"/>
              </a:rPr>
              <a:t>HOW IT LEARNS</a:t>
            </a:r>
          </a:p>
        </p:txBody>
      </p:sp>
      <p:sp>
        <p:nvSpPr>
          <p:cNvPr id="5" name="TextBox 4"/>
          <p:cNvSpPr txBox="1"/>
          <p:nvPr/>
        </p:nvSpPr>
        <p:spPr>
          <a:xfrm>
            <a:off x="640080" y="658368"/>
            <a:ext cx="10972800" cy="731520"/>
          </a:xfrm>
          <a:prstGeom prst="rect">
            <a:avLst/>
          </a:prstGeom>
          <a:noFill/>
        </p:spPr>
        <p:txBody>
          <a:bodyPr wrap="square" anchor="t" lIns="0" rIns="0" tIns="0" bIns="0">
            <a:spAutoFit/>
          </a:bodyPr>
          <a:lstStyle/>
          <a:p>
            <a:pPr algn="l">
              <a:spcAft>
                <a:spcPts val="400"/>
              </a:spcAft>
            </a:pPr>
            <a:r>
              <a:rPr sz="3000" b="1" i="0">
                <a:solidFill>
                  <a:srgbClr val="2B368C"/>
                </a:solidFill>
                <a:latin typeface="Arial"/>
              </a:rPr>
              <a:t>Cross-run memory + the idea ledger</a:t>
            </a:r>
          </a:p>
        </p:txBody>
      </p:sp>
      <p:sp>
        <p:nvSpPr>
          <p:cNvPr id="6" name="Rectangle 5"/>
          <p:cNvSpPr/>
          <p:nvPr/>
        </p:nvSpPr>
        <p:spPr>
          <a:xfrm>
            <a:off x="640080" y="1371600"/>
            <a:ext cx="10972800" cy="17780"/>
          </a:xfrm>
          <a:prstGeom prst="rect">
            <a:avLst/>
          </a:prstGeom>
          <a:solidFill>
            <a:srgbClr val="C8C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55664"/>
            <a:ext cx="7315200" cy="274320"/>
          </a:xfrm>
          <a:prstGeom prst="rect">
            <a:avLst/>
          </a:prstGeom>
          <a:noFill/>
        </p:spPr>
        <p:txBody>
          <a:bodyPr wrap="square" anchor="t" lIns="0" rIns="0" tIns="0" bIns="0">
            <a:spAutoFit/>
          </a:bodyPr>
          <a:lstStyle/>
          <a:p>
            <a:pPr algn="l">
              <a:spcAft>
                <a:spcPts val="400"/>
              </a:spcAft>
            </a:pPr>
            <a:r>
              <a:rPr sz="950" b="0" i="0">
                <a:solidFill>
                  <a:srgbClr val="5B657A"/>
                </a:solidFill>
                <a:latin typeface="Arial"/>
              </a:rPr>
              <a:t>.opencode multi-agent harness</a:t>
            </a:r>
          </a:p>
        </p:txBody>
      </p:sp>
      <p:sp>
        <p:nvSpPr>
          <p:cNvPr id="8" name="TextBox 7"/>
          <p:cNvSpPr txBox="1"/>
          <p:nvPr/>
        </p:nvSpPr>
        <p:spPr>
          <a:xfrm>
            <a:off x="10424160" y="6455664"/>
            <a:ext cx="1280160" cy="274320"/>
          </a:xfrm>
          <a:prstGeom prst="rect">
            <a:avLst/>
          </a:prstGeom>
          <a:noFill/>
        </p:spPr>
        <p:txBody>
          <a:bodyPr wrap="square" anchor="t" lIns="0" rIns="0" tIns="0" bIns="0">
            <a:spAutoFit/>
          </a:bodyPr>
          <a:lstStyle/>
          <a:p>
            <a:pPr algn="r">
              <a:spcAft>
                <a:spcPts val="400"/>
              </a:spcAft>
            </a:pPr>
            <a:r>
              <a:rPr sz="950" b="0" i="0">
                <a:solidFill>
                  <a:srgbClr val="5B657A"/>
                </a:solidFill>
                <a:latin typeface="Arial"/>
              </a:rPr>
              <a:t>14 / 19</a:t>
            </a:r>
          </a:p>
        </p:txBody>
      </p:sp>
      <p:sp>
        <p:nvSpPr>
          <p:cNvPr id="9" name="Rounded Rectangle 8"/>
          <p:cNvSpPr/>
          <p:nvPr/>
        </p:nvSpPr>
        <p:spPr>
          <a:xfrm>
            <a:off x="640080" y="1828800"/>
            <a:ext cx="3529584" cy="3246120"/>
          </a:xfrm>
          <a:prstGeom prst="roundRect">
            <a:avLst>
              <a:gd name="adj" fmla="val 4500"/>
            </a:avLst>
          </a:prstGeom>
          <a:solidFill>
            <a:srgbClr val="FFFFFF"/>
          </a:solidFill>
          <a:ln w="1270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1828800"/>
            <a:ext cx="3529584" cy="384048"/>
          </a:xfrm>
          <a:prstGeom prst="roundRect">
            <a:avLst>
              <a:gd name="adj" fmla="val 4500"/>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200" b="1" i="0">
                <a:solidFill>
                  <a:srgbClr val="FFFFFF"/>
                </a:solidFill>
                <a:latin typeface="Arial"/>
              </a:rPr>
              <a:t>targets/ · subsystems/ · global_lessons</a:t>
            </a:r>
          </a:p>
        </p:txBody>
      </p:sp>
      <p:sp>
        <p:nvSpPr>
          <p:cNvPr id="11" name="Rectangle 10"/>
          <p:cNvSpPr/>
          <p:nvPr/>
        </p:nvSpPr>
        <p:spPr>
          <a:xfrm>
            <a:off x="640080" y="2130552"/>
            <a:ext cx="3529584" cy="82296"/>
          </a:xfrm>
          <a:prstGeom prst="rect">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2286000"/>
            <a:ext cx="3255264" cy="2715768"/>
          </a:xfrm>
          <a:prstGeom prst="rect">
            <a:avLst/>
          </a:prstGeom>
          <a:noFill/>
        </p:spPr>
        <p:txBody>
          <a:bodyPr wrap="square" anchor="t" lIns="0" rIns="0" tIns="0" bIns="0">
            <a:spAutoFit/>
          </a:bodyPr>
          <a:lstStyle/>
          <a:p>
            <a:pPr algn="l">
              <a:spcAft>
                <a:spcPts val="400"/>
              </a:spcAft>
            </a:pPr>
            <a:r>
              <a:rPr sz="1150" b="0" i="0">
                <a:solidFill>
                  <a:srgbClr val="1A202C"/>
                </a:solidFill>
                <a:latin typeface="Arial"/>
              </a:rPr>
              <a:t>•  Prose facts at 3 scopes (file → subsystem → repo)</a:t>
            </a:r>
          </a:p>
          <a:p>
            <a:pPr algn="l">
              <a:spcAft>
                <a:spcPts val="400"/>
              </a:spcAft>
            </a:pPr>
            <a:r>
              <a:rPr sz="1150" b="0" i="0">
                <a:solidFill>
                  <a:srgbClr val="1A202C"/>
                </a:solidFill>
                <a:latin typeface="Arial"/>
              </a:rPr>
              <a:t>•  Stable structure, hot paths, good directions</a:t>
            </a:r>
          </a:p>
          <a:p>
            <a:pPr algn="l">
              <a:spcAft>
                <a:spcPts val="400"/>
              </a:spcAft>
            </a:pPr>
            <a:r>
              <a:rPr sz="1150" b="0" i="0">
                <a:solidFill>
                  <a:srgbClr val="1A202C"/>
                </a:solidFill>
                <a:latin typeface="Arial"/>
              </a:rPr>
              <a:t>•  Loaded BEFORE fresh research; written at end of a run</a:t>
            </a:r>
          </a:p>
        </p:txBody>
      </p:sp>
      <p:sp>
        <p:nvSpPr>
          <p:cNvPr id="13" name="Rounded Rectangle 12"/>
          <p:cNvSpPr/>
          <p:nvPr/>
        </p:nvSpPr>
        <p:spPr>
          <a:xfrm>
            <a:off x="4416552" y="1828800"/>
            <a:ext cx="3529584" cy="3246120"/>
          </a:xfrm>
          <a:prstGeom prst="roundRect">
            <a:avLst>
              <a:gd name="adj" fmla="val 4500"/>
            </a:avLst>
          </a:prstGeom>
          <a:solidFill>
            <a:srgbClr val="FFFFFF"/>
          </a:solidFill>
          <a:ln w="1270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16552" y="1828800"/>
            <a:ext cx="3529584" cy="384048"/>
          </a:xfrm>
          <a:prstGeom prst="roundRect">
            <a:avLst>
              <a:gd name="adj" fmla="val 4500"/>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200" b="1" i="0">
                <a:solidFill>
                  <a:srgbClr val="FFFFFF"/>
                </a:solidFill>
                <a:latin typeface="Arial"/>
              </a:rPr>
              <a:t>idea_ledger/  (per target)</a:t>
            </a:r>
          </a:p>
        </p:txBody>
      </p:sp>
      <p:sp>
        <p:nvSpPr>
          <p:cNvPr id="15" name="Rectangle 14"/>
          <p:cNvSpPr/>
          <p:nvPr/>
        </p:nvSpPr>
        <p:spPr>
          <a:xfrm>
            <a:off x="4416552" y="2130552"/>
            <a:ext cx="3529584" cy="82296"/>
          </a:xfrm>
          <a:prstGeom prst="rect">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2856" y="2286000"/>
            <a:ext cx="3255264" cy="2715768"/>
          </a:xfrm>
          <a:prstGeom prst="rect">
            <a:avLst/>
          </a:prstGeom>
          <a:noFill/>
        </p:spPr>
        <p:txBody>
          <a:bodyPr wrap="square" anchor="t" lIns="0" rIns="0" tIns="0" bIns="0">
            <a:spAutoFit/>
          </a:bodyPr>
          <a:lstStyle/>
          <a:p>
            <a:pPr algn="l">
              <a:spcAft>
                <a:spcPts val="400"/>
              </a:spcAft>
            </a:pPr>
            <a:r>
              <a:rPr sz="1150" b="0" i="0">
                <a:solidFill>
                  <a:srgbClr val="1A202C"/>
                </a:solidFill>
                <a:latin typeface="Arial"/>
              </a:rPr>
              <a:t>•  Every verdicted mechanism, stable IDs (L001…)</a:t>
            </a:r>
          </a:p>
          <a:p>
            <a:pPr algn="l">
              <a:spcAft>
                <a:spcPts val="400"/>
              </a:spcAft>
            </a:pPr>
            <a:r>
              <a:rPr sz="1150" b="0" i="0">
                <a:solidFill>
                  <a:srgbClr val="1A202C"/>
                </a:solidFill>
                <a:latin typeface="Arial"/>
              </a:rPr>
              <a:t>•  Statuses: approved / landed / rejected / deferred / reverted</a:t>
            </a:r>
          </a:p>
          <a:p>
            <a:pPr algn="l">
              <a:spcAft>
                <a:spcPts val="400"/>
              </a:spcAft>
            </a:pPr>
            <a:r>
              <a:rPr sz="1150" b="0" i="0">
                <a:solidFill>
                  <a:srgbClr val="1A202C"/>
                </a:solidFill>
                <a:latin typeface="Arial"/>
              </a:rPr>
              <a:t>•  Landed rows carry delta_pct + compare level + validation path</a:t>
            </a:r>
          </a:p>
          <a:p>
            <a:pPr algn="l">
              <a:spcAft>
                <a:spcPts val="400"/>
              </a:spcAft>
            </a:pPr>
            <a:r>
              <a:rPr sz="1150" b="0" i="0">
                <a:solidFill>
                  <a:srgbClr val="1A202C"/>
                </a:solidFill>
                <a:latin typeface="Arial"/>
              </a:rPr>
              <a:t>•  Feeds funnel dedup · never deleted</a:t>
            </a:r>
          </a:p>
        </p:txBody>
      </p:sp>
      <p:sp>
        <p:nvSpPr>
          <p:cNvPr id="17" name="Rounded Rectangle 16"/>
          <p:cNvSpPr/>
          <p:nvPr/>
        </p:nvSpPr>
        <p:spPr>
          <a:xfrm>
            <a:off x="8193023" y="1828800"/>
            <a:ext cx="3529584" cy="3246120"/>
          </a:xfrm>
          <a:prstGeom prst="roundRect">
            <a:avLst>
              <a:gd name="adj" fmla="val 4500"/>
            </a:avLst>
          </a:prstGeom>
          <a:solidFill>
            <a:srgbClr val="FFFFFF"/>
          </a:solidFill>
          <a:ln w="1270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93023" y="1828800"/>
            <a:ext cx="3529584" cy="384048"/>
          </a:xfrm>
          <a:prstGeom prst="roundRect">
            <a:avLst>
              <a:gd name="adj" fmla="val 4500"/>
            </a:avLst>
          </a:prstGeom>
          <a:solidFill>
            <a:srgbClr val="D884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200" b="1" i="0">
                <a:solidFill>
                  <a:srgbClr val="FFFFFF"/>
                </a:solidFill>
                <a:latin typeface="Arial"/>
              </a:rPr>
              <a:t>human_decisions/  ·  bad_plans</a:t>
            </a:r>
          </a:p>
        </p:txBody>
      </p:sp>
      <p:sp>
        <p:nvSpPr>
          <p:cNvPr id="19" name="Rectangle 18"/>
          <p:cNvSpPr/>
          <p:nvPr/>
        </p:nvSpPr>
        <p:spPr>
          <a:xfrm>
            <a:off x="8193023" y="2130552"/>
            <a:ext cx="3529584" cy="82296"/>
          </a:xfrm>
          <a:prstGeom prst="rect">
            <a:avLst/>
          </a:prstGeom>
          <a:solidFill>
            <a:srgbClr val="D88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39327" y="2286000"/>
            <a:ext cx="3255264" cy="2715768"/>
          </a:xfrm>
          <a:prstGeom prst="rect">
            <a:avLst/>
          </a:prstGeom>
          <a:noFill/>
        </p:spPr>
        <p:txBody>
          <a:bodyPr wrap="square" anchor="t" lIns="0" rIns="0" tIns="0" bIns="0">
            <a:spAutoFit/>
          </a:bodyPr>
          <a:lstStyle/>
          <a:p>
            <a:pPr algn="l">
              <a:spcAft>
                <a:spcPts val="400"/>
              </a:spcAft>
            </a:pPr>
            <a:r>
              <a:rPr sz="1150" b="0" i="0">
                <a:solidFill>
                  <a:srgbClr val="1A202C"/>
                </a:solidFill>
                <a:latin typeface="Arial"/>
              </a:rPr>
              <a:t>•  Chronological log of every human review turn</a:t>
            </a:r>
          </a:p>
          <a:p>
            <a:pPr algn="l">
              <a:spcAft>
                <a:spcPts val="400"/>
              </a:spcAft>
            </a:pPr>
            <a:r>
              <a:rPr sz="1150" b="0" i="0">
                <a:solidFill>
                  <a:srgbClr val="1A202C"/>
                </a:solidFill>
                <a:latin typeface="Arial"/>
              </a:rPr>
              <a:t>•  Purposes: audit · resume-after-compaction · dedup</a:t>
            </a:r>
          </a:p>
          <a:p>
            <a:pPr algn="l">
              <a:spcAft>
                <a:spcPts val="400"/>
              </a:spcAft>
            </a:pPr>
            <a:r>
              <a:rPr sz="1150" b="0" i="0">
                <a:solidFill>
                  <a:srgbClr val="1A202C"/>
                </a:solidFill>
                <a:latin typeface="Arial"/>
              </a:rPr>
              <a:t>•  bad_plans = mechanisms not to re-propose</a:t>
            </a:r>
          </a:p>
        </p:txBody>
      </p:sp>
      <p:sp>
        <p:nvSpPr>
          <p:cNvPr id="21" name="TextBox 20"/>
          <p:cNvSpPr txBox="1"/>
          <p:nvPr/>
        </p:nvSpPr>
        <p:spPr>
          <a:xfrm>
            <a:off x="640080" y="5440680"/>
            <a:ext cx="10881360" cy="365760"/>
          </a:xfrm>
          <a:prstGeom prst="rect">
            <a:avLst/>
          </a:prstGeom>
          <a:noFill/>
        </p:spPr>
        <p:txBody>
          <a:bodyPr wrap="square" anchor="t" lIns="0" rIns="0" tIns="0" bIns="0">
            <a:spAutoFit/>
          </a:bodyPr>
          <a:lstStyle/>
          <a:p>
            <a:pPr algn="l">
              <a:spcAft>
                <a:spcPts val="400"/>
              </a:spcAft>
            </a:pPr>
            <a:r>
              <a:rPr sz="1150" b="0" i="1">
                <a:solidFill>
                  <a:srgbClr val="5B657A"/>
                </a:solidFill>
                <a:latin typeface="Arial"/>
              </a:rPr>
              <a:t>Two axes: by scope (target → subsystem → global) and by kind (prose facts · decision log · structured idea rows). Lifetime: forever.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320040"/>
          </a:xfrm>
          <a:prstGeom prst="rect">
            <a:avLst/>
          </a:prstGeom>
          <a:noFill/>
        </p:spPr>
        <p:txBody>
          <a:bodyPr wrap="square" anchor="t" lIns="0" rIns="0" tIns="0" bIns="0">
            <a:spAutoFit/>
          </a:bodyPr>
          <a:lstStyle/>
          <a:p>
            <a:pPr algn="l">
              <a:spcAft>
                <a:spcPts val="400"/>
              </a:spcAft>
            </a:pPr>
            <a:r>
              <a:rPr sz="1250" b="1" i="0">
                <a:solidFill>
                  <a:srgbClr val="14A096"/>
                </a:solidFill>
                <a:latin typeface="Arial"/>
              </a:rPr>
              <a:t>BUILT FOR LONG RUNS</a:t>
            </a:r>
          </a:p>
        </p:txBody>
      </p:sp>
      <p:sp>
        <p:nvSpPr>
          <p:cNvPr id="5" name="TextBox 4"/>
          <p:cNvSpPr txBox="1"/>
          <p:nvPr/>
        </p:nvSpPr>
        <p:spPr>
          <a:xfrm>
            <a:off x="640080" y="658368"/>
            <a:ext cx="10972800" cy="731520"/>
          </a:xfrm>
          <a:prstGeom prst="rect">
            <a:avLst/>
          </a:prstGeom>
          <a:noFill/>
        </p:spPr>
        <p:txBody>
          <a:bodyPr wrap="square" anchor="t" lIns="0" rIns="0" tIns="0" bIns="0">
            <a:spAutoFit/>
          </a:bodyPr>
          <a:lstStyle/>
          <a:p>
            <a:pPr algn="l">
              <a:spcAft>
                <a:spcPts val="400"/>
              </a:spcAft>
            </a:pPr>
            <a:r>
              <a:rPr sz="3000" b="1" i="0">
                <a:solidFill>
                  <a:srgbClr val="2B368C"/>
                </a:solidFill>
                <a:latin typeface="Arial"/>
              </a:rPr>
              <a:t>Compaction-proof by design</a:t>
            </a:r>
          </a:p>
        </p:txBody>
      </p:sp>
      <p:sp>
        <p:nvSpPr>
          <p:cNvPr id="6" name="Rectangle 5"/>
          <p:cNvSpPr/>
          <p:nvPr/>
        </p:nvSpPr>
        <p:spPr>
          <a:xfrm>
            <a:off x="640080" y="1371600"/>
            <a:ext cx="10972800" cy="17780"/>
          </a:xfrm>
          <a:prstGeom prst="rect">
            <a:avLst/>
          </a:prstGeom>
          <a:solidFill>
            <a:srgbClr val="C8C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55664"/>
            <a:ext cx="7315200" cy="274320"/>
          </a:xfrm>
          <a:prstGeom prst="rect">
            <a:avLst/>
          </a:prstGeom>
          <a:noFill/>
        </p:spPr>
        <p:txBody>
          <a:bodyPr wrap="square" anchor="t" lIns="0" rIns="0" tIns="0" bIns="0">
            <a:spAutoFit/>
          </a:bodyPr>
          <a:lstStyle/>
          <a:p>
            <a:pPr algn="l">
              <a:spcAft>
                <a:spcPts val="400"/>
              </a:spcAft>
            </a:pPr>
            <a:r>
              <a:rPr sz="950" b="0" i="0">
                <a:solidFill>
                  <a:srgbClr val="5B657A"/>
                </a:solidFill>
                <a:latin typeface="Arial"/>
              </a:rPr>
              <a:t>.opencode multi-agent harness</a:t>
            </a:r>
          </a:p>
        </p:txBody>
      </p:sp>
      <p:sp>
        <p:nvSpPr>
          <p:cNvPr id="8" name="TextBox 7"/>
          <p:cNvSpPr txBox="1"/>
          <p:nvPr/>
        </p:nvSpPr>
        <p:spPr>
          <a:xfrm>
            <a:off x="10424160" y="6455664"/>
            <a:ext cx="1280160" cy="274320"/>
          </a:xfrm>
          <a:prstGeom prst="rect">
            <a:avLst/>
          </a:prstGeom>
          <a:noFill/>
        </p:spPr>
        <p:txBody>
          <a:bodyPr wrap="square" anchor="t" lIns="0" rIns="0" tIns="0" bIns="0">
            <a:spAutoFit/>
          </a:bodyPr>
          <a:lstStyle/>
          <a:p>
            <a:pPr algn="r">
              <a:spcAft>
                <a:spcPts val="400"/>
              </a:spcAft>
            </a:pPr>
            <a:r>
              <a:rPr sz="950" b="0" i="0">
                <a:solidFill>
                  <a:srgbClr val="5B657A"/>
                </a:solidFill>
                <a:latin typeface="Arial"/>
              </a:rPr>
              <a:t>15 / 19</a:t>
            </a:r>
          </a:p>
        </p:txBody>
      </p:sp>
      <p:sp>
        <p:nvSpPr>
          <p:cNvPr id="9" name="TextBox 8"/>
          <p:cNvSpPr txBox="1"/>
          <p:nvPr/>
        </p:nvSpPr>
        <p:spPr>
          <a:xfrm>
            <a:off x="640080" y="1481328"/>
            <a:ext cx="10881360" cy="365760"/>
          </a:xfrm>
          <a:prstGeom prst="rect">
            <a:avLst/>
          </a:prstGeom>
          <a:noFill/>
        </p:spPr>
        <p:txBody>
          <a:bodyPr wrap="square" anchor="t" lIns="0" rIns="0" tIns="0" bIns="0">
            <a:spAutoFit/>
          </a:bodyPr>
          <a:lstStyle/>
          <a:p>
            <a:pPr algn="l">
              <a:spcAft>
                <a:spcPts val="400"/>
              </a:spcAft>
            </a:pPr>
            <a:r>
              <a:rPr sz="1400" b="0" i="0">
                <a:solidFill>
                  <a:srgbClr val="1A202C"/>
                </a:solidFill>
                <a:latin typeface="Arial"/>
              </a:rPr>
              <a:t>Agentic runs are long and context gets compacted. The harness assumes it — and writes everything down.</a:t>
            </a:r>
          </a:p>
        </p:txBody>
      </p:sp>
      <p:sp>
        <p:nvSpPr>
          <p:cNvPr id="10" name="Rounded Rectangle 9"/>
          <p:cNvSpPr/>
          <p:nvPr/>
        </p:nvSpPr>
        <p:spPr>
          <a:xfrm>
            <a:off x="640080" y="2011680"/>
            <a:ext cx="5074920" cy="3291840"/>
          </a:xfrm>
          <a:prstGeom prst="roundRect">
            <a:avLst>
              <a:gd name="adj" fmla="val 4500"/>
            </a:avLst>
          </a:prstGeom>
          <a:solidFill>
            <a:srgbClr val="FFFFFF"/>
          </a:solidFill>
          <a:ln w="1270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2011680"/>
            <a:ext cx="5074920" cy="384048"/>
          </a:xfrm>
          <a:prstGeom prst="roundRect">
            <a:avLst>
              <a:gd name="adj" fmla="val 4500"/>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400" b="1" i="0">
                <a:solidFill>
                  <a:srgbClr val="FFFFFF"/>
                </a:solidFill>
                <a:latin typeface="Arial"/>
              </a:rPr>
              <a:t>The four moves</a:t>
            </a:r>
          </a:p>
        </p:txBody>
      </p:sp>
      <p:sp>
        <p:nvSpPr>
          <p:cNvPr id="12" name="Rectangle 11"/>
          <p:cNvSpPr/>
          <p:nvPr/>
        </p:nvSpPr>
        <p:spPr>
          <a:xfrm>
            <a:off x="640080" y="2313432"/>
            <a:ext cx="5074920" cy="82296"/>
          </a:xfrm>
          <a:prstGeom prst="rect">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2468880"/>
            <a:ext cx="4800600" cy="2761488"/>
          </a:xfrm>
          <a:prstGeom prst="rect">
            <a:avLst/>
          </a:prstGeom>
          <a:noFill/>
        </p:spPr>
        <p:txBody>
          <a:bodyPr wrap="square" anchor="t" lIns="0" rIns="0" tIns="0" bIns="0">
            <a:spAutoFit/>
          </a:bodyPr>
          <a:lstStyle/>
          <a:p>
            <a:pPr algn="l">
              <a:spcAft>
                <a:spcPts val="400"/>
              </a:spcAft>
            </a:pPr>
            <a:r>
              <a:rPr sz="1250" b="0" i="0">
                <a:solidFill>
                  <a:srgbClr val="1A202C"/>
                </a:solidFill>
                <a:latin typeface="Arial"/>
              </a:rPr>
              <a:t>•  File wins over chat — rebuild state from disk every turn</a:t>
            </a:r>
          </a:p>
          <a:p>
            <a:pPr algn="l">
              <a:spcAft>
                <a:spcPts val="400"/>
              </a:spcAft>
            </a:pPr>
            <a:r>
              <a:rPr sz="1250" b="0" i="0">
                <a:solidFill>
                  <a:srgbClr val="1A202C"/>
                </a:solidFill>
                <a:latin typeface="Arial"/>
              </a:rPr>
              <a:t>•  current_task.json = the manager's source of truth</a:t>
            </a:r>
          </a:p>
          <a:p>
            <a:pPr algn="l">
              <a:spcAft>
                <a:spcPts val="400"/>
              </a:spcAft>
            </a:pPr>
            <a:r>
              <a:rPr sz="1250" b="0" i="0">
                <a:solidFill>
                  <a:srgbClr val="1A202C"/>
                </a:solidFill>
                <a:latin typeface="Arial"/>
              </a:rPr>
              <a:t>•  Write to disk BEFORE acting (and before asking a human)</a:t>
            </a:r>
          </a:p>
          <a:p>
            <a:pPr algn="l">
              <a:spcAft>
                <a:spcPts val="400"/>
              </a:spcAft>
            </a:pPr>
            <a:r>
              <a:rPr sz="1250" b="0" i="0">
                <a:solidFill>
                  <a:srgbClr val="1A202C"/>
                </a:solidFill>
                <a:latin typeface="Arial"/>
              </a:rPr>
              <a:t>•  Verbatim ANCHOR block each turn so recency survives compaction</a:t>
            </a:r>
          </a:p>
          <a:p>
            <a:pPr algn="l">
              <a:spcAft>
                <a:spcPts val="400"/>
              </a:spcAft>
            </a:pPr>
            <a:r>
              <a:rPr sz="1250" b="0" i="0">
                <a:solidFill>
                  <a:srgbClr val="1A202C"/>
                </a:solidFill>
                <a:latin typeface="Arial"/>
              </a:rPr>
              <a:t>•  Resume a dead session straight from the state files</a:t>
            </a:r>
          </a:p>
        </p:txBody>
      </p:sp>
      <p:sp>
        <p:nvSpPr>
          <p:cNvPr id="14" name="Rounded Rectangle 13"/>
          <p:cNvSpPr/>
          <p:nvPr/>
        </p:nvSpPr>
        <p:spPr>
          <a:xfrm>
            <a:off x="5925312" y="2011680"/>
            <a:ext cx="5623560" cy="3291840"/>
          </a:xfrm>
          <a:prstGeom prst="roundRect">
            <a:avLst>
              <a:gd name="adj" fmla="val 4000"/>
            </a:avLst>
          </a:prstGeom>
          <a:solidFill>
            <a:srgbClr val="1E24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2121408"/>
            <a:ext cx="5303520" cy="274320"/>
          </a:xfrm>
          <a:prstGeom prst="rect">
            <a:avLst/>
          </a:prstGeom>
          <a:noFill/>
        </p:spPr>
        <p:txBody>
          <a:bodyPr wrap="square" anchor="t" lIns="0" rIns="0" tIns="0" bIns="0">
            <a:spAutoFit/>
          </a:bodyPr>
          <a:lstStyle/>
          <a:p>
            <a:pPr algn="l">
              <a:spcAft>
                <a:spcPts val="400"/>
              </a:spcAft>
            </a:pPr>
            <a:r>
              <a:rPr sz="1100" b="1" i="0">
                <a:solidFill>
                  <a:srgbClr val="8FB8FF"/>
                </a:solidFill>
                <a:latin typeface="Consolas"/>
              </a:rPr>
              <a:t>.opencode/state/current_task.json</a:t>
            </a:r>
          </a:p>
        </p:txBody>
      </p:sp>
      <p:sp>
        <p:nvSpPr>
          <p:cNvPr id="16" name="TextBox 15"/>
          <p:cNvSpPr txBox="1"/>
          <p:nvPr/>
        </p:nvSpPr>
        <p:spPr>
          <a:xfrm>
            <a:off x="6126480" y="2468880"/>
            <a:ext cx="5303520" cy="2743200"/>
          </a:xfrm>
          <a:prstGeom prst="rect">
            <a:avLst/>
          </a:prstGeom>
          <a:noFill/>
        </p:spPr>
        <p:txBody>
          <a:bodyPr wrap="square" anchor="t" lIns="0" rIns="0" tIns="0" bIns="0">
            <a:spAutoFit/>
          </a:bodyPr>
          <a:lstStyle/>
          <a:p>
            <a:pPr algn="l">
              <a:spcAft>
                <a:spcPts val="200"/>
              </a:spcAft>
            </a:pPr>
            <a:r>
              <a:rPr sz="1150" b="0" i="0">
                <a:solidFill>
                  <a:srgbClr val="CFD8EA"/>
                </a:solidFill>
                <a:latin typeface="Consolas"/>
              </a:rPr>
              <a:t>"current_stage": "code_review",</a:t>
            </a:r>
          </a:p>
          <a:p>
            <a:pPr algn="l">
              <a:spcAft>
                <a:spcPts val="200"/>
              </a:spcAft>
            </a:pPr>
            <a:r>
              <a:rPr sz="1150" b="0" i="0">
                <a:solidFill>
                  <a:srgbClr val="CFD8EA"/>
                </a:solidFill>
                <a:latin typeface="Consolas"/>
              </a:rPr>
              <a:t>"profile": "hyperhold_full",</a:t>
            </a:r>
          </a:p>
          <a:p>
            <a:pPr algn="l">
              <a:spcAft>
                <a:spcPts val="200"/>
              </a:spcAft>
            </a:pPr>
            <a:r>
              <a:rPr sz="1150" b="0" i="0">
                <a:solidFill>
                  <a:srgbClr val="CFD8EA"/>
                </a:solidFill>
                <a:latin typeface="Consolas"/>
              </a:rPr>
              <a:t>"active_agent": "kernel-code-reviewer",</a:t>
            </a:r>
          </a:p>
          <a:p>
            <a:pPr algn="l">
              <a:spcAft>
                <a:spcPts val="200"/>
              </a:spcAft>
            </a:pPr>
            <a:r>
              <a:rPr sz="1150" b="0" i="0">
                <a:solidFill>
                  <a:srgbClr val="CFD8EA"/>
                </a:solidFill>
                <a:latin typeface="Consolas"/>
              </a:rPr>
              <a:t>"gates_passed": ["plan_review:iter1"],</a:t>
            </a:r>
          </a:p>
          <a:p>
            <a:pPr algn="l">
              <a:spcAft>
                <a:spcPts val="200"/>
              </a:spcAft>
            </a:pPr>
            <a:r>
              <a:rPr sz="1150" b="0" i="0">
                <a:solidFill>
                  <a:srgbClr val="CFD8EA"/>
                </a:solidFill>
                <a:latin typeface="Consolas"/>
              </a:rPr>
              <a:t>"pending_action": {</a:t>
            </a:r>
          </a:p>
          <a:p>
            <a:pPr algn="l">
              <a:spcAft>
                <a:spcPts val="200"/>
              </a:spcAft>
            </a:pPr>
            <a:r>
              <a:rPr sz="1150" b="0" i="0">
                <a:solidFill>
                  <a:srgbClr val="CFD8EA"/>
                </a:solidFill>
                <a:latin typeface="Consolas"/>
              </a:rPr>
              <a:t>    "next_agent": "kernel-tester-agent",</a:t>
            </a:r>
          </a:p>
          <a:p>
            <a:pPr algn="l">
              <a:spcAft>
                <a:spcPts val="200"/>
              </a:spcAft>
            </a:pPr>
            <a:r>
              <a:rPr sz="1150" b="0" i="0">
                <a:solidFill>
                  <a:srgbClr val="CFD8EA"/>
                </a:solidFill>
                <a:latin typeface="Consolas"/>
              </a:rPr>
              <a:t>    "expected_artifact": "..._validation.md"</a:t>
            </a:r>
          </a:p>
          <a:p>
            <a:pPr algn="l">
              <a:spcAft>
                <a:spcPts val="200"/>
              </a:spcAft>
            </a:pPr>
            <a:r>
              <a:rPr sz="1150" b="0" i="0">
                <a:solidFill>
                  <a:srgbClr val="CFD8EA"/>
                </a:solidFill>
                <a:latin typeface="Consolas"/>
              </a:rPr>
              <a:t>},</a:t>
            </a:r>
          </a:p>
          <a:p>
            <a:pPr algn="l">
              <a:spcAft>
                <a:spcPts val="200"/>
              </a:spcAft>
            </a:pPr>
            <a:r>
              <a:rPr sz="1150" b="0" i="0">
                <a:solidFill>
                  <a:srgbClr val="CFD8EA"/>
                </a:solidFill>
                <a:latin typeface="Consolas"/>
              </a:rPr>
              <a:t>"auto_iterate": { "current_iteration": 1,</a:t>
            </a:r>
          </a:p>
          <a:p>
            <a:pPr algn="l">
              <a:spcAft>
                <a:spcPts val="200"/>
              </a:spcAft>
            </a:pPr>
            <a:r>
              <a:rPr sz="1150" b="0" i="0">
                <a:solidFill>
                  <a:srgbClr val="CFD8EA"/>
                </a:solidFill>
                <a:latin typeface="Consolas"/>
              </a:rPr>
              <a:t>    "iteration_history": [...] }</a:t>
            </a:r>
          </a:p>
        </p:txBody>
      </p:sp>
      <p:sp>
        <p:nvSpPr>
          <p:cNvPr id="17" name="TextBox 16"/>
          <p:cNvSpPr txBox="1"/>
          <p:nvPr/>
        </p:nvSpPr>
        <p:spPr>
          <a:xfrm>
            <a:off x="640080" y="5486400"/>
            <a:ext cx="10881360" cy="365760"/>
          </a:xfrm>
          <a:prstGeom prst="rect">
            <a:avLst/>
          </a:prstGeom>
          <a:noFill/>
        </p:spPr>
        <p:txBody>
          <a:bodyPr wrap="square" anchor="t" lIns="0" rIns="0" tIns="0" bIns="0">
            <a:spAutoFit/>
          </a:bodyPr>
          <a:lstStyle/>
          <a:p>
            <a:pPr algn="l">
              <a:spcAft>
                <a:spcPts val="400"/>
              </a:spcAft>
            </a:pPr>
            <a:r>
              <a:rPr sz="1150" b="0" i="1">
                <a:solidFill>
                  <a:srgbClr val="5B657A"/>
                </a:solidFill>
                <a:latin typeface="Arial"/>
              </a:rPr>
              <a:t>Same idea across the harness: compact handoffs, the idea ledger, and the decision log all exist so nothing is lost.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320040"/>
          </a:xfrm>
          <a:prstGeom prst="rect">
            <a:avLst/>
          </a:prstGeom>
          <a:noFill/>
        </p:spPr>
        <p:txBody>
          <a:bodyPr wrap="square" anchor="t" lIns="0" rIns="0" tIns="0" bIns="0">
            <a:spAutoFit/>
          </a:bodyPr>
          <a:lstStyle/>
          <a:p>
            <a:pPr algn="l">
              <a:spcAft>
                <a:spcPts val="400"/>
              </a:spcAft>
            </a:pPr>
            <a:r>
              <a:rPr sz="1250" b="1" i="0">
                <a:solidFill>
                  <a:srgbClr val="14A096"/>
                </a:solidFill>
                <a:latin typeface="Arial"/>
              </a:rPr>
              <a:t>THE TOOLBELT</a:t>
            </a:r>
          </a:p>
        </p:txBody>
      </p:sp>
      <p:sp>
        <p:nvSpPr>
          <p:cNvPr id="5" name="TextBox 4"/>
          <p:cNvSpPr txBox="1"/>
          <p:nvPr/>
        </p:nvSpPr>
        <p:spPr>
          <a:xfrm>
            <a:off x="640080" y="658368"/>
            <a:ext cx="10972800" cy="731520"/>
          </a:xfrm>
          <a:prstGeom prst="rect">
            <a:avLst/>
          </a:prstGeom>
          <a:noFill/>
        </p:spPr>
        <p:txBody>
          <a:bodyPr wrap="square" anchor="t" lIns="0" rIns="0" tIns="0" bIns="0">
            <a:spAutoFit/>
          </a:bodyPr>
          <a:lstStyle/>
          <a:p>
            <a:pPr algn="l">
              <a:spcAft>
                <a:spcPts val="400"/>
              </a:spcAft>
            </a:pPr>
            <a:r>
              <a:rPr sz="3000" b="1" i="0">
                <a:solidFill>
                  <a:srgbClr val="2B368C"/>
                </a:solidFill>
                <a:latin typeface="Arial"/>
              </a:rPr>
              <a:t>The MCP servers agents call</a:t>
            </a:r>
          </a:p>
        </p:txBody>
      </p:sp>
      <p:sp>
        <p:nvSpPr>
          <p:cNvPr id="6" name="Rectangle 5"/>
          <p:cNvSpPr/>
          <p:nvPr/>
        </p:nvSpPr>
        <p:spPr>
          <a:xfrm>
            <a:off x="640080" y="1371600"/>
            <a:ext cx="10972800" cy="17780"/>
          </a:xfrm>
          <a:prstGeom prst="rect">
            <a:avLst/>
          </a:prstGeom>
          <a:solidFill>
            <a:srgbClr val="C8C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55664"/>
            <a:ext cx="7315200" cy="274320"/>
          </a:xfrm>
          <a:prstGeom prst="rect">
            <a:avLst/>
          </a:prstGeom>
          <a:noFill/>
        </p:spPr>
        <p:txBody>
          <a:bodyPr wrap="square" anchor="t" lIns="0" rIns="0" tIns="0" bIns="0">
            <a:spAutoFit/>
          </a:bodyPr>
          <a:lstStyle/>
          <a:p>
            <a:pPr algn="l">
              <a:spcAft>
                <a:spcPts val="400"/>
              </a:spcAft>
            </a:pPr>
            <a:r>
              <a:rPr sz="950" b="0" i="0">
                <a:solidFill>
                  <a:srgbClr val="5B657A"/>
                </a:solidFill>
                <a:latin typeface="Arial"/>
              </a:rPr>
              <a:t>.opencode multi-agent harness</a:t>
            </a:r>
          </a:p>
        </p:txBody>
      </p:sp>
      <p:sp>
        <p:nvSpPr>
          <p:cNvPr id="8" name="TextBox 7"/>
          <p:cNvSpPr txBox="1"/>
          <p:nvPr/>
        </p:nvSpPr>
        <p:spPr>
          <a:xfrm>
            <a:off x="10424160" y="6455664"/>
            <a:ext cx="1280160" cy="274320"/>
          </a:xfrm>
          <a:prstGeom prst="rect">
            <a:avLst/>
          </a:prstGeom>
          <a:noFill/>
        </p:spPr>
        <p:txBody>
          <a:bodyPr wrap="square" anchor="t" lIns="0" rIns="0" tIns="0" bIns="0">
            <a:spAutoFit/>
          </a:bodyPr>
          <a:lstStyle/>
          <a:p>
            <a:pPr algn="r">
              <a:spcAft>
                <a:spcPts val="400"/>
              </a:spcAft>
            </a:pPr>
            <a:r>
              <a:rPr sz="950" b="0" i="0">
                <a:solidFill>
                  <a:srgbClr val="5B657A"/>
                </a:solidFill>
                <a:latin typeface="Arial"/>
              </a:rPr>
              <a:t>16 / 19</a:t>
            </a:r>
          </a:p>
        </p:txBody>
      </p:sp>
      <p:graphicFrame>
        <p:nvGraphicFramePr>
          <p:cNvPr id="9" name="Table 8"/>
          <p:cNvGraphicFramePr>
            <a:graphicFrameLocks noGrp="1"/>
          </p:cNvGraphicFramePr>
          <p:nvPr/>
        </p:nvGraphicFramePr>
        <p:xfrm>
          <a:off x="640080" y="1874519"/>
          <a:ext cx="10908792" cy="3108959"/>
        </p:xfrm>
        <a:graphic>
          <a:graphicData uri="http://schemas.openxmlformats.org/drawingml/2006/table">
            <a:tbl>
              <a:tblPr firstRow="1">
                <a:tableStyleId>{5C22544A-7EE6-4342-B048-85BDC9FD1C3A}</a:tableStyleId>
              </a:tblPr>
              <a:tblGrid>
                <a:gridCol w="2651760"/>
                <a:gridCol w="1005840"/>
                <a:gridCol w="7251192"/>
              </a:tblGrid>
              <a:tr h="444137">
                <a:tc>
                  <a:txBody>
                    <a:bodyPr wrap="square"/>
                    <a:lstStyle/>
                    <a:p>
                      <a:pPr algn="l"/>
                      <a:r>
                        <a:rPr sz="1250" b="1">
                          <a:solidFill>
                            <a:srgbClr val="FFFFFF"/>
                          </a:solidFill>
                          <a:latin typeface="Arial"/>
                        </a:rPr>
                        <a:t>MCP server</a:t>
                      </a:r>
                    </a:p>
                  </a:txBody>
                  <a:tcPr marL="73152" marR="73152" marT="18288" marB="18288" anchor="ctr">
                    <a:solidFill>
                      <a:srgbClr val="2B368C"/>
                    </a:solidFill>
                  </a:tcPr>
                </a:tc>
                <a:tc>
                  <a:txBody>
                    <a:bodyPr wrap="square"/>
                    <a:lstStyle/>
                    <a:p>
                      <a:pPr algn="l"/>
                      <a:r>
                        <a:rPr sz="1250" b="1">
                          <a:solidFill>
                            <a:srgbClr val="FFFFFF"/>
                          </a:solidFill>
                          <a:latin typeface="Arial"/>
                        </a:rPr>
                        <a:t>Port</a:t>
                      </a:r>
                    </a:p>
                  </a:txBody>
                  <a:tcPr marL="73152" marR="73152" marT="18288" marB="18288" anchor="ctr">
                    <a:solidFill>
                      <a:srgbClr val="2B368C"/>
                    </a:solidFill>
                  </a:tcPr>
                </a:tc>
                <a:tc>
                  <a:txBody>
                    <a:bodyPr wrap="square"/>
                    <a:lstStyle/>
                    <a:p>
                      <a:pPr algn="l"/>
                      <a:r>
                        <a:rPr sz="1250" b="1">
                          <a:solidFill>
                            <a:srgbClr val="FFFFFF"/>
                          </a:solidFill>
                          <a:latin typeface="Arial"/>
                        </a:rPr>
                        <a:t>What agents use it for</a:t>
                      </a:r>
                    </a:p>
                  </a:txBody>
                  <a:tcPr marL="73152" marR="73152" marT="18288" marB="18288" anchor="ctr">
                    <a:solidFill>
                      <a:srgbClr val="2B368C"/>
                    </a:solidFill>
                  </a:tcPr>
                </a:tc>
              </a:tr>
              <a:tr h="444137">
                <a:tc>
                  <a:txBody>
                    <a:bodyPr wrap="square"/>
                    <a:lstStyle/>
                    <a:p>
                      <a:pPr algn="l"/>
                      <a:r>
                        <a:rPr sz="1250" b="1">
                          <a:solidFill>
                            <a:srgbClr val="1A202C"/>
                          </a:solidFill>
                          <a:latin typeface="Arial"/>
                        </a:rPr>
                        <a:t>Sequential Thinking</a:t>
                      </a:r>
                    </a:p>
                  </a:txBody>
                  <a:tcPr marL="73152" marR="73152" marT="18288" marB="18288" anchor="ctr">
                    <a:solidFill>
                      <a:srgbClr val="FFFFFF"/>
                    </a:solidFill>
                  </a:tcPr>
                </a:tc>
                <a:tc>
                  <a:txBody>
                    <a:bodyPr wrap="square"/>
                    <a:lstStyle/>
                    <a:p>
                      <a:pPr algn="l"/>
                      <a:r>
                        <a:rPr sz="1250" b="0">
                          <a:solidFill>
                            <a:srgbClr val="1A202C"/>
                          </a:solidFill>
                          <a:latin typeface="Arial"/>
                        </a:rPr>
                        <a:t>7333</a:t>
                      </a:r>
                    </a:p>
                  </a:txBody>
                  <a:tcPr marL="73152" marR="73152" marT="18288" marB="18288" anchor="ctr">
                    <a:solidFill>
                      <a:srgbClr val="FFFFFF"/>
                    </a:solidFill>
                  </a:tcPr>
                </a:tc>
                <a:tc>
                  <a:txBody>
                    <a:bodyPr wrap="square"/>
                    <a:lstStyle/>
                    <a:p>
                      <a:pPr algn="l"/>
                      <a:r>
                        <a:rPr sz="1250" b="0">
                          <a:solidFill>
                            <a:srgbClr val="1A202C"/>
                          </a:solidFill>
                          <a:latin typeface="Arial"/>
                        </a:rPr>
                        <a:t>Decompose &amp; plan before acting (used first)</a:t>
                      </a:r>
                    </a:p>
                  </a:txBody>
                  <a:tcPr marL="73152" marR="73152" marT="18288" marB="18288" anchor="ctr">
                    <a:solidFill>
                      <a:srgbClr val="FFFFFF"/>
                    </a:solidFill>
                  </a:tcPr>
                </a:tc>
              </a:tr>
              <a:tr h="444137">
                <a:tc>
                  <a:txBody>
                    <a:bodyPr wrap="square"/>
                    <a:lstStyle/>
                    <a:p>
                      <a:pPr algn="l"/>
                      <a:r>
                        <a:rPr sz="1250" b="1">
                          <a:solidFill>
                            <a:srgbClr val="1A202C"/>
                          </a:solidFill>
                          <a:latin typeface="Arial"/>
                        </a:rPr>
                        <a:t>Kernel Index</a:t>
                      </a:r>
                    </a:p>
                  </a:txBody>
                  <a:tcPr marL="73152" marR="73152" marT="18288" marB="18288" anchor="ctr">
                    <a:solidFill>
                      <a:srgbClr val="EEF1F8"/>
                    </a:solidFill>
                  </a:tcPr>
                </a:tc>
                <a:tc>
                  <a:txBody>
                    <a:bodyPr wrap="square"/>
                    <a:lstStyle/>
                    <a:p>
                      <a:pPr algn="l"/>
                      <a:r>
                        <a:rPr sz="1250" b="0">
                          <a:solidFill>
                            <a:srgbClr val="1A202C"/>
                          </a:solidFill>
                          <a:latin typeface="Arial"/>
                        </a:rPr>
                        <a:t>7331</a:t>
                      </a:r>
                    </a:p>
                  </a:txBody>
                  <a:tcPr marL="73152" marR="73152" marT="18288" marB="18288" anchor="ctr">
                    <a:solidFill>
                      <a:srgbClr val="EEF1F8"/>
                    </a:solidFill>
                  </a:tcPr>
                </a:tc>
                <a:tc>
                  <a:txBody>
                    <a:bodyPr wrap="square"/>
                    <a:lstStyle/>
                    <a:p>
                      <a:pPr algn="l"/>
                      <a:r>
                        <a:rPr sz="1250" b="0">
                          <a:solidFill>
                            <a:srgbClr val="1A202C"/>
                          </a:solidFill>
                          <a:latin typeface="Arial"/>
                        </a:rPr>
                        <a:t>Symbol graph, call-chain, snippets, impact radius</a:t>
                      </a:r>
                    </a:p>
                  </a:txBody>
                  <a:tcPr marL="73152" marR="73152" marT="18288" marB="18288" anchor="ctr">
                    <a:solidFill>
                      <a:srgbClr val="EEF1F8"/>
                    </a:solidFill>
                  </a:tcPr>
                </a:tc>
              </a:tr>
              <a:tr h="444137">
                <a:tc>
                  <a:txBody>
                    <a:bodyPr wrap="square"/>
                    <a:lstStyle/>
                    <a:p>
                      <a:pPr algn="l"/>
                      <a:r>
                        <a:rPr sz="1250" b="1">
                          <a:solidFill>
                            <a:srgbClr val="1A202C"/>
                          </a:solidFill>
                          <a:latin typeface="Arial"/>
                        </a:rPr>
                        <a:t>Build</a:t>
                      </a:r>
                    </a:p>
                  </a:txBody>
                  <a:tcPr marL="73152" marR="73152" marT="18288" marB="18288" anchor="ctr">
                    <a:solidFill>
                      <a:srgbClr val="FFFFFF"/>
                    </a:solidFill>
                  </a:tcPr>
                </a:tc>
                <a:tc>
                  <a:txBody>
                    <a:bodyPr wrap="square"/>
                    <a:lstStyle/>
                    <a:p>
                      <a:pPr algn="l"/>
                      <a:r>
                        <a:rPr sz="1250" b="0">
                          <a:solidFill>
                            <a:srgbClr val="1A202C"/>
                          </a:solidFill>
                          <a:latin typeface="Arial"/>
                        </a:rPr>
                        <a:t>7335</a:t>
                      </a:r>
                    </a:p>
                  </a:txBody>
                  <a:tcPr marL="73152" marR="73152" marT="18288" marB="18288" anchor="ctr">
                    <a:solidFill>
                      <a:srgbClr val="FFFFFF"/>
                    </a:solidFill>
                  </a:tcPr>
                </a:tc>
                <a:tc>
                  <a:txBody>
                    <a:bodyPr wrap="square"/>
                    <a:lstStyle/>
                    <a:p>
                      <a:pPr algn="l"/>
                      <a:r>
                        <a:rPr sz="1250" b="0">
                          <a:solidFill>
                            <a:srgbClr val="1A202C"/>
                          </a:solidFill>
                          <a:latin typeface="Arial"/>
                        </a:rPr>
                        <a:t>kernel_build_trigger + kernel_sign_trigger (feature image)</a:t>
                      </a:r>
                    </a:p>
                  </a:txBody>
                  <a:tcPr marL="73152" marR="73152" marT="18288" marB="18288" anchor="ctr">
                    <a:solidFill>
                      <a:srgbClr val="FFFFFF"/>
                    </a:solidFill>
                  </a:tcPr>
                </a:tc>
              </a:tr>
              <a:tr h="444137">
                <a:tc>
                  <a:txBody>
                    <a:bodyPr wrap="square"/>
                    <a:lstStyle/>
                    <a:p>
                      <a:pPr algn="l"/>
                      <a:r>
                        <a:rPr sz="1250" b="1">
                          <a:solidFill>
                            <a:srgbClr val="1A202C"/>
                          </a:solidFill>
                          <a:latin typeface="Arial"/>
                        </a:rPr>
                        <a:t>Flash</a:t>
                      </a:r>
                    </a:p>
                  </a:txBody>
                  <a:tcPr marL="73152" marR="73152" marT="18288" marB="18288" anchor="ctr">
                    <a:solidFill>
                      <a:srgbClr val="EEF1F8"/>
                    </a:solidFill>
                  </a:tcPr>
                </a:tc>
                <a:tc>
                  <a:txBody>
                    <a:bodyPr wrap="square"/>
                    <a:lstStyle/>
                    <a:p>
                      <a:pPr algn="l"/>
                      <a:r>
                        <a:rPr sz="1250" b="0">
                          <a:solidFill>
                            <a:srgbClr val="1A202C"/>
                          </a:solidFill>
                          <a:latin typeface="Arial"/>
                        </a:rPr>
                        <a:t>7337</a:t>
                      </a:r>
                    </a:p>
                  </a:txBody>
                  <a:tcPr marL="73152" marR="73152" marT="18288" marB="18288" anchor="ctr">
                    <a:solidFill>
                      <a:srgbClr val="EEF1F8"/>
                    </a:solidFill>
                  </a:tcPr>
                </a:tc>
                <a:tc>
                  <a:txBody>
                    <a:bodyPr wrap="square"/>
                    <a:lstStyle/>
                    <a:p>
                      <a:pPr algn="l"/>
                      <a:r>
                        <a:rPr sz="1250" b="0">
                          <a:solidFill>
                            <a:srgbClr val="1A202C"/>
                          </a:solidFill>
                          <a:latin typeface="Arial"/>
                        </a:rPr>
                        <a:t>Flash stock/feature images via the Windows relay (:9100)</a:t>
                      </a:r>
                    </a:p>
                  </a:txBody>
                  <a:tcPr marL="73152" marR="73152" marT="18288" marB="18288" anchor="ctr">
                    <a:solidFill>
                      <a:srgbClr val="EEF1F8"/>
                    </a:solidFill>
                  </a:tcPr>
                </a:tc>
              </a:tr>
              <a:tr h="444137">
                <a:tc>
                  <a:txBody>
                    <a:bodyPr wrap="square"/>
                    <a:lstStyle/>
                    <a:p>
                      <a:pPr algn="l"/>
                      <a:r>
                        <a:rPr sz="1250" b="1">
                          <a:solidFill>
                            <a:srgbClr val="1A202C"/>
                          </a:solidFill>
                          <a:latin typeface="Arial"/>
                        </a:rPr>
                        <a:t>Auto-Test</a:t>
                      </a:r>
                    </a:p>
                  </a:txBody>
                  <a:tcPr marL="73152" marR="73152" marT="18288" marB="18288" anchor="ctr">
                    <a:solidFill>
                      <a:srgbClr val="FFFFFF"/>
                    </a:solidFill>
                  </a:tcPr>
                </a:tc>
                <a:tc>
                  <a:txBody>
                    <a:bodyPr wrap="square"/>
                    <a:lstStyle/>
                    <a:p>
                      <a:pPr algn="l"/>
                      <a:r>
                        <a:rPr sz="1250" b="0">
                          <a:solidFill>
                            <a:srgbClr val="1A202C"/>
                          </a:solidFill>
                          <a:latin typeface="Arial"/>
                        </a:rPr>
                        <a:t>7336</a:t>
                      </a:r>
                    </a:p>
                  </a:txBody>
                  <a:tcPr marL="73152" marR="73152" marT="18288" marB="18288" anchor="ctr">
                    <a:solidFill>
                      <a:srgbClr val="FFFFFF"/>
                    </a:solidFill>
                  </a:tcPr>
                </a:tc>
                <a:tc>
                  <a:txBody>
                    <a:bodyPr wrap="square"/>
                    <a:lstStyle/>
                    <a:p>
                      <a:pPr algn="l"/>
                      <a:r>
                        <a:rPr sz="1250" b="0">
                          <a:solidFill>
                            <a:srgbClr val="1A202C"/>
                          </a:solidFill>
                          <a:latin typeface="Arial"/>
                        </a:rPr>
                        <a:t>run_instruction_test_async + compare_reports_async</a:t>
                      </a:r>
                    </a:p>
                  </a:txBody>
                  <a:tcPr marL="73152" marR="73152" marT="18288" marB="18288" anchor="ctr">
                    <a:solidFill>
                      <a:srgbClr val="FFFFFF"/>
                    </a:solidFill>
                  </a:tcPr>
                </a:tc>
              </a:tr>
              <a:tr h="444137">
                <a:tc>
                  <a:txBody>
                    <a:bodyPr wrap="square"/>
                    <a:lstStyle/>
                    <a:p>
                      <a:pPr algn="l"/>
                      <a:r>
                        <a:rPr sz="1250" b="1">
                          <a:solidFill>
                            <a:srgbClr val="1A202C"/>
                          </a:solidFill>
                          <a:latin typeface="Arial"/>
                        </a:rPr>
                        <a:t>Git</a:t>
                      </a:r>
                    </a:p>
                  </a:txBody>
                  <a:tcPr marL="73152" marR="73152" marT="18288" marB="18288" anchor="ctr">
                    <a:solidFill>
                      <a:srgbClr val="EEF1F8"/>
                    </a:solidFill>
                  </a:tcPr>
                </a:tc>
                <a:tc>
                  <a:txBody>
                    <a:bodyPr wrap="square"/>
                    <a:lstStyle/>
                    <a:p>
                      <a:pPr algn="l"/>
                      <a:r>
                        <a:rPr sz="1250" b="0">
                          <a:solidFill>
                            <a:srgbClr val="1A202C"/>
                          </a:solidFill>
                          <a:latin typeface="Arial"/>
                        </a:rPr>
                        <a:t>7334</a:t>
                      </a:r>
                    </a:p>
                  </a:txBody>
                  <a:tcPr marL="73152" marR="73152" marT="18288" marB="18288" anchor="ctr">
                    <a:solidFill>
                      <a:srgbClr val="EEF1F8"/>
                    </a:solidFill>
                  </a:tcPr>
                </a:tc>
                <a:tc>
                  <a:txBody>
                    <a:bodyPr wrap="square"/>
                    <a:lstStyle/>
                    <a:p>
                      <a:pPr algn="l"/>
                      <a:r>
                        <a:rPr sz="1250" b="0">
                          <a:solidFill>
                            <a:srgbClr val="1A202C"/>
                          </a:solidFill>
                          <a:latin typeface="Arial"/>
                        </a:rPr>
                        <a:t>Diff / working-tree state for the coder &amp; reviewers</a:t>
                      </a:r>
                    </a:p>
                  </a:txBody>
                  <a:tcPr marL="73152" marR="73152" marT="18288" marB="18288" anchor="ctr">
                    <a:solidFill>
                      <a:srgbClr val="EEF1F8"/>
                    </a:solidFill>
                  </a:tcPr>
                </a:tc>
              </a:tr>
            </a:tbl>
          </a:graphicData>
        </a:graphic>
      </p:graphicFrame>
      <p:sp>
        <p:nvSpPr>
          <p:cNvPr id="10" name="TextBox 9"/>
          <p:cNvSpPr txBox="1"/>
          <p:nvPr/>
        </p:nvSpPr>
        <p:spPr>
          <a:xfrm>
            <a:off x="640080" y="5257800"/>
            <a:ext cx="10881360" cy="365760"/>
          </a:xfrm>
          <a:prstGeom prst="rect">
            <a:avLst/>
          </a:prstGeom>
          <a:noFill/>
        </p:spPr>
        <p:txBody>
          <a:bodyPr wrap="square" anchor="t" lIns="0" rIns="0" tIns="0" bIns="0">
            <a:spAutoFit/>
          </a:bodyPr>
          <a:lstStyle/>
          <a:p>
            <a:pPr algn="l">
              <a:spcAft>
                <a:spcPts val="400"/>
              </a:spcAft>
            </a:pPr>
            <a:r>
              <a:rPr sz="1150" b="0" i="1">
                <a:solidFill>
                  <a:srgbClr val="5B657A"/>
                </a:solidFill>
                <a:latin typeface="Arial"/>
              </a:rPr>
              <a:t>The Kernel Index MCP is itself built by the hmopt platform (hmopt index-kernel: clangd + LlamaIndex) — the cleanest platform↔harness seam.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320040"/>
          </a:xfrm>
          <a:prstGeom prst="rect">
            <a:avLst/>
          </a:prstGeom>
          <a:noFill/>
        </p:spPr>
        <p:txBody>
          <a:bodyPr wrap="square" anchor="t" lIns="0" rIns="0" tIns="0" bIns="0">
            <a:spAutoFit/>
          </a:bodyPr>
          <a:lstStyle/>
          <a:p>
            <a:pPr algn="l">
              <a:spcAft>
                <a:spcPts val="400"/>
              </a:spcAft>
            </a:pPr>
            <a:r>
              <a:rPr sz="1250" b="1" i="0">
                <a:solidFill>
                  <a:srgbClr val="14A096"/>
                </a:solidFill>
                <a:latin typeface="Arial"/>
              </a:rPr>
              <a:t>HOW TO USE IT</a:t>
            </a:r>
          </a:p>
        </p:txBody>
      </p:sp>
      <p:sp>
        <p:nvSpPr>
          <p:cNvPr id="5" name="TextBox 4"/>
          <p:cNvSpPr txBox="1"/>
          <p:nvPr/>
        </p:nvSpPr>
        <p:spPr>
          <a:xfrm>
            <a:off x="640080" y="658368"/>
            <a:ext cx="10972800" cy="731520"/>
          </a:xfrm>
          <a:prstGeom prst="rect">
            <a:avLst/>
          </a:prstGeom>
          <a:noFill/>
        </p:spPr>
        <p:txBody>
          <a:bodyPr wrap="square" anchor="t" lIns="0" rIns="0" tIns="0" bIns="0">
            <a:spAutoFit/>
          </a:bodyPr>
          <a:lstStyle/>
          <a:p>
            <a:pPr algn="l">
              <a:spcAft>
                <a:spcPts val="400"/>
              </a:spcAft>
            </a:pPr>
            <a:r>
              <a:rPr sz="3000" b="1" i="0">
                <a:solidFill>
                  <a:srgbClr val="2B368C"/>
                </a:solidFill>
                <a:latin typeface="Arial"/>
              </a:rPr>
              <a:t>Running a pipeline: presets + slash commands</a:t>
            </a:r>
          </a:p>
        </p:txBody>
      </p:sp>
      <p:sp>
        <p:nvSpPr>
          <p:cNvPr id="6" name="Rectangle 5"/>
          <p:cNvSpPr/>
          <p:nvPr/>
        </p:nvSpPr>
        <p:spPr>
          <a:xfrm>
            <a:off x="640080" y="1371600"/>
            <a:ext cx="10972800" cy="17780"/>
          </a:xfrm>
          <a:prstGeom prst="rect">
            <a:avLst/>
          </a:prstGeom>
          <a:solidFill>
            <a:srgbClr val="C8C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55664"/>
            <a:ext cx="7315200" cy="274320"/>
          </a:xfrm>
          <a:prstGeom prst="rect">
            <a:avLst/>
          </a:prstGeom>
          <a:noFill/>
        </p:spPr>
        <p:txBody>
          <a:bodyPr wrap="square" anchor="t" lIns="0" rIns="0" tIns="0" bIns="0">
            <a:spAutoFit/>
          </a:bodyPr>
          <a:lstStyle/>
          <a:p>
            <a:pPr algn="l">
              <a:spcAft>
                <a:spcPts val="400"/>
              </a:spcAft>
            </a:pPr>
            <a:r>
              <a:rPr sz="950" b="0" i="0">
                <a:solidFill>
                  <a:srgbClr val="5B657A"/>
                </a:solidFill>
                <a:latin typeface="Arial"/>
              </a:rPr>
              <a:t>.opencode multi-agent harness</a:t>
            </a:r>
          </a:p>
        </p:txBody>
      </p:sp>
      <p:sp>
        <p:nvSpPr>
          <p:cNvPr id="8" name="TextBox 7"/>
          <p:cNvSpPr txBox="1"/>
          <p:nvPr/>
        </p:nvSpPr>
        <p:spPr>
          <a:xfrm>
            <a:off x="10424160" y="6455664"/>
            <a:ext cx="1280160" cy="274320"/>
          </a:xfrm>
          <a:prstGeom prst="rect">
            <a:avLst/>
          </a:prstGeom>
          <a:noFill/>
        </p:spPr>
        <p:txBody>
          <a:bodyPr wrap="square" anchor="t" lIns="0" rIns="0" tIns="0" bIns="0">
            <a:spAutoFit/>
          </a:bodyPr>
          <a:lstStyle/>
          <a:p>
            <a:pPr algn="r">
              <a:spcAft>
                <a:spcPts val="400"/>
              </a:spcAft>
            </a:pPr>
            <a:r>
              <a:rPr sz="950" b="0" i="0">
                <a:solidFill>
                  <a:srgbClr val="5B657A"/>
                </a:solidFill>
                <a:latin typeface="Arial"/>
              </a:rPr>
              <a:t>17 / 19</a:t>
            </a:r>
          </a:p>
        </p:txBody>
      </p:sp>
      <p:sp>
        <p:nvSpPr>
          <p:cNvPr id="9" name="Rounded Rectangle 8"/>
          <p:cNvSpPr/>
          <p:nvPr/>
        </p:nvSpPr>
        <p:spPr>
          <a:xfrm>
            <a:off x="822960" y="1783080"/>
            <a:ext cx="2539746" cy="914400"/>
          </a:xfrm>
          <a:prstGeom prst="roundRect">
            <a:avLst>
              <a:gd name="adj" fmla="val 8000"/>
            </a:avLst>
          </a:prstGeom>
          <a:solidFill>
            <a:srgbClr val="EEF1F8"/>
          </a:solidFill>
          <a:ln w="1524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200" b="0" i="0">
                <a:solidFill>
                  <a:srgbClr val="1A202C"/>
                </a:solidFill>
                <a:latin typeface="Arial"/>
              </a:rPr>
              <a:t>launch opencode
from kernel root</a:t>
            </a:r>
          </a:p>
        </p:txBody>
      </p:sp>
      <p:cxnSp>
        <p:nvCxnSpPr>
          <p:cNvPr id="10" name="Connector 9"/>
          <p:cNvCxnSpPr/>
          <p:nvPr/>
        </p:nvCxnSpPr>
        <p:spPr>
          <a:xfrm>
            <a:off x="3362706" y="2240280"/>
            <a:ext cx="118872" cy="0"/>
          </a:xfrm>
          <a:prstGeom prst="line">
            <a:avLst/>
          </a:prstGeom>
          <a:ln w="27940">
            <a:solidFill>
              <a:srgbClr val="14A09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481578" y="1783080"/>
            <a:ext cx="2539746" cy="914400"/>
          </a:xfrm>
          <a:prstGeom prst="roundRect">
            <a:avLst>
              <a:gd name="adj" fmla="val 8000"/>
            </a:avLst>
          </a:prstGeom>
          <a:solidFill>
            <a:srgbClr val="E3F3F1"/>
          </a:solidFill>
          <a:ln w="1524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200" b="1" i="0">
                <a:solidFill>
                  <a:srgbClr val="2B368C"/>
                </a:solidFill>
                <a:latin typeface="Arial"/>
              </a:rPr>
              <a:t>edit a command:
Target / Objective /
Auto-Iterate</a:t>
            </a:r>
          </a:p>
        </p:txBody>
      </p:sp>
      <p:cxnSp>
        <p:nvCxnSpPr>
          <p:cNvPr id="12" name="Connector 11"/>
          <p:cNvCxnSpPr/>
          <p:nvPr/>
        </p:nvCxnSpPr>
        <p:spPr>
          <a:xfrm>
            <a:off x="6021324" y="2240280"/>
            <a:ext cx="118872" cy="0"/>
          </a:xfrm>
          <a:prstGeom prst="line">
            <a:avLst/>
          </a:prstGeom>
          <a:ln w="27940">
            <a:solidFill>
              <a:srgbClr val="14A09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140196" y="1783080"/>
            <a:ext cx="2539746" cy="914400"/>
          </a:xfrm>
          <a:prstGeom prst="roundRect">
            <a:avLst>
              <a:gd name="adj" fmla="val 8000"/>
            </a:avLst>
          </a:prstGeom>
          <a:solidFill>
            <a:srgbClr val="EEF1F8"/>
          </a:solidFill>
          <a:ln w="1524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200" b="0" i="0">
                <a:solidFill>
                  <a:srgbClr val="1A202C"/>
                </a:solidFill>
                <a:latin typeface="Arial"/>
              </a:rPr>
              <a:t>type
/optimize_generic</a:t>
            </a:r>
          </a:p>
        </p:txBody>
      </p:sp>
      <p:cxnSp>
        <p:nvCxnSpPr>
          <p:cNvPr id="14" name="Connector 13"/>
          <p:cNvCxnSpPr/>
          <p:nvPr/>
        </p:nvCxnSpPr>
        <p:spPr>
          <a:xfrm>
            <a:off x="8679942" y="2240280"/>
            <a:ext cx="118872" cy="0"/>
          </a:xfrm>
          <a:prstGeom prst="line">
            <a:avLst/>
          </a:prstGeom>
          <a:ln w="27940">
            <a:solidFill>
              <a:srgbClr val="14A09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798814" y="1783080"/>
            <a:ext cx="2539746" cy="914400"/>
          </a:xfrm>
          <a:prstGeom prst="roundRect">
            <a:avLst>
              <a:gd name="adj" fmla="val 8000"/>
            </a:avLst>
          </a:prstGeom>
          <a:solidFill>
            <a:srgbClr val="2B368C"/>
          </a:solidFill>
          <a:ln w="1524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400"/>
              </a:spcAft>
            </a:pPr>
            <a:r>
              <a:rPr sz="1200" b="1" i="0">
                <a:solidFill>
                  <a:srgbClr val="FFFFFF"/>
                </a:solidFill>
                <a:latin typeface="Arial"/>
              </a:rPr>
              <a:t>manager runs the
gated pipeline
end-to-end</a:t>
            </a:r>
          </a:p>
        </p:txBody>
      </p:sp>
      <p:graphicFrame>
        <p:nvGraphicFramePr>
          <p:cNvPr id="16" name="Table 15"/>
          <p:cNvGraphicFramePr>
            <a:graphicFrameLocks noGrp="1"/>
          </p:cNvGraphicFramePr>
          <p:nvPr/>
        </p:nvGraphicFramePr>
        <p:xfrm>
          <a:off x="640080" y="3063240"/>
          <a:ext cx="7818120" cy="2331720"/>
        </p:xfrm>
        <a:graphic>
          <a:graphicData uri="http://schemas.openxmlformats.org/drawingml/2006/table">
            <a:tbl>
              <a:tblPr firstRow="1">
                <a:tableStyleId>{5C22544A-7EE6-4342-B048-85BDC9FD1C3A}</a:tableStyleId>
              </a:tblPr>
              <a:tblGrid>
                <a:gridCol w="2697480"/>
                <a:gridCol w="3108960"/>
                <a:gridCol w="2011680"/>
              </a:tblGrid>
              <a:tr h="388620">
                <a:tc>
                  <a:txBody>
                    <a:bodyPr wrap="square"/>
                    <a:lstStyle/>
                    <a:p>
                      <a:pPr algn="l"/>
                      <a:r>
                        <a:rPr sz="1100" b="1">
                          <a:solidFill>
                            <a:srgbClr val="FFFFFF"/>
                          </a:solidFill>
                          <a:latin typeface="Arial"/>
                        </a:rPr>
                        <a:t>Preset / command</a:t>
                      </a:r>
                    </a:p>
                  </a:txBody>
                  <a:tcPr marL="73152" marR="73152" marT="18288" marB="18288" anchor="ctr">
                    <a:solidFill>
                      <a:srgbClr val="2B368C"/>
                    </a:solidFill>
                  </a:tcPr>
                </a:tc>
                <a:tc>
                  <a:txBody>
                    <a:bodyPr wrap="square"/>
                    <a:lstStyle/>
                    <a:p>
                      <a:pPr algn="l"/>
                      <a:r>
                        <a:rPr sz="1100" b="1">
                          <a:solidFill>
                            <a:srgbClr val="FFFFFF"/>
                          </a:solidFill>
                          <a:latin typeface="Arial"/>
                        </a:rPr>
                        <a:t>Target subsystem</a:t>
                      </a:r>
                    </a:p>
                  </a:txBody>
                  <a:tcPr marL="73152" marR="73152" marT="18288" marB="18288" anchor="ctr">
                    <a:solidFill>
                      <a:srgbClr val="2B368C"/>
                    </a:solidFill>
                  </a:tcPr>
                </a:tc>
                <a:tc>
                  <a:txBody>
                    <a:bodyPr wrap="square"/>
                    <a:lstStyle/>
                    <a:p>
                      <a:pPr algn="l"/>
                      <a:r>
                        <a:rPr sz="1100" b="1">
                          <a:solidFill>
                            <a:srgbClr val="FFFFFF"/>
                          </a:solidFill>
                          <a:latin typeface="Arial"/>
                        </a:rPr>
                        <a:t>Specialist</a:t>
                      </a:r>
                    </a:p>
                  </a:txBody>
                  <a:tcPr marL="73152" marR="73152" marT="18288" marB="18288" anchor="ctr">
                    <a:solidFill>
                      <a:srgbClr val="2B368C"/>
                    </a:solidFill>
                  </a:tcPr>
                </a:tc>
              </a:tr>
              <a:tr h="388620">
                <a:tc>
                  <a:txBody>
                    <a:bodyPr wrap="square"/>
                    <a:lstStyle/>
                    <a:p>
                      <a:pPr algn="l"/>
                      <a:r>
                        <a:rPr sz="1100" b="1">
                          <a:solidFill>
                            <a:srgbClr val="1A202C"/>
                          </a:solidFill>
                          <a:latin typeface="Arial"/>
                        </a:rPr>
                        <a:t>generic_full  (default)</a:t>
                      </a:r>
                    </a:p>
                  </a:txBody>
                  <a:tcPr marL="73152" marR="73152" marT="18288" marB="18288" anchor="ctr">
                    <a:solidFill>
                      <a:srgbClr val="FFFFFF"/>
                    </a:solidFill>
                  </a:tcPr>
                </a:tc>
                <a:tc>
                  <a:txBody>
                    <a:bodyPr wrap="square"/>
                    <a:lstStyle/>
                    <a:p>
                      <a:pPr algn="l"/>
                      <a:r>
                        <a:rPr sz="1100" b="0">
                          <a:solidFill>
                            <a:srgbClr val="1A202C"/>
                          </a:solidFill>
                          <a:latin typeface="Arial"/>
                        </a:rPr>
                        <a:t>any directory / file (auto-routed)</a:t>
                      </a:r>
                    </a:p>
                  </a:txBody>
                  <a:tcPr marL="73152" marR="73152" marT="18288" marB="18288" anchor="ctr">
                    <a:solidFill>
                      <a:srgbClr val="FFFFFF"/>
                    </a:solidFill>
                  </a:tcPr>
                </a:tc>
                <a:tc>
                  <a:txBody>
                    <a:bodyPr wrap="square"/>
                    <a:lstStyle/>
                    <a:p>
                      <a:pPr algn="l"/>
                      <a:r>
                        <a:rPr sz="1100" b="0">
                          <a:solidFill>
                            <a:srgbClr val="1A202C"/>
                          </a:solidFill>
                          <a:latin typeface="Arial"/>
                        </a:rPr>
                        <a:t>kernel-source-research</a:t>
                      </a:r>
                    </a:p>
                  </a:txBody>
                  <a:tcPr marL="73152" marR="73152" marT="18288" marB="18288" anchor="ctr">
                    <a:solidFill>
                      <a:srgbClr val="FFFFFF"/>
                    </a:solidFill>
                  </a:tcPr>
                </a:tc>
              </a:tr>
              <a:tr h="388620">
                <a:tc>
                  <a:txBody>
                    <a:bodyPr wrap="square"/>
                    <a:lstStyle/>
                    <a:p>
                      <a:pPr algn="l"/>
                      <a:r>
                        <a:rPr sz="1100" b="1">
                          <a:solidFill>
                            <a:srgbClr val="1A202C"/>
                          </a:solidFill>
                          <a:latin typeface="Arial"/>
                        </a:rPr>
                        <a:t>hyperhold_full</a:t>
                      </a:r>
                    </a:p>
                  </a:txBody>
                  <a:tcPr marL="73152" marR="73152" marT="18288" marB="18288" anchor="ctr">
                    <a:solidFill>
                      <a:srgbClr val="EEF1F8"/>
                    </a:solidFill>
                  </a:tcPr>
                </a:tc>
                <a:tc>
                  <a:txBody>
                    <a:bodyPr wrap="square"/>
                    <a:lstStyle/>
                    <a:p>
                      <a:pPr algn="l"/>
                      <a:r>
                        <a:rPr sz="1100" b="0">
                          <a:solidFill>
                            <a:srgbClr val="1A202C"/>
                          </a:solidFill>
                          <a:latin typeface="Arial"/>
                        </a:rPr>
                        <a:t>swap / hyperhold I/O</a:t>
                      </a:r>
                    </a:p>
                  </a:txBody>
                  <a:tcPr marL="73152" marR="73152" marT="18288" marB="18288" anchor="ctr">
                    <a:solidFill>
                      <a:srgbClr val="EEF1F8"/>
                    </a:solidFill>
                  </a:tcPr>
                </a:tc>
                <a:tc>
                  <a:txBody>
                    <a:bodyPr wrap="square"/>
                    <a:lstStyle/>
                    <a:p>
                      <a:pPr algn="l"/>
                      <a:r>
                        <a:rPr sz="1100" b="0">
                          <a:solidFill>
                            <a:srgbClr val="1A202C"/>
                          </a:solidFill>
                          <a:latin typeface="Arial"/>
                        </a:rPr>
                        <a:t>hyperhold-io-opt</a:t>
                      </a:r>
                    </a:p>
                  </a:txBody>
                  <a:tcPr marL="73152" marR="73152" marT="18288" marB="18288" anchor="ctr">
                    <a:solidFill>
                      <a:srgbClr val="EEF1F8"/>
                    </a:solidFill>
                  </a:tcPr>
                </a:tc>
              </a:tr>
              <a:tr h="388620">
                <a:tc>
                  <a:txBody>
                    <a:bodyPr wrap="square"/>
                    <a:lstStyle/>
                    <a:p>
                      <a:pPr algn="l"/>
                      <a:r>
                        <a:rPr sz="1100" b="1">
                          <a:solidFill>
                            <a:srgbClr val="1A202C"/>
                          </a:solidFill>
                          <a:latin typeface="Arial"/>
                        </a:rPr>
                        <a:t>memmgr_reclaim_full</a:t>
                      </a:r>
                    </a:p>
                  </a:txBody>
                  <a:tcPr marL="73152" marR="73152" marT="18288" marB="18288" anchor="ctr">
                    <a:solidFill>
                      <a:srgbClr val="FFFFFF"/>
                    </a:solidFill>
                  </a:tcPr>
                </a:tc>
                <a:tc>
                  <a:txBody>
                    <a:bodyPr wrap="square"/>
                    <a:lstStyle/>
                    <a:p>
                      <a:pPr algn="l"/>
                      <a:r>
                        <a:rPr sz="1100" b="0">
                          <a:solidFill>
                            <a:srgbClr val="1A202C"/>
                          </a:solidFill>
                          <a:latin typeface="Arial"/>
                        </a:rPr>
                        <a:t>reclaim + allocator coupling</a:t>
                      </a:r>
                    </a:p>
                  </a:txBody>
                  <a:tcPr marL="73152" marR="73152" marT="18288" marB="18288" anchor="ctr">
                    <a:solidFill>
                      <a:srgbClr val="FFFFFF"/>
                    </a:solidFill>
                  </a:tcPr>
                </a:tc>
                <a:tc>
                  <a:txBody>
                    <a:bodyPr wrap="square"/>
                    <a:lstStyle/>
                    <a:p>
                      <a:pPr algn="l"/>
                      <a:r>
                        <a:rPr sz="1100" b="0">
                          <a:solidFill>
                            <a:srgbClr val="1A202C"/>
                          </a:solidFill>
                          <a:latin typeface="Arial"/>
                        </a:rPr>
                        <a:t>memmgr-reclaim-research</a:t>
                      </a:r>
                    </a:p>
                  </a:txBody>
                  <a:tcPr marL="73152" marR="73152" marT="18288" marB="18288" anchor="ctr">
                    <a:solidFill>
                      <a:srgbClr val="FFFFFF"/>
                    </a:solidFill>
                  </a:tcPr>
                </a:tc>
              </a:tr>
              <a:tr h="388620">
                <a:tc>
                  <a:txBody>
                    <a:bodyPr wrap="square"/>
                    <a:lstStyle/>
                    <a:p>
                      <a:pPr algn="l"/>
                      <a:r>
                        <a:rPr sz="1100" b="1">
                          <a:solidFill>
                            <a:srgbClr val="1A202C"/>
                          </a:solidFill>
                          <a:latin typeface="Arial"/>
                        </a:rPr>
                        <a:t>workqueue_full</a:t>
                      </a:r>
                    </a:p>
                  </a:txBody>
                  <a:tcPr marL="73152" marR="73152" marT="18288" marB="18288" anchor="ctr">
                    <a:solidFill>
                      <a:srgbClr val="EEF1F8"/>
                    </a:solidFill>
                  </a:tcPr>
                </a:tc>
                <a:tc>
                  <a:txBody>
                    <a:bodyPr wrap="square"/>
                    <a:lstStyle/>
                    <a:p>
                      <a:pPr algn="l"/>
                      <a:r>
                        <a:rPr sz="1100" b="0">
                          <a:solidFill>
                            <a:srgbClr val="1A202C"/>
                          </a:solidFill>
                          <a:latin typeface="Arial"/>
                        </a:rPr>
                        <a:t>workqueue / thread-pool loops</a:t>
                      </a:r>
                    </a:p>
                  </a:txBody>
                  <a:tcPr marL="73152" marR="73152" marT="18288" marB="18288" anchor="ctr">
                    <a:solidFill>
                      <a:srgbClr val="EEF1F8"/>
                    </a:solidFill>
                  </a:tcPr>
                </a:tc>
                <a:tc>
                  <a:txBody>
                    <a:bodyPr wrap="square"/>
                    <a:lstStyle/>
                    <a:p>
                      <a:pPr algn="l"/>
                      <a:r>
                        <a:rPr sz="1100" b="0">
                          <a:solidFill>
                            <a:srgbClr val="1A202C"/>
                          </a:solidFill>
                          <a:latin typeface="Arial"/>
                        </a:rPr>
                        <a:t>wq-threadpool-opt</a:t>
                      </a:r>
                    </a:p>
                  </a:txBody>
                  <a:tcPr marL="73152" marR="73152" marT="18288" marB="18288" anchor="ctr">
                    <a:solidFill>
                      <a:srgbClr val="EEF1F8"/>
                    </a:solidFill>
                  </a:tcPr>
                </a:tc>
              </a:tr>
              <a:tr h="388620">
                <a:tc>
                  <a:txBody>
                    <a:bodyPr wrap="square"/>
                    <a:lstStyle/>
                    <a:p>
                      <a:pPr algn="l"/>
                      <a:r>
                        <a:rPr sz="1100" b="1">
                          <a:solidFill>
                            <a:srgbClr val="1A202C"/>
                          </a:solidFill>
                          <a:latin typeface="Arial"/>
                        </a:rPr>
                        <a:t>sync_review  (review-only)</a:t>
                      </a:r>
                    </a:p>
                  </a:txBody>
                  <a:tcPr marL="73152" marR="73152" marT="18288" marB="18288" anchor="ctr">
                    <a:solidFill>
                      <a:srgbClr val="FFFFFF"/>
                    </a:solidFill>
                  </a:tcPr>
                </a:tc>
                <a:tc>
                  <a:txBody>
                    <a:bodyPr wrap="square"/>
                    <a:lstStyle/>
                    <a:p>
                      <a:pPr algn="l"/>
                      <a:r>
                        <a:rPr sz="1100" b="0">
                          <a:solidFill>
                            <a:srgbClr val="1A202C"/>
                          </a:solidFill>
                          <a:latin typeface="Arial"/>
                        </a:rPr>
                        <a:t>lock scope / refcount / races</a:t>
                      </a:r>
                    </a:p>
                  </a:txBody>
                  <a:tcPr marL="73152" marR="73152" marT="18288" marB="18288" anchor="ctr">
                    <a:solidFill>
                      <a:srgbClr val="FFFFFF"/>
                    </a:solidFill>
                  </a:tcPr>
                </a:tc>
                <a:tc>
                  <a:txBody>
                    <a:bodyPr wrap="square"/>
                    <a:lstStyle/>
                    <a:p>
                      <a:pPr algn="l"/>
                      <a:r>
                        <a:rPr sz="1100" b="0">
                          <a:solidFill>
                            <a:srgbClr val="1A202C"/>
                          </a:solidFill>
                          <a:latin typeface="Arial"/>
                        </a:rPr>
                        <a:t>basic-mechanism-sync-opt</a:t>
                      </a:r>
                    </a:p>
                  </a:txBody>
                  <a:tcPr marL="73152" marR="73152" marT="18288" marB="18288" anchor="ctr">
                    <a:solidFill>
                      <a:srgbClr val="FFFFFF"/>
                    </a:solidFill>
                  </a:tcPr>
                </a:tc>
              </a:tr>
            </a:tbl>
          </a:graphicData>
        </a:graphic>
      </p:graphicFrame>
      <p:sp>
        <p:nvSpPr>
          <p:cNvPr id="17" name="Rounded Rectangle 16"/>
          <p:cNvSpPr/>
          <p:nvPr/>
        </p:nvSpPr>
        <p:spPr>
          <a:xfrm>
            <a:off x="8641080" y="3063240"/>
            <a:ext cx="2907792" cy="2331720"/>
          </a:xfrm>
          <a:prstGeom prst="roundRect">
            <a:avLst>
              <a:gd name="adj" fmla="val 4500"/>
            </a:avLst>
          </a:prstGeom>
          <a:solidFill>
            <a:srgbClr val="FFFFFF"/>
          </a:solidFill>
          <a:ln w="12700">
            <a:solidFill>
              <a:srgbClr val="C8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641080" y="3063240"/>
            <a:ext cx="2907792" cy="384048"/>
          </a:xfrm>
          <a:prstGeom prst="roundRect">
            <a:avLst>
              <a:gd name="adj" fmla="val 4500"/>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400" b="1" i="0">
                <a:solidFill>
                  <a:srgbClr val="FFFFFF"/>
                </a:solidFill>
                <a:latin typeface="Arial"/>
              </a:rPr>
              <a:t>Also</a:t>
            </a:r>
          </a:p>
        </p:txBody>
      </p:sp>
      <p:sp>
        <p:nvSpPr>
          <p:cNvPr id="19" name="Rectangle 18"/>
          <p:cNvSpPr/>
          <p:nvPr/>
        </p:nvSpPr>
        <p:spPr>
          <a:xfrm>
            <a:off x="8641080" y="3364992"/>
            <a:ext cx="2907792" cy="82296"/>
          </a:xfrm>
          <a:prstGeom prst="rect">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87384" y="3520440"/>
            <a:ext cx="2633472" cy="1801368"/>
          </a:xfrm>
          <a:prstGeom prst="rect">
            <a:avLst/>
          </a:prstGeom>
          <a:noFill/>
        </p:spPr>
        <p:txBody>
          <a:bodyPr wrap="square" anchor="t" lIns="0" rIns="0" tIns="0" bIns="0">
            <a:spAutoFit/>
          </a:bodyPr>
          <a:lstStyle/>
          <a:p>
            <a:pPr algn="l">
              <a:spcAft>
                <a:spcPts val="400"/>
              </a:spcAft>
            </a:pPr>
            <a:r>
              <a:rPr sz="1150" b="0" i="0">
                <a:solidFill>
                  <a:srgbClr val="1A202C"/>
                </a:solidFill>
                <a:latin typeface="Arial"/>
              </a:rPr>
              <a:t>•  /research, /plan, /function_detail = understanding-only</a:t>
            </a:r>
          </a:p>
          <a:p>
            <a:pPr algn="l">
              <a:spcAft>
                <a:spcPts val="400"/>
              </a:spcAft>
            </a:pPr>
            <a:r>
              <a:rPr sz="1150" b="0" i="0">
                <a:solidFill>
                  <a:srgbClr val="1A202C"/>
                </a:solidFill>
                <a:latin typeface="Arial"/>
              </a:rPr>
              <a:t>•  research_only = stop before code</a:t>
            </a:r>
          </a:p>
          <a:p>
            <a:pPr algn="l">
              <a:spcAft>
                <a:spcPts val="400"/>
              </a:spcAft>
            </a:pPr>
            <a:r>
              <a:rPr sz="1150" b="0" i="0">
                <a:solidFill>
                  <a:srgbClr val="1A202C"/>
                </a:solidFill>
                <a:latin typeface="Arial"/>
              </a:rPr>
              <a:t>•  Language: zh-CN / en in config.yaml (prose only, not code)</a:t>
            </a:r>
          </a:p>
        </p:txBody>
      </p:sp>
      <p:sp>
        <p:nvSpPr>
          <p:cNvPr id="21" name="TextBox 20"/>
          <p:cNvSpPr txBox="1"/>
          <p:nvPr/>
        </p:nvSpPr>
        <p:spPr>
          <a:xfrm>
            <a:off x="640080" y="5532120"/>
            <a:ext cx="10881360" cy="365760"/>
          </a:xfrm>
          <a:prstGeom prst="rect">
            <a:avLst/>
          </a:prstGeom>
          <a:noFill/>
        </p:spPr>
        <p:txBody>
          <a:bodyPr wrap="square" anchor="t" lIns="0" rIns="0" tIns="0" bIns="0">
            <a:spAutoFit/>
          </a:bodyPr>
          <a:lstStyle/>
          <a:p>
            <a:pPr algn="l">
              <a:spcAft>
                <a:spcPts val="400"/>
              </a:spcAft>
            </a:pPr>
            <a:r>
              <a:rPr sz="1150" b="0" i="1">
                <a:solidFill>
                  <a:srgbClr val="5B657A"/>
                </a:solidFill>
                <a:latin typeface="Arial"/>
              </a:rPr>
              <a:t>A command @-inlines the preset + ~13 skills + memory + config into one prompt — that's how the whole pipeline boots from one keystroke.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320040"/>
          </a:xfrm>
          <a:prstGeom prst="rect">
            <a:avLst/>
          </a:prstGeom>
          <a:noFill/>
        </p:spPr>
        <p:txBody>
          <a:bodyPr wrap="square" anchor="t" lIns="0" rIns="0" tIns="0" bIns="0">
            <a:spAutoFit/>
          </a:bodyPr>
          <a:lstStyle/>
          <a:p>
            <a:pPr algn="l">
              <a:spcAft>
                <a:spcPts val="400"/>
              </a:spcAft>
            </a:pPr>
            <a:r>
              <a:rPr sz="1250" b="1" i="0">
                <a:solidFill>
                  <a:srgbClr val="14A096"/>
                </a:solidFill>
                <a:latin typeface="Arial"/>
              </a:rPr>
              <a:t>THE PAPER TRAIL</a:t>
            </a:r>
          </a:p>
        </p:txBody>
      </p:sp>
      <p:sp>
        <p:nvSpPr>
          <p:cNvPr id="5" name="TextBox 4"/>
          <p:cNvSpPr txBox="1"/>
          <p:nvPr/>
        </p:nvSpPr>
        <p:spPr>
          <a:xfrm>
            <a:off x="640080" y="658368"/>
            <a:ext cx="10972800" cy="731520"/>
          </a:xfrm>
          <a:prstGeom prst="rect">
            <a:avLst/>
          </a:prstGeom>
          <a:noFill/>
        </p:spPr>
        <p:txBody>
          <a:bodyPr wrap="square" anchor="t" lIns="0" rIns="0" tIns="0" bIns="0">
            <a:spAutoFit/>
          </a:bodyPr>
          <a:lstStyle/>
          <a:p>
            <a:pPr algn="l">
              <a:spcAft>
                <a:spcPts val="400"/>
              </a:spcAft>
            </a:pPr>
            <a:r>
              <a:rPr sz="3000" b="1" i="0">
                <a:solidFill>
                  <a:srgbClr val="2B368C"/>
                </a:solidFill>
                <a:latin typeface="Arial"/>
              </a:rPr>
              <a:t>What a run leaves on disk</a:t>
            </a:r>
          </a:p>
        </p:txBody>
      </p:sp>
      <p:sp>
        <p:nvSpPr>
          <p:cNvPr id="6" name="Rectangle 5"/>
          <p:cNvSpPr/>
          <p:nvPr/>
        </p:nvSpPr>
        <p:spPr>
          <a:xfrm>
            <a:off x="640080" y="1371600"/>
            <a:ext cx="10972800" cy="17780"/>
          </a:xfrm>
          <a:prstGeom prst="rect">
            <a:avLst/>
          </a:prstGeom>
          <a:solidFill>
            <a:srgbClr val="C8C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55664"/>
            <a:ext cx="7315200" cy="274320"/>
          </a:xfrm>
          <a:prstGeom prst="rect">
            <a:avLst/>
          </a:prstGeom>
          <a:noFill/>
        </p:spPr>
        <p:txBody>
          <a:bodyPr wrap="square" anchor="t" lIns="0" rIns="0" tIns="0" bIns="0">
            <a:spAutoFit/>
          </a:bodyPr>
          <a:lstStyle/>
          <a:p>
            <a:pPr algn="l">
              <a:spcAft>
                <a:spcPts val="400"/>
              </a:spcAft>
            </a:pPr>
            <a:r>
              <a:rPr sz="950" b="0" i="0">
                <a:solidFill>
                  <a:srgbClr val="5B657A"/>
                </a:solidFill>
                <a:latin typeface="Arial"/>
              </a:rPr>
              <a:t>.opencode multi-agent harness</a:t>
            </a:r>
          </a:p>
        </p:txBody>
      </p:sp>
      <p:sp>
        <p:nvSpPr>
          <p:cNvPr id="8" name="TextBox 7"/>
          <p:cNvSpPr txBox="1"/>
          <p:nvPr/>
        </p:nvSpPr>
        <p:spPr>
          <a:xfrm>
            <a:off x="10424160" y="6455664"/>
            <a:ext cx="1280160" cy="274320"/>
          </a:xfrm>
          <a:prstGeom prst="rect">
            <a:avLst/>
          </a:prstGeom>
          <a:noFill/>
        </p:spPr>
        <p:txBody>
          <a:bodyPr wrap="square" anchor="t" lIns="0" rIns="0" tIns="0" bIns="0">
            <a:spAutoFit/>
          </a:bodyPr>
          <a:lstStyle/>
          <a:p>
            <a:pPr algn="r">
              <a:spcAft>
                <a:spcPts val="400"/>
              </a:spcAft>
            </a:pPr>
            <a:r>
              <a:rPr sz="950" b="0" i="0">
                <a:solidFill>
                  <a:srgbClr val="5B657A"/>
                </a:solidFill>
                <a:latin typeface="Arial"/>
              </a:rPr>
              <a:t>18 / 19</a:t>
            </a:r>
          </a:p>
        </p:txBody>
      </p:sp>
      <p:sp>
        <p:nvSpPr>
          <p:cNvPr id="9" name="Rounded Rectangle 8"/>
          <p:cNvSpPr/>
          <p:nvPr/>
        </p:nvSpPr>
        <p:spPr>
          <a:xfrm>
            <a:off x="640080" y="1783080"/>
            <a:ext cx="2194560" cy="475488"/>
          </a:xfrm>
          <a:prstGeom prst="roundRect">
            <a:avLst>
              <a:gd name="adj" fmla="val 12000"/>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250" b="1" i="0">
                <a:solidFill>
                  <a:srgbClr val="FFFFFF"/>
                </a:solidFill>
                <a:latin typeface="Arial"/>
              </a:rPr>
              <a:t>.opencode/docs/</a:t>
            </a:r>
          </a:p>
        </p:txBody>
      </p:sp>
      <p:sp>
        <p:nvSpPr>
          <p:cNvPr id="10" name="TextBox 9"/>
          <p:cNvSpPr txBox="1"/>
          <p:nvPr/>
        </p:nvSpPr>
        <p:spPr>
          <a:xfrm>
            <a:off x="3017520" y="1837943"/>
            <a:ext cx="8503920" cy="411480"/>
          </a:xfrm>
          <a:prstGeom prst="rect">
            <a:avLst/>
          </a:prstGeom>
          <a:noFill/>
        </p:spPr>
        <p:txBody>
          <a:bodyPr wrap="square" anchor="t" lIns="0" rIns="0" tIns="0" bIns="0">
            <a:spAutoFit/>
          </a:bodyPr>
          <a:lstStyle/>
          <a:p>
            <a:pPr algn="l">
              <a:spcAft>
                <a:spcPts val="400"/>
              </a:spcAft>
            </a:pPr>
            <a:r>
              <a:rPr sz="1300" b="0" i="0">
                <a:solidFill>
                  <a:srgbClr val="1A202C"/>
                </a:solidFill>
                <a:latin typeface="Arial"/>
              </a:rPr>
              <a:t>&lt;target&gt;_design.md — structure + Structural Audit</a:t>
            </a:r>
          </a:p>
        </p:txBody>
      </p:sp>
      <p:sp>
        <p:nvSpPr>
          <p:cNvPr id="11" name="Rounded Rectangle 10"/>
          <p:cNvSpPr/>
          <p:nvPr/>
        </p:nvSpPr>
        <p:spPr>
          <a:xfrm>
            <a:off x="640080" y="2386584"/>
            <a:ext cx="2194560" cy="475488"/>
          </a:xfrm>
          <a:prstGeom prst="roundRect">
            <a:avLst>
              <a:gd name="adj" fmla="val 12000"/>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250" b="1" i="0">
                <a:solidFill>
                  <a:srgbClr val="FFFFFF"/>
                </a:solidFill>
                <a:latin typeface="Arial"/>
              </a:rPr>
              <a:t>.opencode/plans/</a:t>
            </a:r>
          </a:p>
        </p:txBody>
      </p:sp>
      <p:sp>
        <p:nvSpPr>
          <p:cNvPr id="12" name="TextBox 11"/>
          <p:cNvSpPr txBox="1"/>
          <p:nvPr/>
        </p:nvSpPr>
        <p:spPr>
          <a:xfrm>
            <a:off x="3017520" y="2441448"/>
            <a:ext cx="8503920" cy="411480"/>
          </a:xfrm>
          <a:prstGeom prst="rect">
            <a:avLst/>
          </a:prstGeom>
          <a:noFill/>
        </p:spPr>
        <p:txBody>
          <a:bodyPr wrap="square" anchor="t" lIns="0" rIns="0" tIns="0" bIns="0">
            <a:spAutoFit/>
          </a:bodyPr>
          <a:lstStyle/>
          <a:p>
            <a:pPr algn="l">
              <a:spcAft>
                <a:spcPts val="400"/>
              </a:spcAft>
            </a:pPr>
            <a:r>
              <a:rPr sz="1300" b="0" i="0">
                <a:solidFill>
                  <a:srgbClr val="1A202C"/>
                </a:solidFill>
                <a:latin typeface="Arial"/>
              </a:rPr>
              <a:t>&lt;target&gt;_plan.md — approved mechanisms only</a:t>
            </a:r>
          </a:p>
        </p:txBody>
      </p:sp>
      <p:sp>
        <p:nvSpPr>
          <p:cNvPr id="13" name="Rounded Rectangle 12"/>
          <p:cNvSpPr/>
          <p:nvPr/>
        </p:nvSpPr>
        <p:spPr>
          <a:xfrm>
            <a:off x="640080" y="2990088"/>
            <a:ext cx="2194560" cy="475488"/>
          </a:xfrm>
          <a:prstGeom prst="roundRect">
            <a:avLst>
              <a:gd name="adj" fmla="val 12000"/>
            </a:avLst>
          </a:prstGeom>
          <a:solidFill>
            <a:srgbClr val="D884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250" b="1" i="0">
                <a:solidFill>
                  <a:srgbClr val="FFFFFF"/>
                </a:solidFill>
                <a:latin typeface="Arial"/>
              </a:rPr>
              <a:t>.opencode/reviews/</a:t>
            </a:r>
          </a:p>
        </p:txBody>
      </p:sp>
      <p:sp>
        <p:nvSpPr>
          <p:cNvPr id="14" name="TextBox 13"/>
          <p:cNvSpPr txBox="1"/>
          <p:nvPr/>
        </p:nvSpPr>
        <p:spPr>
          <a:xfrm>
            <a:off x="3017520" y="3044952"/>
            <a:ext cx="8503920" cy="411480"/>
          </a:xfrm>
          <a:prstGeom prst="rect">
            <a:avLst/>
          </a:prstGeom>
          <a:noFill/>
        </p:spPr>
        <p:txBody>
          <a:bodyPr wrap="square" anchor="t" lIns="0" rIns="0" tIns="0" bIns="0">
            <a:spAutoFit/>
          </a:bodyPr>
          <a:lstStyle/>
          <a:p>
            <a:pPr algn="l">
              <a:spcAft>
                <a:spcPts val="400"/>
              </a:spcAft>
            </a:pPr>
            <a:r>
              <a:rPr sz="1300" b="0" i="0">
                <a:solidFill>
                  <a:srgbClr val="1A202C"/>
                </a:solidFill>
                <a:latin typeface="Arial"/>
              </a:rPr>
              <a:t>_plan_review.md  +  _code_review.md (the gate verdicts)</a:t>
            </a:r>
          </a:p>
        </p:txBody>
      </p:sp>
      <p:sp>
        <p:nvSpPr>
          <p:cNvPr id="15" name="Rounded Rectangle 14"/>
          <p:cNvSpPr/>
          <p:nvPr/>
        </p:nvSpPr>
        <p:spPr>
          <a:xfrm>
            <a:off x="640080" y="3593592"/>
            <a:ext cx="2194560" cy="475488"/>
          </a:xfrm>
          <a:prstGeom prst="roundRect">
            <a:avLst>
              <a:gd name="adj" fmla="val 12000"/>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250" b="1" i="0">
                <a:solidFill>
                  <a:srgbClr val="FFFFFF"/>
                </a:solidFill>
                <a:latin typeface="Arial"/>
              </a:rPr>
              <a:t>.opencode/patches/</a:t>
            </a:r>
          </a:p>
        </p:txBody>
      </p:sp>
      <p:sp>
        <p:nvSpPr>
          <p:cNvPr id="16" name="TextBox 15"/>
          <p:cNvSpPr txBox="1"/>
          <p:nvPr/>
        </p:nvSpPr>
        <p:spPr>
          <a:xfrm>
            <a:off x="3017520" y="3648456"/>
            <a:ext cx="8503920" cy="411480"/>
          </a:xfrm>
          <a:prstGeom prst="rect">
            <a:avLst/>
          </a:prstGeom>
          <a:noFill/>
        </p:spPr>
        <p:txBody>
          <a:bodyPr wrap="square" anchor="t" lIns="0" rIns="0" tIns="0" bIns="0">
            <a:spAutoFit/>
          </a:bodyPr>
          <a:lstStyle/>
          <a:p>
            <a:pPr algn="l">
              <a:spcAft>
                <a:spcPts val="400"/>
              </a:spcAft>
            </a:pPr>
            <a:r>
              <a:rPr sz="1300" b="0" i="0">
                <a:solidFill>
                  <a:srgbClr val="1A202C"/>
                </a:solidFill>
                <a:latin typeface="Arial"/>
              </a:rPr>
              <a:t>&lt;topic&gt;.patch  +  the actual source edits</a:t>
            </a:r>
          </a:p>
        </p:txBody>
      </p:sp>
      <p:sp>
        <p:nvSpPr>
          <p:cNvPr id="17" name="Rounded Rectangle 16"/>
          <p:cNvSpPr/>
          <p:nvPr/>
        </p:nvSpPr>
        <p:spPr>
          <a:xfrm>
            <a:off x="640080" y="4197096"/>
            <a:ext cx="2194560" cy="475488"/>
          </a:xfrm>
          <a:prstGeom prst="roundRect">
            <a:avLst>
              <a:gd name="adj" fmla="val 12000"/>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250" b="1" i="0">
                <a:solidFill>
                  <a:srgbClr val="FFFFFF"/>
                </a:solidFill>
                <a:latin typeface="Arial"/>
              </a:rPr>
              <a:t>.opencode/bench/</a:t>
            </a:r>
          </a:p>
        </p:txBody>
      </p:sp>
      <p:sp>
        <p:nvSpPr>
          <p:cNvPr id="18" name="TextBox 17"/>
          <p:cNvSpPr txBox="1"/>
          <p:nvPr/>
        </p:nvSpPr>
        <p:spPr>
          <a:xfrm>
            <a:off x="3017520" y="4251959"/>
            <a:ext cx="8503920" cy="411480"/>
          </a:xfrm>
          <a:prstGeom prst="rect">
            <a:avLst/>
          </a:prstGeom>
          <a:noFill/>
        </p:spPr>
        <p:txBody>
          <a:bodyPr wrap="square" anchor="t" lIns="0" rIns="0" tIns="0" bIns="0">
            <a:spAutoFit/>
          </a:bodyPr>
          <a:lstStyle/>
          <a:p>
            <a:pPr algn="l">
              <a:spcAft>
                <a:spcPts val="400"/>
              </a:spcAft>
            </a:pPr>
            <a:r>
              <a:rPr sz="1300" b="0" i="0">
                <a:solidFill>
                  <a:srgbClr val="1A202C"/>
                </a:solidFill>
                <a:latin typeface="Arial"/>
              </a:rPr>
              <a:t>_validation.md (A/B delta) · iteration_summary · stall reports</a:t>
            </a:r>
          </a:p>
        </p:txBody>
      </p:sp>
      <p:sp>
        <p:nvSpPr>
          <p:cNvPr id="19" name="Rounded Rectangle 18"/>
          <p:cNvSpPr/>
          <p:nvPr/>
        </p:nvSpPr>
        <p:spPr>
          <a:xfrm>
            <a:off x="640080" y="4800600"/>
            <a:ext cx="2194560" cy="475488"/>
          </a:xfrm>
          <a:prstGeom prst="roundRect">
            <a:avLst>
              <a:gd name="adj" fmla="val 12000"/>
            </a:avLst>
          </a:prstGeom>
          <a:solidFill>
            <a:srgbClr val="3A47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250" b="1" i="0">
                <a:solidFill>
                  <a:srgbClr val="FFFFFF"/>
                </a:solidFill>
                <a:latin typeface="Arial"/>
              </a:rPr>
              <a:t>.opencode/memory/</a:t>
            </a:r>
          </a:p>
        </p:txBody>
      </p:sp>
      <p:sp>
        <p:nvSpPr>
          <p:cNvPr id="20" name="TextBox 19"/>
          <p:cNvSpPr txBox="1"/>
          <p:nvPr/>
        </p:nvSpPr>
        <p:spPr>
          <a:xfrm>
            <a:off x="3017520" y="4855464"/>
            <a:ext cx="8503920" cy="411480"/>
          </a:xfrm>
          <a:prstGeom prst="rect">
            <a:avLst/>
          </a:prstGeom>
          <a:noFill/>
        </p:spPr>
        <p:txBody>
          <a:bodyPr wrap="square" anchor="t" lIns="0" rIns="0" tIns="0" bIns="0">
            <a:spAutoFit/>
          </a:bodyPr>
          <a:lstStyle/>
          <a:p>
            <a:pPr algn="l">
              <a:spcAft>
                <a:spcPts val="400"/>
              </a:spcAft>
            </a:pPr>
            <a:r>
              <a:rPr sz="1300" b="0" i="0">
                <a:solidFill>
                  <a:srgbClr val="1A202C"/>
                </a:solidFill>
                <a:latin typeface="Arial"/>
              </a:rPr>
              <a:t>targets · subsystems · global_lessons · human_decisions · idea_ledger</a:t>
            </a:r>
          </a:p>
        </p:txBody>
      </p:sp>
      <p:sp>
        <p:nvSpPr>
          <p:cNvPr id="21" name="Rounded Rectangle 20"/>
          <p:cNvSpPr/>
          <p:nvPr/>
        </p:nvSpPr>
        <p:spPr>
          <a:xfrm>
            <a:off x="640080" y="5404104"/>
            <a:ext cx="2194560" cy="475488"/>
          </a:xfrm>
          <a:prstGeom prst="roundRect">
            <a:avLst>
              <a:gd name="adj" fmla="val 12000"/>
            </a:avLst>
          </a:prstGeom>
          <a:solidFill>
            <a:srgbClr val="5B65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73152" tIns="27432" bIns="27432"/>
          <a:lstStyle/>
          <a:p>
            <a:pPr algn="l">
              <a:spcAft>
                <a:spcPts val="400"/>
              </a:spcAft>
            </a:pPr>
            <a:r>
              <a:rPr sz="1250" b="1" i="0">
                <a:solidFill>
                  <a:srgbClr val="FFFFFF"/>
                </a:solidFill>
                <a:latin typeface="Arial"/>
              </a:rPr>
              <a:t>.opencode/state/</a:t>
            </a:r>
          </a:p>
        </p:txBody>
      </p:sp>
      <p:sp>
        <p:nvSpPr>
          <p:cNvPr id="22" name="TextBox 21"/>
          <p:cNvSpPr txBox="1"/>
          <p:nvPr/>
        </p:nvSpPr>
        <p:spPr>
          <a:xfrm>
            <a:off x="3017520" y="5458968"/>
            <a:ext cx="8503920" cy="411480"/>
          </a:xfrm>
          <a:prstGeom prst="rect">
            <a:avLst/>
          </a:prstGeom>
          <a:noFill/>
        </p:spPr>
        <p:txBody>
          <a:bodyPr wrap="square" anchor="t" lIns="0" rIns="0" tIns="0" bIns="0">
            <a:spAutoFit/>
          </a:bodyPr>
          <a:lstStyle/>
          <a:p>
            <a:pPr algn="l">
              <a:spcAft>
                <a:spcPts val="400"/>
              </a:spcAft>
            </a:pPr>
            <a:r>
              <a:rPr sz="1300" b="0" i="0">
                <a:solidFill>
                  <a:srgbClr val="1A202C"/>
                </a:solidFill>
                <a:latin typeface="Arial"/>
              </a:rPr>
              <a:t>current_task.json · iteration handoffs (the resume point)</a:t>
            </a:r>
          </a:p>
        </p:txBody>
      </p:sp>
      <p:sp>
        <p:nvSpPr>
          <p:cNvPr id="23" name="TextBox 22"/>
          <p:cNvSpPr txBox="1"/>
          <p:nvPr/>
        </p:nvSpPr>
        <p:spPr>
          <a:xfrm>
            <a:off x="640080" y="6053328"/>
            <a:ext cx="10881360" cy="365760"/>
          </a:xfrm>
          <a:prstGeom prst="rect">
            <a:avLst/>
          </a:prstGeom>
          <a:noFill/>
        </p:spPr>
        <p:txBody>
          <a:bodyPr wrap="square" anchor="t" lIns="0" rIns="0" tIns="0" bIns="0">
            <a:spAutoFit/>
          </a:bodyPr>
          <a:lstStyle/>
          <a:p>
            <a:pPr algn="l">
              <a:spcAft>
                <a:spcPts val="400"/>
              </a:spcAft>
            </a:pPr>
            <a:r>
              <a:rPr sz="1150" b="0" i="1">
                <a:solidFill>
                  <a:srgbClr val="5B657A"/>
                </a:solidFill>
                <a:latin typeface="Arial"/>
              </a:rPr>
              <a:t>Every gate, decision, and result is a file — so a run is fully auditable and replayable, not a black box.</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3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640080"/>
            <a:ext cx="10424160" cy="548640"/>
          </a:xfrm>
          <a:prstGeom prst="rect">
            <a:avLst/>
          </a:prstGeom>
          <a:noFill/>
        </p:spPr>
        <p:txBody>
          <a:bodyPr wrap="square" anchor="t" lIns="0" rIns="0" tIns="0" bIns="0">
            <a:spAutoFit/>
          </a:bodyPr>
          <a:lstStyle/>
          <a:p>
            <a:pPr algn="l">
              <a:spcAft>
                <a:spcPts val="400"/>
              </a:spcAft>
            </a:pPr>
            <a:r>
              <a:rPr sz="1500" b="1" i="0">
                <a:solidFill>
                  <a:srgbClr val="14A096"/>
                </a:solidFill>
                <a:latin typeface="Arial"/>
              </a:rPr>
              <a:t>TAKEAWAYS</a:t>
            </a:r>
          </a:p>
        </p:txBody>
      </p:sp>
      <p:sp>
        <p:nvSpPr>
          <p:cNvPr id="5" name="Rounded Rectangle 4"/>
          <p:cNvSpPr/>
          <p:nvPr/>
        </p:nvSpPr>
        <p:spPr>
          <a:xfrm>
            <a:off x="868680" y="1618488"/>
            <a:ext cx="164592" cy="164592"/>
          </a:xfrm>
          <a:prstGeom prst="roundRect">
            <a:avLst>
              <a:gd name="adj" fmla="val 50000"/>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1554480"/>
            <a:ext cx="10058400" cy="640080"/>
          </a:xfrm>
          <a:prstGeom prst="rect">
            <a:avLst/>
          </a:prstGeom>
          <a:noFill/>
        </p:spPr>
        <p:txBody>
          <a:bodyPr wrap="square" anchor="t" lIns="0" rIns="0" tIns="0" bIns="0">
            <a:spAutoFit/>
          </a:bodyPr>
          <a:lstStyle/>
          <a:p>
            <a:pPr algn="l">
              <a:spcAft>
                <a:spcPts val="400"/>
              </a:spcAft>
            </a:pPr>
            <a:r>
              <a:rPr sz="1650" b="0" i="0">
                <a:solidFill>
                  <a:srgbClr val="FFFFFF"/>
                </a:solidFill>
                <a:latin typeface="Arial"/>
              </a:rPr>
              <a:t>A staged, gated pipeline makes an LLM optimize a kernel the way a disciplined team does.</a:t>
            </a:r>
          </a:p>
        </p:txBody>
      </p:sp>
      <p:sp>
        <p:nvSpPr>
          <p:cNvPr id="7" name="Rounded Rectangle 6"/>
          <p:cNvSpPr/>
          <p:nvPr/>
        </p:nvSpPr>
        <p:spPr>
          <a:xfrm>
            <a:off x="868680" y="2331720"/>
            <a:ext cx="164592" cy="164592"/>
          </a:xfrm>
          <a:prstGeom prst="roundRect">
            <a:avLst>
              <a:gd name="adj" fmla="val 50000"/>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2267712"/>
            <a:ext cx="10058400" cy="640080"/>
          </a:xfrm>
          <a:prstGeom prst="rect">
            <a:avLst/>
          </a:prstGeom>
          <a:noFill/>
        </p:spPr>
        <p:txBody>
          <a:bodyPr wrap="square" anchor="t" lIns="0" rIns="0" tIns="0" bIns="0">
            <a:spAutoFit/>
          </a:bodyPr>
          <a:lstStyle/>
          <a:p>
            <a:pPr algn="l">
              <a:spcAft>
                <a:spcPts val="400"/>
              </a:spcAft>
            </a:pPr>
            <a:r>
              <a:rPr sz="1650" b="0" i="0">
                <a:solidFill>
                  <a:srgbClr val="FFFFFF"/>
                </a:solidFill>
                <a:latin typeface="Arial"/>
              </a:rPr>
              <a:t>Two hard gates + A/B-on-hardware: no code without a reviewed plan, no win without a measurement.</a:t>
            </a:r>
          </a:p>
        </p:txBody>
      </p:sp>
      <p:sp>
        <p:nvSpPr>
          <p:cNvPr id="9" name="Rounded Rectangle 8"/>
          <p:cNvSpPr/>
          <p:nvPr/>
        </p:nvSpPr>
        <p:spPr>
          <a:xfrm>
            <a:off x="868680" y="3044951"/>
            <a:ext cx="164592" cy="164592"/>
          </a:xfrm>
          <a:prstGeom prst="roundRect">
            <a:avLst>
              <a:gd name="adj" fmla="val 50000"/>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34440" y="2980944"/>
            <a:ext cx="10058400" cy="640080"/>
          </a:xfrm>
          <a:prstGeom prst="rect">
            <a:avLst/>
          </a:prstGeom>
          <a:noFill/>
        </p:spPr>
        <p:txBody>
          <a:bodyPr wrap="square" anchor="t" lIns="0" rIns="0" tIns="0" bIns="0">
            <a:spAutoFit/>
          </a:bodyPr>
          <a:lstStyle/>
          <a:p>
            <a:pPr algn="l">
              <a:spcAft>
                <a:spcPts val="400"/>
              </a:spcAft>
            </a:pPr>
            <a:r>
              <a:rPr sz="1650" b="0" i="0">
                <a:solidFill>
                  <a:srgbClr val="FFFFFF"/>
                </a:solidFill>
                <a:latin typeface="Arial"/>
              </a:rPr>
              <a:t>Hub-and-spoke + back-edges: one manager drives the loop and self-corrects within caps.</a:t>
            </a:r>
          </a:p>
        </p:txBody>
      </p:sp>
      <p:sp>
        <p:nvSpPr>
          <p:cNvPr id="11" name="Rounded Rectangle 10"/>
          <p:cNvSpPr/>
          <p:nvPr/>
        </p:nvSpPr>
        <p:spPr>
          <a:xfrm>
            <a:off x="868680" y="3758184"/>
            <a:ext cx="164592" cy="164592"/>
          </a:xfrm>
          <a:prstGeom prst="roundRect">
            <a:avLst>
              <a:gd name="adj" fmla="val 50000"/>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3694176"/>
            <a:ext cx="10058400" cy="640080"/>
          </a:xfrm>
          <a:prstGeom prst="rect">
            <a:avLst/>
          </a:prstGeom>
          <a:noFill/>
        </p:spPr>
        <p:txBody>
          <a:bodyPr wrap="square" anchor="t" lIns="0" rIns="0" tIns="0" bIns="0">
            <a:spAutoFit/>
          </a:bodyPr>
          <a:lstStyle/>
          <a:p>
            <a:pPr algn="l">
              <a:spcAft>
                <a:spcPts val="400"/>
              </a:spcAft>
            </a:pPr>
            <a:r>
              <a:rPr sz="1650" b="0" i="0">
                <a:solidFill>
                  <a:srgbClr val="FFFFFF"/>
                </a:solidFill>
                <a:latin typeface="Arial"/>
              </a:rPr>
              <a:t>Engineered for long runs: state on disk, compact handoffs, resume-after-compaction.</a:t>
            </a:r>
          </a:p>
        </p:txBody>
      </p:sp>
      <p:sp>
        <p:nvSpPr>
          <p:cNvPr id="13" name="Rounded Rectangle 12"/>
          <p:cNvSpPr/>
          <p:nvPr/>
        </p:nvSpPr>
        <p:spPr>
          <a:xfrm>
            <a:off x="868680" y="4471416"/>
            <a:ext cx="164592" cy="164592"/>
          </a:xfrm>
          <a:prstGeom prst="roundRect">
            <a:avLst>
              <a:gd name="adj" fmla="val 50000"/>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4407408"/>
            <a:ext cx="10058400" cy="640080"/>
          </a:xfrm>
          <a:prstGeom prst="rect">
            <a:avLst/>
          </a:prstGeom>
          <a:noFill/>
        </p:spPr>
        <p:txBody>
          <a:bodyPr wrap="square" anchor="t" lIns="0" rIns="0" tIns="0" bIns="0">
            <a:spAutoFit/>
          </a:bodyPr>
          <a:lstStyle/>
          <a:p>
            <a:pPr algn="l">
              <a:spcAft>
                <a:spcPts val="400"/>
              </a:spcAft>
            </a:pPr>
            <a:r>
              <a:rPr sz="1650" b="0" i="0">
                <a:solidFill>
                  <a:srgbClr val="FFFFFF"/>
                </a:solidFill>
                <a:latin typeface="Arial"/>
              </a:rPr>
              <a:t>It learns: cross-run memory + idea ledger dedup every future proposal.</a:t>
            </a:r>
          </a:p>
        </p:txBody>
      </p:sp>
      <p:sp>
        <p:nvSpPr>
          <p:cNvPr id="15" name="Rounded Rectangle 14"/>
          <p:cNvSpPr/>
          <p:nvPr/>
        </p:nvSpPr>
        <p:spPr>
          <a:xfrm>
            <a:off x="868680" y="5184648"/>
            <a:ext cx="164592" cy="164592"/>
          </a:xfrm>
          <a:prstGeom prst="roundRect">
            <a:avLst>
              <a:gd name="adj" fmla="val 50000"/>
            </a:avLst>
          </a:prstGeom>
          <a:solidFill>
            <a:srgbClr val="14A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4440" y="5120640"/>
            <a:ext cx="10058400" cy="640080"/>
          </a:xfrm>
          <a:prstGeom prst="rect">
            <a:avLst/>
          </a:prstGeom>
          <a:noFill/>
        </p:spPr>
        <p:txBody>
          <a:bodyPr wrap="square" anchor="t" lIns="0" rIns="0" tIns="0" bIns="0">
            <a:spAutoFit/>
          </a:bodyPr>
          <a:lstStyle/>
          <a:p>
            <a:pPr algn="l">
              <a:spcAft>
                <a:spcPts val="400"/>
              </a:spcAft>
            </a:pPr>
            <a:r>
              <a:rPr sz="1650" b="0" i="0">
                <a:solidFill>
                  <a:srgbClr val="FFFFFF"/>
                </a:solidFill>
                <a:latin typeface="Arial"/>
              </a:rPr>
              <a:t>One keystroke to run: a slash command inlines the preset, skills, memory, and config.</a:t>
            </a:r>
          </a:p>
        </p:txBody>
      </p:sp>
      <p:sp>
        <p:nvSpPr>
          <p:cNvPr id="17" name="Rectangle 16"/>
          <p:cNvSpPr/>
          <p:nvPr/>
        </p:nvSpPr>
        <p:spPr>
          <a:xfrm>
            <a:off x="868680" y="5989320"/>
            <a:ext cx="3657600" cy="17780"/>
          </a:xfrm>
          <a:prstGeom prst="rect">
            <a:avLst/>
          </a:prstGeom>
          <a:solidFill>
            <a:srgbClr val="556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108192"/>
            <a:ext cx="10424160" cy="457200"/>
          </a:xfrm>
          <a:prstGeom prst="rect">
            <a:avLst/>
          </a:prstGeom>
          <a:noFill/>
        </p:spPr>
        <p:txBody>
          <a:bodyPr wrap="square" anchor="t" lIns="0" rIns="0" tIns="0" bIns="0">
            <a:spAutoFit/>
          </a:bodyPr>
          <a:lstStyle/>
          <a:p>
            <a:pPr algn="l">
              <a:spcAft>
                <a:spcPts val="400"/>
              </a:spcAft>
            </a:pPr>
            <a:r>
              <a:rPr sz="1300" b="0" i="0">
                <a:solidFill>
                  <a:srgbClr val="B9C2F0"/>
                </a:solidFill>
                <a:latin typeface="Arial"/>
              </a:rPr>
              <a:t>Questions?  ·  .opencode/  ·  docs/architecture.md  ·  docs/pipeline.md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
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931920"/>
            <a:ext cx="6035040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424160" cy="10972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团队级 Skill / Memory 仓库闭环方案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424160" cy="5486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Team Skill Hub  ·  本地沉淀 → 团队技能仓 → 反哺 Pipeline → 闭环迭代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069080"/>
            <a:ext cx="104241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可迭代  ·  可沉淀  ·  可闭环优化  ·  可复用  ·  稳定可用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074920"/>
            <a:ext cx="1581912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SkillOpt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3472" y="5074920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58768" y="5074920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Mem0 / Zep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61888" y="5074920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87183" y="5074920"/>
            <a:ext cx="143560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Voyager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1392" y="5074920"/>
            <a:ext cx="216712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Draft v2.0  ·  2026-05  ·  研究 + 方案设计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闭环全景 · 两仓协同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消费 → 蒸馏 → 沉淀合并 → eval 发布 → 再消费（每环都有质量门）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2514600" cy="1600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hm-skill-hub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团队资产面 · semver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skills/ (引擎B)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knowledge/ (引擎A)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331720"/>
            <a:ext cx="2697480" cy="1600200"/>
          </a:xfrm>
          <a:prstGeom prst="roundRect">
            <a:avLst>
              <a:gd name="adj" fmla="val 10000"/>
            </a:avLst>
          </a:prstGeom>
          <a:solidFill>
            <a:srgbClr val="E2F7F3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pipeline 运行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（每成员）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research→plan→code→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review→test→decision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331720"/>
            <a:ext cx="2331720" cy="1600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local/ 运行证据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+ sediment_staging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（Tier1 候选）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331720"/>
            <a:ext cx="2148840" cy="1600200"/>
          </a:xfrm>
          <a:prstGeom prst="roundRect">
            <a:avLst>
              <a:gd name="adj" fmla="val 10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Curator + CI 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去重 · 冲突 · eval-gate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脱敏 · Pareto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175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974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消费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978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蒸馏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3252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沉淀PR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548640" y="4343400"/>
            <a:ext cx="11155680" cy="658368"/>
          </a:xfrm>
          <a:prstGeom prst="leftArrow">
            <a:avLst/>
          </a:prstGeom>
          <a:solidFill>
            <a:srgbClr val="E3ED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④ 发布：eval-gate 通过才回灌 pipeline（闭环·pinned 版本）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9496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每一环都有质量门，脏数据不滚雪球；hub 以 pinned 版本反向喂回，可复现、可回滚。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v2.0 · 2026-05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脊柱：两类资产 · 两套合并引擎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用同一套 git 行级合并治理两者 = 团队记忆仓失败根因；分开走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Skills（过程性）— 引擎 B：验证门竞争式编辑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493776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成员提议：有界编辑 add / del / replace（文本学习率裁剪）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697480"/>
            <a:ext cx="36576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留出 eval 套件：严格变好？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2468880"/>
            <a:ext cx="0" cy="22860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724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是 → 更新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best_skill.md + scorecard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FDE7E9"/>
          </a:solidFill>
          <a:ln w="127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否 → 进 bad_edits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缓冲（不再重试）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920240" y="3246120"/>
            <a:ext cx="548640" cy="228600"/>
          </a:xfrm>
          <a:prstGeom prst="line">
            <a:avLst/>
          </a:prstGeom>
          <a:ln w="22225">
            <a:solidFill>
              <a:srgbClr val="16A3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23360" y="3246120"/>
            <a:ext cx="548640" cy="228600"/>
          </a:xfrm>
          <a:prstGeom prst="line">
            <a:avLst/>
          </a:prstGeom>
          <a:ln w="22225">
            <a:solidFill>
              <a:srgbClr val="DC3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4251960"/>
            <a:ext cx="4937760" cy="603504"/>
          </a:xfrm>
          <a:prstGeom prst="roundRect">
            <a:avLst>
              <a:gd name="adj" fmla="val 9000"/>
            </a:avLst>
          </a:prstGeom>
          <a:solidFill>
            <a:srgbClr val="E6E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GEPA Pareto：保留互补候选，防多人编辑塌缩到局部最优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Knowledge（事实/记忆）— 引擎 A：集合并 + 去重 + 冲突消解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稳定 ID · 集合并（绝不 git 行级合并）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606040"/>
            <a:ext cx="502920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近似重复？→ 合并出处，confirmations + 1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3291840"/>
            <a:ext cx="5029200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矛盾？→ 证据/新近度加权（Zep 双时态）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旧记录标 superseded，不删除，可审计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06908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否则 → 新增（带出处 + 证据，无出处即拒）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61120" y="242316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61120" y="315468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61120" y="393192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525780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知识靠『集合并 + 去重 + 冲突消解』；技能靠『验证门竞争式编辑 + Pareto』。两类资产，两台引擎。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v2.0 · 2026-05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沉淀漏斗：三层 · 三道门 · L0–L3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一条原始轨迹如何层层过门、晋升为团队资产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9647" y="1234440"/>
            <a:ext cx="7772400" cy="5486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Tier0 运行轨迹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plans · reviews · bench · design（本地，可能含密钥）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21127" y="1965960"/>
            <a:ext cx="6949440" cy="548640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Tier1 候选 = L1 — 类型化 + 出处 + 证据（staging）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6887" y="2697480"/>
            <a:ext cx="621792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门1 · Schema / Lint / 脱敏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647" y="3429000"/>
            <a:ext cx="54864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门2 · 证据门：引用 · delta · ≥N 确认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407" y="4160520"/>
            <a:ext cx="475488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门3 · 策展 + eval：Curator + 双评审 + eval-gate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4167" y="4892040"/>
            <a:ext cx="4023360" cy="548640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Tier2 = L2 stable → knowledge/ 或 skills/domain/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1367" y="5623560"/>
            <a:ext cx="3108960" cy="548640"/>
          </a:xfrm>
          <a:prstGeom prst="roundRect">
            <a:avLst>
              <a:gd name="adj" fmla="val 9000"/>
            </a:avLst>
          </a:prstGeom>
          <a:solidFill>
            <a:srgbClr val="C7ECD6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L3 core → skills/core/（组织金标准）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178308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8727" y="17282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收口点蒸馏 hmopt sediment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5847" y="251460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24612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397763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5847" y="470915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" y="544067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78727" y="53858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跨子团队复用成功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697480"/>
            <a:ext cx="2194560" cy="8229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拒 → 打回 / 留本地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无证据 → 留 L1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破例 → 降级 + 签字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（无豁免口子）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v2.0 · 2026-05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skills/ 内部布局：消灭组合爆炸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只有 3 个维度是真正的 skill 文件夹；file / function →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2743200" cy="566928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流程 / 跨切面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39112"/>
            <a:ext cx="2743200" cy="566928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优化招式 mechanism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52344"/>
            <a:ext cx="2743200" cy="566928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子系统 subsystem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65576"/>
            <a:ext cx="2743200" cy="566928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目录 dir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78808"/>
            <a:ext cx="2743200" cy="566928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文件 file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92040"/>
            <a:ext cx="2743200" cy="566928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函数 function / symbol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1371600"/>
            <a:ext cx="4023360" cy="640080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skills/core/   流程·跨切面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2240280"/>
            <a:ext cx="4023360" cy="640080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skills/technique/   优化招式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3108960"/>
            <a:ext cx="4023360" cy="640080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skills/domain/ 按子系统/  ← 唯一拓扑层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4023360" cy="640080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knowledge/targets/facts/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5120640"/>
            <a:ext cx="4023360" cy="640080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 idea_ledger + symbol_selectors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91840" y="1609344"/>
            <a:ext cx="4297680" cy="82296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291840" y="2322576"/>
            <a:ext cx="4297680" cy="237744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91840" y="3035808"/>
            <a:ext cx="4297680" cy="393192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291840" y="3429000"/>
            <a:ext cx="4297680" cy="320039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291840" y="4462272"/>
            <a:ext cx="4297680" cy="109728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291840" y="5175504"/>
            <a:ext cx="4297680" cy="265176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0" y="3611880"/>
            <a:ext cx="384048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目录: applies_to.path_globs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（不单独建目录）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98932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组合而非枚举：resolver 按 selector 解析 domain，requires 拉入 core+technique，knowledge 按符号检索挂载。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v2.0 · 2026-05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分阶段路线图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Phase 3（建 eval 套件）是关键长杆，红色标注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7" name="Chevron 6"/>
          <p:cNvSpPr/>
          <p:nvPr/>
        </p:nvSpPr>
        <p:spPr>
          <a:xfrm>
            <a:off x="411480" y="2331720"/>
            <a:ext cx="2395728" cy="155448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0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抽取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1–2w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双仓 pin + 路径兼容</a:t>
            </a:r>
          </a:p>
        </p:txBody>
      </p:sp>
      <p:sp>
        <p:nvSpPr>
          <p:cNvPr id="9" name="Chevron 8"/>
          <p:cNvSpPr/>
          <p:nvPr/>
        </p:nvSpPr>
        <p:spPr>
          <a:xfrm>
            <a:off x="2642616" y="2331720"/>
            <a:ext cx="2395728" cy="15544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1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2–3w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9776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hmopt sediment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4873752" y="2331720"/>
            <a:ext cx="2395728" cy="155448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2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策展+合并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3–6w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0912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引擎A + CI + policies</a:t>
            </a:r>
          </a:p>
        </p:txBody>
      </p:sp>
      <p:sp>
        <p:nvSpPr>
          <p:cNvPr id="13" name="Chevron 12"/>
          <p:cNvSpPr/>
          <p:nvPr/>
        </p:nvSpPr>
        <p:spPr>
          <a:xfrm>
            <a:off x="7104888" y="2331720"/>
            <a:ext cx="2395728" cy="1554480"/>
          </a:xfrm>
          <a:prstGeom prst="chevron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3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eval 门 ★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6–10w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core suite + 引擎B</a:t>
            </a:r>
          </a:p>
        </p:txBody>
      </p:sp>
      <p:sp>
        <p:nvSpPr>
          <p:cNvPr id="15" name="Chevron 14"/>
          <p:cNvSpPr/>
          <p:nvPr/>
        </p:nvSpPr>
        <p:spPr>
          <a:xfrm>
            <a:off x="9336024" y="2331720"/>
            <a:ext cx="2395728" cy="1554480"/>
          </a:xfrm>
          <a:prstGeom prst="chevron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4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自动优化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10w+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3184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定时作业 + 发布节奏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406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先 symlink 兜底跑通双仓（Phase 0）；eval 套件最难也最值；优化作业半自动 → 全自动。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v2.0 · 2026-05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
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931920"/>
            <a:ext cx="6035040" cy="3657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424160" cy="109728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团队级 Skill / Memory 仓库闭环方案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154680"/>
            <a:ext cx="10424160" cy="5486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Team Skill Hub  ·  本地沉淀 → 团队技能仓 → 反哺 Pipeline → 闭环迭代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069080"/>
            <a:ext cx="10424160" cy="4572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C8D2E0"/>
                </a:solidFill>
                <a:latin typeface="Microsoft YaHei"/>
                <a:ea typeface="Microsoft YaHei"/>
                <a:cs typeface="Microsoft YaHei"/>
              </a:rPr>
              <a:t>可迭代  ·  可沉淀  ·  可闭环优化  ·  可复用  ·  稳定可用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00600"/>
            <a:ext cx="10424160" cy="2743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方法来源（业界研究参考）：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138928"/>
            <a:ext cx="1581912" cy="457200"/>
          </a:xfrm>
          <a:prstGeom prst="roundRect">
            <a:avLst>
              <a:gd name="adj" fmla="val 50000"/>
            </a:avLst>
          </a:prstGeom>
          <a:solidFill>
            <a:srgbClr val="1B2E55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SkillOpt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33472" y="5138928"/>
            <a:ext cx="996696" cy="457200"/>
          </a:xfrm>
          <a:prstGeom prst="roundRect">
            <a:avLst>
              <a:gd name="adj" fmla="val 50000"/>
            </a:avLst>
          </a:prstGeom>
          <a:solidFill>
            <a:srgbClr val="1B2E55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memU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58768" y="513892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1B2E55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Mem0 / Zep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61888" y="5138928"/>
            <a:ext cx="996696" cy="457200"/>
          </a:xfrm>
          <a:prstGeom prst="roundRect">
            <a:avLst>
              <a:gd name="adj" fmla="val 50000"/>
            </a:avLst>
          </a:prstGeom>
          <a:solidFill>
            <a:srgbClr val="1B2E55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GEPA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87183" y="5138928"/>
            <a:ext cx="1435608" cy="457200"/>
          </a:xfrm>
          <a:prstGeom prst="roundRect">
            <a:avLst>
              <a:gd name="adj" fmla="val 50000"/>
            </a:avLst>
          </a:prstGeom>
          <a:solidFill>
            <a:srgbClr val="1B2E55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Voyager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51392" y="5138928"/>
            <a:ext cx="2167128" cy="457200"/>
          </a:xfrm>
          <a:prstGeom prst="roundRect">
            <a:avLst>
              <a:gd name="adj" fmla="val 50000"/>
            </a:avLst>
          </a:prstGeom>
          <a:solidFill>
            <a:srgbClr val="1B2E55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 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C8D2E0"/>
                </a:solidFill>
                <a:latin typeface="Microsoft YaHei"/>
                <a:ea typeface="Microsoft YaHei"/>
                <a:cs typeface="Microsoft YaHei"/>
              </a:rPr>
              <a:t>Draft v2.1  ·  2026-05  ·  研究 + 方案设计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241280" cy="50292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闭环全景 · 两仓协同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548640"/>
            <a:ext cx="10241280" cy="310896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C8D2E0"/>
                </a:solidFill>
                <a:latin typeface="Microsoft YaHei"/>
                <a:ea typeface="Microsoft YaHei"/>
                <a:cs typeface="Microsoft YaHei"/>
              </a:rPr>
              <a:t>消费 → 蒸馏 → 沉淀合并 → 评测后发布 → 再消费（每个环节都有质量关卡）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C8D2E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31720"/>
            <a:ext cx="2514600" cy="16002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hm-skill-hub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团队资产库 · 版本化(semver)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skills/ 技能·引擎B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knowledge/ 知识·引擎A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2331720"/>
            <a:ext cx="2697480" cy="1600200"/>
          </a:xfrm>
          <a:prstGeom prst="roundRect">
            <a:avLst>
              <a:gd name="adj" fmla="val 10000"/>
            </a:avLst>
          </a:prstGeom>
          <a:solidFill>
            <a:srgbClr val="E2F7F3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pipeline 运行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（每位成员各自跑）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research→plan→code→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review→test→decision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2331720"/>
            <a:ext cx="233172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local/ 运行证据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+ sediment_staging 暂存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（Tier1 候选沉淀）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55480" y="2331720"/>
            <a:ext cx="2148840" cy="1600200"/>
          </a:xfrm>
          <a:prstGeom prst="roundRect">
            <a:avLst>
              <a:gd name="adj" fmla="val 10000"/>
            </a:avLst>
          </a:prstGeom>
          <a:solidFill>
            <a:srgbClr val="FDF4DC"/>
          </a:solidFill>
          <a:ln w="12700">
            <a:solidFill>
              <a:srgbClr val="B47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B47E00"/>
                </a:solidFill>
                <a:latin typeface="Microsoft YaHei"/>
                <a:ea typeface="Microsoft YaHei"/>
                <a:cs typeface="Microsoft YaHei"/>
              </a:rPr>
              <a:t>策展器 + CI 关卡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去重·消解冲突·评测闸门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去敏(清密钥)·保留互补候选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17520" y="3131820"/>
            <a:ext cx="502920" cy="0"/>
          </a:xfrm>
          <a:prstGeom prst="line">
            <a:avLst/>
          </a:prstGeom>
          <a:ln w="317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697480" y="1874519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 消费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17920" y="3131820"/>
            <a:ext cx="502920" cy="0"/>
          </a:xfrm>
          <a:prstGeom prst="line">
            <a:avLst/>
          </a:prstGeom>
          <a:ln w="317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897880" y="1874519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 蒸馏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052560" y="3131820"/>
            <a:ext cx="502920" cy="0"/>
          </a:xfrm>
          <a:prstGeom prst="line">
            <a:avLst/>
          </a:prstGeom>
          <a:ln w="317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732520" y="1874519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 沉淀PR</a:t>
            </a:r>
          </a:p>
        </p:txBody>
      </p:sp>
      <p:sp>
        <p:nvSpPr>
          <p:cNvPr id="17" name="Left Arrow 16"/>
          <p:cNvSpPr/>
          <p:nvPr/>
        </p:nvSpPr>
        <p:spPr>
          <a:xfrm>
            <a:off x="548640" y="4343400"/>
            <a:ext cx="11155680" cy="658368"/>
          </a:xfrm>
          <a:prstGeom prst="leftArrow">
            <a:avLst/>
          </a:prstGeom>
          <a:solidFill>
            <a:srgbClr val="E3EDFF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④ 发布：评测闸门通过才回灌 pipeline（锁定版本 · 可复现 · 可回滚）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94960"/>
            <a:ext cx="11091672" cy="54864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每个环节都有质量关卡，脏数据不会滚雪球；hub 以“锁定版本”反向喂回，可复现、可回滚。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Team Skill Hub · Draft v2.1 · 2026-05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241280" cy="50292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脊柱：两类资产 · 两套合并引擎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548640"/>
            <a:ext cx="10241280" cy="310896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C8D2E0"/>
                </a:solidFill>
                <a:latin typeface="Microsoft YaHei"/>
                <a:ea typeface="Microsoft YaHei"/>
                <a:cs typeface="Microsoft YaHei"/>
              </a:rPr>
              <a:t>团队记忆仓失败的根因：用同一套 git 行级合并治理两类资产 → 必须分开走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C8D2E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486400" cy="370332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212080" cy="3657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Skills 技能（做法/流程）— 引擎 B：改动须通过验证才合并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20240"/>
            <a:ext cx="4937760" cy="548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成员提议有界改动 增/删/改（单次改动量受“文本学习率”约束）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2697480"/>
            <a:ext cx="3657600" cy="548640"/>
          </a:xfrm>
          <a:prstGeom prst="roundRect">
            <a:avLst>
              <a:gd name="adj" fmla="val 9000"/>
            </a:avLst>
          </a:prstGeom>
          <a:solidFill>
            <a:srgbClr val="FDF4DC"/>
          </a:solidFill>
          <a:ln w="12700">
            <a:solidFill>
              <a:srgbClr val="B47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B47E00"/>
                </a:solidFill>
                <a:latin typeface="Microsoft YaHei"/>
                <a:ea typeface="Microsoft YaHei"/>
                <a:cs typeface="Microsoft YaHei"/>
              </a:rPr>
              <a:t>在留出的评测套件上：分数严格变好？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46120" y="2468880"/>
            <a:ext cx="0" cy="22860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77240" y="3474720"/>
            <a:ext cx="2331720" cy="566928"/>
          </a:xfrm>
          <a:prstGeom prst="roundRect">
            <a:avLst>
              <a:gd name="adj" fmla="val 9000"/>
            </a:avLst>
          </a:prstGeom>
          <a:solidFill>
            <a:srgbClr val="DDF3E5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是 → 采纳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更新技能正本 + 评分卡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3474720"/>
            <a:ext cx="2331720" cy="566928"/>
          </a:xfrm>
          <a:prstGeom prst="roundRect">
            <a:avLst>
              <a:gd name="adj" fmla="val 9000"/>
            </a:avLst>
          </a:prstGeom>
          <a:solidFill>
            <a:srgbClr val="FDE7E9"/>
          </a:solidFill>
          <a:ln w="12700">
            <a:solidFill>
              <a:srgbClr val="DC3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DC3545"/>
                </a:solidFill>
                <a:latin typeface="Microsoft YaHei"/>
                <a:ea typeface="Microsoft YaHei"/>
                <a:cs typeface="Microsoft YaHei"/>
              </a:rPr>
              <a:t>否 → 记入被拒改动表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（bad_edits·不再重试）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920240" y="3246120"/>
            <a:ext cx="548640" cy="228600"/>
          </a:xfrm>
          <a:prstGeom prst="line">
            <a:avLst/>
          </a:prstGeom>
          <a:ln w="22225">
            <a:solidFill>
              <a:srgbClr val="16A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023360" y="3246120"/>
            <a:ext cx="548640" cy="228600"/>
          </a:xfrm>
          <a:prstGeom prst="line">
            <a:avLst/>
          </a:prstGeom>
          <a:ln w="22225">
            <a:solidFill>
              <a:srgbClr val="DC3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" y="4251960"/>
            <a:ext cx="4937760" cy="603504"/>
          </a:xfrm>
          <a:prstGeom prst="roundRect">
            <a:avLst>
              <a:gd name="adj" fmla="val 9000"/>
            </a:avLst>
          </a:prstGeom>
          <a:solidFill>
            <a:srgbClr val="E6E2FF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保留互补候选（Pareto 前沿）：防多人改动互相覆盖、塌缩为局部最优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325880"/>
            <a:ext cx="5486400" cy="3703320"/>
          </a:xfrm>
          <a:prstGeom prst="roundRect">
            <a:avLst>
              <a:gd name="adj" fmla="val 5000"/>
            </a:avLst>
          </a:prstGeom>
          <a:solidFill>
            <a:srgbClr val="FFECDC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1417320"/>
            <a:ext cx="5212080" cy="3657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rPr>
              <a:t>Knowledge 知识（事实/教训）— 引擎 A：按条目合并 + 去重 + 消解矛盾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1920240"/>
            <a:ext cx="5029200" cy="502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每条一稳定 ID · 按条目合并（绝不做 git 行级合并）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2606040"/>
            <a:ext cx="5029200" cy="548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近似重复？→ 合并来源，确认次数 +1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3291840"/>
            <a:ext cx="5029200" cy="640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互相矛盾？→ 按证据强弱与新旧裁决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旧记录标“已被取代”，保留不删、可追溯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4069080"/>
            <a:ext cx="5029200" cy="502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都不是 → 新增入库（须带来源 + 证据，无来源即拒）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961120" y="2423160"/>
            <a:ext cx="0" cy="137160"/>
          </a:xfrm>
          <a:prstGeom prst="line">
            <a:avLst/>
          </a:prstGeom>
          <a:ln w="22225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961120" y="3154680"/>
            <a:ext cx="0" cy="137160"/>
          </a:xfrm>
          <a:prstGeom prst="line">
            <a:avLst/>
          </a:prstGeom>
          <a:ln w="22225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961120" y="3931920"/>
            <a:ext cx="0" cy="137160"/>
          </a:xfrm>
          <a:prstGeom prst="line">
            <a:avLst/>
          </a:prstGeom>
          <a:ln w="22225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48640" y="5257800"/>
            <a:ext cx="11091672" cy="54864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知识靠『按条目合并 + 去重 + 消解矛盾』；技能靠『验证后才合并 + 保留互补候选』。两类资产，两台引擎，分开治理。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Team Skill Hub · Draft v2.1 · 2026-05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241280" cy="50292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沉淀漏斗：三层 · 三道关卡 · 成熟度 L0–L3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548640"/>
            <a:ext cx="10241280" cy="310896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C8D2E0"/>
                </a:solidFill>
                <a:latin typeface="Microsoft YaHei"/>
                <a:ea typeface="Microsoft YaHei"/>
                <a:cs typeface="Microsoft YaHei"/>
              </a:rPr>
              <a:t>一条原始运行轨迹，如何层层过关、晋升为团队共享资产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C8D2E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09647" y="1234440"/>
            <a:ext cx="7772400" cy="54864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Tier0 原始运行轨迹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plans · reviews · bench · design（本地，可能含密钥）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21127" y="1965960"/>
            <a:ext cx="6949440" cy="548640"/>
          </a:xfrm>
          <a:prstGeom prst="roundRect">
            <a:avLst>
              <a:gd name="adj" fmla="val 9000"/>
            </a:avLst>
          </a:prstGeom>
          <a:solidFill>
            <a:srgbClr val="E3ED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Tier1 候选 = L1 — 结构化 + 来源 + 证据（暂存区 staging）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86887" y="2697480"/>
            <a:ext cx="6217920" cy="548640"/>
          </a:xfrm>
          <a:prstGeom prst="roundRect">
            <a:avLst>
              <a:gd name="adj" fmla="val 9000"/>
            </a:avLst>
          </a:prstGeom>
          <a:solidFill>
            <a:srgbClr val="FDF4DC"/>
          </a:solidFill>
          <a:ln w="12700">
            <a:solidFill>
              <a:srgbClr val="B47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B47E00"/>
                </a:solidFill>
                <a:latin typeface="Microsoft YaHei"/>
                <a:ea typeface="Microsoft YaHei"/>
                <a:cs typeface="Microsoft YaHei"/>
              </a:rPr>
              <a:t>关卡1 · 格式校验 / 规范检查 / 去敏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2647" y="3429000"/>
            <a:ext cx="5486400" cy="548640"/>
          </a:xfrm>
          <a:prstGeom prst="roundRect">
            <a:avLst>
              <a:gd name="adj" fmla="val 9000"/>
            </a:avLst>
          </a:prstGeom>
          <a:solidFill>
            <a:srgbClr val="FDF4DC"/>
          </a:solidFill>
          <a:ln w="12700">
            <a:solidFill>
              <a:srgbClr val="B47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B47E00"/>
                </a:solidFill>
                <a:latin typeface="Microsoft YaHei"/>
                <a:ea typeface="Microsoft YaHei"/>
                <a:cs typeface="Microsoft YaHei"/>
              </a:rPr>
              <a:t>关卡2 · 证据门：有引用 · 有收益数据 · ≥N 次确认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18407" y="4160520"/>
            <a:ext cx="4754880" cy="548640"/>
          </a:xfrm>
          <a:prstGeom prst="roundRect">
            <a:avLst>
              <a:gd name="adj" fmla="val 9000"/>
            </a:avLst>
          </a:prstGeom>
          <a:solidFill>
            <a:srgbClr val="FDF4DC"/>
          </a:solidFill>
          <a:ln w="12700">
            <a:solidFill>
              <a:srgbClr val="B47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B47E00"/>
                </a:solidFill>
                <a:latin typeface="Microsoft YaHei"/>
                <a:ea typeface="Microsoft YaHei"/>
                <a:cs typeface="Microsoft YaHei"/>
              </a:rPr>
              <a:t>关卡3 · 策展 + 评测：去重合并 + 双人评审 + 评测闸门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4167" y="4892040"/>
            <a:ext cx="4023360" cy="548640"/>
          </a:xfrm>
          <a:prstGeom prst="roundRect">
            <a:avLst>
              <a:gd name="adj" fmla="val 9000"/>
            </a:avLst>
          </a:prstGeom>
          <a:solidFill>
            <a:srgbClr val="DDF3E5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Tier2 = L2 稳定版 → 进 knowledge/ 或 skills/domain/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41367" y="5623560"/>
            <a:ext cx="3108960" cy="548640"/>
          </a:xfrm>
          <a:prstGeom prst="roundRect">
            <a:avLst>
              <a:gd name="adj" fmla="val 9000"/>
            </a:avLst>
          </a:prstGeom>
          <a:solidFill>
            <a:srgbClr val="C7ECD6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L3 核心 → skills/core/（组织级金标准）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95847" y="1783080"/>
            <a:ext cx="0" cy="18288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78727" y="1728216"/>
            <a:ext cx="3291840" cy="292608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收口点蒸馏 hmopt sediment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5847" y="2514600"/>
            <a:ext cx="0" cy="18288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95847" y="3246120"/>
            <a:ext cx="0" cy="18288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95847" y="3977639"/>
            <a:ext cx="0" cy="182881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95847" y="4709159"/>
            <a:ext cx="0" cy="182881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95847" y="5440679"/>
            <a:ext cx="0" cy="182881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278727" y="5385816"/>
            <a:ext cx="3291840" cy="292608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跨子团队复用成功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2697480"/>
            <a:ext cx="219456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DC3545"/>
                </a:solidFill>
                <a:latin typeface="Microsoft YaHei"/>
                <a:ea typeface="Microsoft YaHei"/>
                <a:cs typeface="Microsoft YaHei"/>
              </a:rPr>
              <a:t>拒 → 打回 / 留本地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DC3545"/>
                </a:solidFill>
                <a:latin typeface="Microsoft YaHei"/>
                <a:ea typeface="Microsoft YaHei"/>
                <a:cs typeface="Microsoft YaHei"/>
              </a:rPr>
              <a:t>无证据 → 留 L1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DC3545"/>
                </a:solidFill>
                <a:latin typeface="Microsoft YaHei"/>
                <a:ea typeface="Microsoft YaHei"/>
                <a:cs typeface="Microsoft YaHei"/>
              </a:rPr>
              <a:t>破例 → 降级 + 签字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（不设豁免口子）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Team Skill Hub · Draft v2.1 · 2026-05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241280" cy="50292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skills/ 内部布局：消灭组合爆炸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548640"/>
            <a:ext cx="10241280" cy="310896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C8D2E0"/>
                </a:solidFill>
                <a:latin typeface="Microsoft YaHei"/>
                <a:ea typeface="Microsoft YaHei"/>
                <a:cs typeface="Microsoft YaHei"/>
              </a:rPr>
              <a:t>首要判据：做法/流程 = 技能，事实/教训 = 知识；只有 3 个维度是真正的技能文件夹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C8D2E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11091672" cy="384048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判定：做法/流程 → 技能（照着执行·靠改措辞调优·评测能衡量）　｜　事实/结论/教训 → 知识（供查阅·靠增删纠错条目维护）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27632"/>
            <a:ext cx="2743200" cy="512064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流程 / 跨切面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86000"/>
            <a:ext cx="2743200" cy="512064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优化招式（mechanism）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44368"/>
            <a:ext cx="2743200" cy="512064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子系统（subsystem）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02735"/>
            <a:ext cx="2743200" cy="512064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目录（dir）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61103"/>
            <a:ext cx="2743200" cy="512064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文件（file）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919471"/>
            <a:ext cx="2743200" cy="512064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函数（function/符号）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1627632"/>
            <a:ext cx="4023360" cy="566928"/>
          </a:xfrm>
          <a:prstGeom prst="roundRect">
            <a:avLst>
              <a:gd name="adj" fmla="val 9000"/>
            </a:avLst>
          </a:prstGeom>
          <a:solidFill>
            <a:srgbClr val="E3ED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skills/core/   流程·跨切面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2395728"/>
            <a:ext cx="4023360" cy="566928"/>
          </a:xfrm>
          <a:prstGeom prst="roundRect">
            <a:avLst>
              <a:gd name="adj" fmla="val 9000"/>
            </a:avLst>
          </a:prstGeom>
          <a:solidFill>
            <a:srgbClr val="E3ED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skills/technique/   优化招式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3163824"/>
            <a:ext cx="4023360" cy="566928"/>
          </a:xfrm>
          <a:prstGeom prst="roundRect">
            <a:avLst>
              <a:gd name="adj" fmla="val 9000"/>
            </a:avLst>
          </a:prstGeom>
          <a:solidFill>
            <a:srgbClr val="E3ED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skills/domain/ 按子系统/  ← 唯一触及代码结构的层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4224528"/>
            <a:ext cx="4023360" cy="566928"/>
          </a:xfrm>
          <a:prstGeom prst="roundRect">
            <a:avLst>
              <a:gd name="adj" fmla="val 9000"/>
            </a:avLst>
          </a:prstGeom>
          <a:solidFill>
            <a:srgbClr val="FFECDC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rPr>
              <a:t>knowledge/targets/facts/  文件级事实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4992624"/>
            <a:ext cx="4023360" cy="566928"/>
          </a:xfrm>
          <a:prstGeom prst="roundRect">
            <a:avLst>
              <a:gd name="adj" fmla="val 9000"/>
            </a:avLst>
          </a:prstGeom>
          <a:solidFill>
            <a:srgbClr val="FFECDC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rPr>
              <a:t>knowledge/ idea_ledger + 符号选择器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91840" y="1883664"/>
            <a:ext cx="4297680" cy="27431"/>
          </a:xfrm>
          <a:prstGeom prst="line">
            <a:avLst/>
          </a:prstGeom>
          <a:ln w="22225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291840" y="2542032"/>
            <a:ext cx="4297680" cy="137160"/>
          </a:xfrm>
          <a:prstGeom prst="line">
            <a:avLst/>
          </a:prstGeom>
          <a:ln w="22225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291840" y="3200400"/>
            <a:ext cx="4297680" cy="246888"/>
          </a:xfrm>
          <a:prstGeom prst="line">
            <a:avLst/>
          </a:prstGeom>
          <a:ln w="22225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291840" y="3447288"/>
            <a:ext cx="4297680" cy="41148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291840" y="4507992"/>
            <a:ext cx="4297680" cy="9144"/>
          </a:xfrm>
          <a:prstGeom prst="line">
            <a:avLst/>
          </a:prstGeom>
          <a:ln w="22225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291840" y="5175503"/>
            <a:ext cx="4297680" cy="100585"/>
          </a:xfrm>
          <a:prstGeom prst="line">
            <a:avLst/>
          </a:prstGeom>
          <a:ln w="22225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611880" y="3703320"/>
            <a:ext cx="3840480" cy="4572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目录：写进 domain 技能的“适用路径”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（不单独建目录）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897880"/>
            <a:ext cx="11091672" cy="54864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组合而非枚举：加载时按目标解析出 domain 技能，顺 requires 拉入 core+technique，再按符号检索挂上对应 knowledge。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Team Skill Hub · Draft v2.1 · 2026-05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241280" cy="50292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完整工程目录 Layout：两仓职责划清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548640"/>
            <a:ext cx="10241280" cy="310896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C8D2E0"/>
                </a:solidFill>
                <a:latin typeface="Microsoft YaHei"/>
                <a:ea typeface="Microsoft YaHei"/>
                <a:cs typeface="Microsoft YaHei"/>
              </a:rPr>
              <a:t>两仓分工：hm-skill-hub = 团队共享资产（版本化、只读消费）｜ .opencode/ = 各成员执行面（本地叠加 + 在途沉淀）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C8D2E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78992"/>
            <a:ext cx="6446520" cy="51389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152144"/>
            <a:ext cx="6217920" cy="292608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① 中央资产仓 hm-skill-hub/ — 团队共享 · 版本化（举例展开）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6400800" cy="4736592"/>
          </a:xfrm>
          <a:prstGeom prst="rect">
            <a:avLst/>
          </a:prstGeom>
          <a:noFill/>
        </p:spPr>
        <p:txBody>
          <a:bodyPr wrap="none" anchor="t" lIns="128016" rIns="54864" tIns="91440">
            <a:spAutoFit/>
          </a:bodyPr>
          <a:lstStyle/>
          <a:p>
            <a:pPr algn="l">
              <a:spcBef>
                <a:spcPts val="0"/>
              </a:spcBef>
              <a:spcAft>
                <a:spcPts val="140"/>
              </a:spcAft>
            </a:pPr>
            <a:r>
              <a:rPr sz="9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hm-skill-hub/                           </a:t>
            </a:r>
            <a:r>
              <a:rPr sz="86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# 团队共享 · 版本化(semver)</a:t>
            </a:r>
          </a:p>
          <a:p>
            <a:pPr algn="l">
              <a:spcBef>
                <a:spcPts val="0"/>
              </a:spcBef>
              <a:spcAft>
                <a:spcPts val="140"/>
              </a:spcAft>
            </a:pPr>
            <a:r>
              <a:rPr sz="9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├─ registry.yaml                        </a:t>
            </a:r>
            <a:r>
              <a:rPr sz="86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# 总清单:技能/版本/评测/负责人</a:t>
            </a:r>
          </a:p>
          <a:p>
            <a:pPr algn="l">
              <a:spcBef>
                <a:spcPts val="0"/>
              </a:spcBef>
              <a:spcAft>
                <a:spcPts val="140"/>
              </a:spcAft>
            </a:pPr>
            <a:r>
              <a:rPr sz="9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├─ schemas/                             </a:t>
            </a:r>
            <a:r>
              <a:rPr sz="86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# 各类记录的格式约束(校验用)</a:t>
            </a:r>
          </a:p>
          <a:p>
            <a:pPr algn="l">
              <a:spcBef>
                <a:spcPts val="0"/>
              </a:spcBef>
              <a:spcAft>
                <a:spcPts val="140"/>
              </a:spcAft>
            </a:pPr>
            <a:r>
              <a:rPr sz="9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├─ skills/                              </a:t>
            </a:r>
            <a:r>
              <a:rPr sz="86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# 技能(引擎B) · 三层结构见上一页</a:t>
            </a:r>
          </a:p>
          <a:p>
            <a:pPr algn="l">
              <a:spcBef>
                <a:spcPts val="0"/>
              </a:spcBef>
              <a:spcAft>
                <a:spcPts val="140"/>
              </a:spcAft>
            </a:pPr>
            <a:r>
              <a:rPr sz="9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├─ core/                             </a:t>
            </a:r>
            <a:r>
              <a:rPr sz="86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# 流程·跨切面(全子系统通用)</a:t>
            </a:r>
          </a:p>
          <a:p>
            <a:pPr algn="l">
              <a:spcBef>
                <a:spcPts val="0"/>
              </a:spcBef>
              <a:spcAft>
                <a:spcPts val="140"/>
              </a:spcAft>
            </a:pPr>
            <a:r>
              <a:rPr sz="9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│  ├─ optimization-funnel/           </a:t>
            </a:r>
            <a:r>
              <a:rPr sz="86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# 例:优化漏斗(见右侧放大)</a:t>
            </a:r>
          </a:p>
          <a:p>
            <a:pPr algn="l">
              <a:spcBef>
                <a:spcPts val="0"/>
              </a:spcBef>
              <a:spcAft>
                <a:spcPts val="140"/>
              </a:spcAft>
            </a:pPr>
            <a:r>
              <a:rPr sz="9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│  └─ stage-gate-enforcement/        </a:t>
            </a:r>
            <a:r>
              <a:rPr sz="86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# 例:阶段门禁强制</a:t>
            </a:r>
          </a:p>
          <a:p>
            <a:pPr algn="l">
              <a:spcBef>
                <a:spcPts val="0"/>
              </a:spcBef>
              <a:spcAft>
                <a:spcPts val="140"/>
              </a:spcAft>
            </a:pPr>
            <a:r>
              <a:rPr sz="9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├─ technique/                        </a:t>
            </a:r>
            <a:r>
              <a:rPr sz="86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# 优化招式 · 按 mechanism 命名</a:t>
            </a:r>
          </a:p>
          <a:p>
            <a:pPr algn="l">
              <a:spcBef>
                <a:spcPts val="0"/>
              </a:spcBef>
              <a:spcAft>
                <a:spcPts val="140"/>
              </a:spcAft>
            </a:pPr>
            <a:r>
              <a:rPr sz="9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│  ├─ hoist-loop-invariant/          </a:t>
            </a:r>
            <a:r>
              <a:rPr sz="86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# 例:循环不变量外提</a:t>
            </a:r>
          </a:p>
          <a:p>
            <a:pPr algn="l">
              <a:spcBef>
                <a:spcPts val="0"/>
              </a:spcBef>
              <a:spcAft>
                <a:spcPts val="140"/>
              </a:spcAft>
            </a:pPr>
            <a:r>
              <a:rPr sz="9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│  └─ batch-coalescing/              </a:t>
            </a:r>
            <a:r>
              <a:rPr sz="86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# 例:批量合并写</a:t>
            </a:r>
          </a:p>
          <a:p>
            <a:pPr algn="l">
              <a:spcBef>
                <a:spcPts val="0"/>
              </a:spcBef>
              <a:spcAft>
                <a:spcPts val="140"/>
              </a:spcAft>
            </a:pPr>
            <a:r>
              <a:rPr sz="9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├─ domain/                           </a:t>
            </a:r>
            <a:r>
              <a:rPr sz="86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# 按子系统(唯一触及代码结构)</a:t>
            </a:r>
          </a:p>
          <a:p>
            <a:pPr algn="l">
              <a:spcBef>
                <a:spcPts val="0"/>
              </a:spcBef>
              <a:spcAft>
                <a:spcPts val="140"/>
              </a:spcAft>
            </a:pPr>
            <a:r>
              <a:rPr sz="9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│  ├─ mm-reclaim/                    </a:t>
            </a:r>
            <a:r>
              <a:rPr sz="86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# 例:内存回收(含 references/)</a:t>
            </a:r>
          </a:p>
          <a:p>
            <a:pPr algn="l">
              <a:spcBef>
                <a:spcPts val="0"/>
              </a:spcBef>
              <a:spcAft>
                <a:spcPts val="140"/>
              </a:spcAft>
            </a:pPr>
            <a:r>
              <a:rPr sz="9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│  └─ hyperhold-io/                  </a:t>
            </a:r>
            <a:r>
              <a:rPr sz="86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# 例:hyperhold I/O 路径</a:t>
            </a:r>
          </a:p>
          <a:p>
            <a:pPr algn="l">
              <a:spcBef>
                <a:spcPts val="0"/>
              </a:spcBef>
              <a:spcAft>
                <a:spcPts val="140"/>
              </a:spcAft>
            </a:pPr>
            <a:r>
              <a:rPr sz="9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└─ _registry/skills.yaml             </a:t>
            </a:r>
            <a:r>
              <a:rPr sz="86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# 全量索引 + 子系统选择器</a:t>
            </a:r>
          </a:p>
          <a:p>
            <a:pPr algn="l">
              <a:spcBef>
                <a:spcPts val="0"/>
              </a:spcBef>
              <a:spcAft>
                <a:spcPts val="140"/>
              </a:spcAft>
            </a:pPr>
            <a:r>
              <a:rPr sz="9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├─ knowledge/                           </a:t>
            </a:r>
            <a:r>
              <a:rPr sz="86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# 知识(引擎A·分层·每条一文件)</a:t>
            </a:r>
          </a:p>
          <a:p>
            <a:pPr algn="l">
              <a:spcBef>
                <a:spcPts val="0"/>
              </a:spcBef>
              <a:spcAft>
                <a:spcPts val="140"/>
              </a:spcAft>
            </a:pPr>
            <a:r>
              <a:rPr sz="9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├─ global/                           </a:t>
            </a:r>
            <a:r>
              <a:rPr sz="86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# 全局教训 / 反模式</a:t>
            </a:r>
          </a:p>
          <a:p>
            <a:pPr algn="l">
              <a:spcBef>
                <a:spcPts val="0"/>
              </a:spcBef>
              <a:spcAft>
                <a:spcPts val="140"/>
              </a:spcAft>
            </a:pPr>
            <a:r>
              <a:rPr sz="9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│  ├─ lessons/                       </a:t>
            </a:r>
            <a:r>
              <a:rPr sz="86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# 例:G012_reclaim-twice.md</a:t>
            </a:r>
          </a:p>
          <a:p>
            <a:pPr algn="l">
              <a:spcBef>
                <a:spcPts val="0"/>
              </a:spcBef>
              <a:spcAft>
                <a:spcPts val="140"/>
              </a:spcAft>
            </a:pPr>
            <a:r>
              <a:rPr sz="9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│  └─ anti_patterns/                 </a:t>
            </a:r>
            <a:r>
              <a:rPr sz="86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# 例:A007_busy-wait.md</a:t>
            </a:r>
          </a:p>
          <a:p>
            <a:pPr algn="l">
              <a:spcBef>
                <a:spcPts val="0"/>
              </a:spcBef>
              <a:spcAft>
                <a:spcPts val="140"/>
              </a:spcAft>
            </a:pPr>
            <a:r>
              <a:rPr sz="9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├─ subsystems/&lt;s&gt;.md  ·  targets/&lt;slug&gt;/{facts,decisions,idea_ledger}</a:t>
            </a:r>
          </a:p>
          <a:p>
            <a:pPr algn="l">
              <a:spcBef>
                <a:spcPts val="0"/>
              </a:spcBef>
              <a:spcAft>
                <a:spcPts val="140"/>
              </a:spcAft>
            </a:pPr>
            <a:r>
              <a:rPr sz="9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└─ index/                            </a:t>
            </a:r>
            <a:r>
              <a:rPr sz="86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# 向量检索索引</a:t>
            </a:r>
          </a:p>
          <a:p>
            <a:pPr algn="l">
              <a:spcBef>
                <a:spcPts val="0"/>
              </a:spcBef>
              <a:spcAft>
                <a:spcPts val="140"/>
              </a:spcAft>
            </a:pPr>
            <a:r>
              <a:rPr sz="9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├─ evidence/                            </a:t>
            </a:r>
            <a:r>
              <a:rPr sz="86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# 可复核证据(每条回链来源)</a:t>
            </a:r>
          </a:p>
          <a:p>
            <a:pPr algn="l">
              <a:spcBef>
                <a:spcPts val="0"/>
              </a:spcBef>
              <a:spcAft>
                <a:spcPts val="140"/>
              </a:spcAft>
            </a:pPr>
            <a:r>
              <a:rPr sz="9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├─ benchmarks/                       </a:t>
            </a:r>
            <a:r>
              <a:rPr sz="86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# 例:mm-reclaim_2026Q2.json</a:t>
            </a:r>
          </a:p>
          <a:p>
            <a:pPr algn="l">
              <a:spcBef>
                <a:spcPts val="0"/>
              </a:spcBef>
              <a:spcAft>
                <a:spcPts val="140"/>
              </a:spcAft>
            </a:pPr>
            <a:r>
              <a:rPr sz="9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└─ regressions/                      </a:t>
            </a:r>
            <a:r>
              <a:rPr sz="86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# 例:R031_shrink_node.json</a:t>
            </a:r>
          </a:p>
          <a:p>
            <a:pPr algn="l">
              <a:spcBef>
                <a:spcPts val="0"/>
              </a:spcBef>
              <a:spcAft>
                <a:spcPts val="140"/>
              </a:spcAft>
            </a:pPr>
            <a:r>
              <a:rPr sz="9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├─ eval/                                </a:t>
            </a:r>
            <a:r>
              <a:rPr sz="86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# 顶层评测资产·团队共享(见右下)</a:t>
            </a:r>
          </a:p>
          <a:p>
            <a:pPr algn="l">
              <a:spcBef>
                <a:spcPts val="0"/>
              </a:spcBef>
              <a:spcAft>
                <a:spcPts val="140"/>
              </a:spcAft>
            </a:pPr>
            <a:r>
              <a:rPr sz="9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├─ task_suites/                      </a:t>
            </a:r>
            <a:r>
              <a:rPr sz="86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# 可复用任务集 例:mm_reclaim_suite/</a:t>
            </a:r>
          </a:p>
          <a:p>
            <a:pPr algn="l">
              <a:spcBef>
                <a:spcPts val="0"/>
              </a:spcBef>
              <a:spcAft>
                <a:spcPts val="140"/>
              </a:spcAft>
            </a:pPr>
            <a:r>
              <a:rPr sz="9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└─ scorecards/                       </a:t>
            </a:r>
            <a:r>
              <a:rPr sz="86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# 发布级评分 例:funnel_v3_*.md</a:t>
            </a:r>
          </a:p>
          <a:p>
            <a:pPr algn="l">
              <a:spcBef>
                <a:spcPts val="0"/>
              </a:spcBef>
              <a:spcAft>
                <a:spcPts val="140"/>
              </a:spcAft>
            </a:pPr>
            <a:r>
              <a:rPr sz="9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└─ policies/ staging/ tools/ .github/   </a:t>
            </a:r>
            <a:r>
              <a:rPr sz="86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# 规则·入站候选·脚本·CI 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95160" y="1078992"/>
            <a:ext cx="4782312" cy="2103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133856"/>
            <a:ext cx="4572000" cy="2743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② 业务仓 .opencode/ — 每成员执行面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9168" y="1426464"/>
            <a:ext cx="4681728" cy="1755648"/>
          </a:xfrm>
          <a:prstGeom prst="rect">
            <a:avLst/>
          </a:prstGeom>
          <a:noFill/>
        </p:spPr>
        <p:txBody>
          <a:bodyPr wrap="none" anchor="t" lIns="128016" rIns="54864" tIns="91440">
            <a:spAutoFit/>
          </a:bodyPr>
          <a:lstStyle/>
          <a:p>
            <a:pPr algn="l">
              <a:spcBef>
                <a:spcPts val="0"/>
              </a:spcBef>
              <a:spcAft>
                <a:spcPts val="130"/>
              </a:spcAft>
            </a:pPr>
            <a:r>
              <a:rPr sz="819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.opencode/                 </a:t>
            </a:r>
            <a:r>
              <a:rPr sz="779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# 在业务仓内 · 执行面</a:t>
            </a:r>
          </a:p>
          <a:p>
            <a:pPr algn="l">
              <a:spcBef>
                <a:spcPts val="0"/>
              </a:spcBef>
              <a:spcAft>
                <a:spcPts val="130"/>
              </a:spcAft>
            </a:pPr>
            <a:r>
              <a:rPr sz="819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├─ hub/                    </a:t>
            </a:r>
            <a:r>
              <a:rPr sz="779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# 子模块·锁定版本(只读)</a:t>
            </a:r>
          </a:p>
          <a:p>
            <a:pPr algn="l">
              <a:spcBef>
                <a:spcPts val="0"/>
              </a:spcBef>
              <a:spcAft>
                <a:spcPts val="130"/>
              </a:spcAft>
            </a:pPr>
            <a:r>
              <a:rPr sz="819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├─ local/                  </a:t>
            </a:r>
            <a:r>
              <a:rPr sz="779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# 本成员执行产物</a:t>
            </a:r>
          </a:p>
          <a:p>
            <a:pPr algn="l">
              <a:spcBef>
                <a:spcPts val="0"/>
              </a:spcBef>
              <a:spcAft>
                <a:spcPts val="130"/>
              </a:spcAft>
            </a:pPr>
            <a:r>
              <a:rPr sz="819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 runs/&lt;run_id&gt;/         </a:t>
            </a:r>
            <a:r>
              <a:rPr sz="779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# plans/reviews/bench…</a:t>
            </a:r>
          </a:p>
          <a:p>
            <a:pPr algn="l">
              <a:spcBef>
                <a:spcPts val="0"/>
              </a:spcBef>
              <a:spcAft>
                <a:spcPts val="130"/>
              </a:spcAft>
            </a:pPr>
            <a:r>
              <a:rPr sz="819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   &lt;target&gt;_design.md   </a:t>
            </a:r>
            <a:r>
              <a:rPr sz="779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# 运行证据(建议留存)</a:t>
            </a:r>
          </a:p>
          <a:p>
            <a:pPr algn="l">
              <a:spcBef>
                <a:spcPts val="0"/>
              </a:spcBef>
              <a:spcAft>
                <a:spcPts val="130"/>
              </a:spcAft>
            </a:pPr>
            <a:r>
              <a:rPr sz="819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 memory/                </a:t>
            </a:r>
            <a:r>
              <a:rPr sz="779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# 在途记忆(Tier1)</a:t>
            </a:r>
          </a:p>
          <a:p>
            <a:pPr algn="l">
              <a:spcBef>
                <a:spcPts val="0"/>
              </a:spcBef>
              <a:spcAft>
                <a:spcPts val="130"/>
              </a:spcAft>
            </a:pPr>
            <a:r>
              <a:rPr sz="819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 sediment_staging/      </a:t>
            </a:r>
            <a:r>
              <a:rPr sz="779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# 候选包 → PR 到 hub</a:t>
            </a:r>
          </a:p>
          <a:p>
            <a:pPr algn="l">
              <a:spcBef>
                <a:spcPts val="0"/>
              </a:spcBef>
              <a:spcAft>
                <a:spcPts val="130"/>
              </a:spcAft>
            </a:pPr>
            <a:r>
              <a:rPr sz="819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├─ state/current_task.json </a:t>
            </a:r>
            <a:r>
              <a:rPr sz="779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# 纯运行态(gitignore)</a:t>
            </a:r>
          </a:p>
          <a:p>
            <a:pPr algn="l">
              <a:spcBef>
                <a:spcPts val="0"/>
              </a:spcBef>
              <a:spcAft>
                <a:spcPts val="130"/>
              </a:spcAft>
            </a:pPr>
            <a:r>
              <a:rPr sz="819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├─ skill-memory.lock       </a:t>
            </a:r>
            <a:r>
              <a:rPr sz="779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# 锁定版本(semver+SHA)</a:t>
            </a:r>
          </a:p>
          <a:p>
            <a:pPr algn="l">
              <a:spcBef>
                <a:spcPts val="0"/>
              </a:spcBef>
              <a:spcAft>
                <a:spcPts val="130"/>
              </a:spcAft>
            </a:pPr>
            <a:r>
              <a:rPr sz="819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└─ resolver.py             </a:t>
            </a:r>
            <a:r>
              <a:rPr sz="779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# 先 hub 再叠加 local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3255264"/>
            <a:ext cx="4782312" cy="1481328"/>
          </a:xfrm>
          <a:prstGeom prst="roundRect">
            <a:avLst>
              <a:gd name="adj" fmla="val 4000"/>
            </a:avLst>
          </a:prstGeom>
          <a:solidFill>
            <a:srgbClr val="F3FBFA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3310128"/>
            <a:ext cx="4572000" cy="2743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【放大】一个技能文件夹 = skills/core/optimization-funnel/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8" y="3621024"/>
            <a:ext cx="4572000" cy="1097280"/>
          </a:xfrm>
          <a:prstGeom prst="rect">
            <a:avLst/>
          </a:prstGeom>
          <a:noFill/>
        </p:spPr>
        <p:txBody>
          <a:bodyPr wrap="none" anchor="t" lIns="128016" rIns="54864" tIns="91440">
            <a:spAutoFit/>
          </a:bodyPr>
          <a:lstStyle/>
          <a:p>
            <a:pPr algn="l">
              <a:spcBef>
                <a:spcPts val="0"/>
              </a:spcBef>
              <a:spcAft>
                <a:spcPts val="140"/>
              </a:spcAft>
            </a:pPr>
            <a:r>
              <a:rPr sz="83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SKILL.md      </a:t>
            </a:r>
            <a:r>
              <a:rPr sz="79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# 选中即读:何时用 + 怎么用</a:t>
            </a:r>
          </a:p>
          <a:p>
            <a:pPr algn="l">
              <a:spcBef>
                <a:spcPts val="0"/>
              </a:spcBef>
              <a:spcAft>
                <a:spcPts val="140"/>
              </a:spcAft>
            </a:pPr>
            <a:r>
              <a:rPr sz="83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best_skill.md </a:t>
            </a:r>
            <a:r>
              <a:rPr sz="79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# SkillOpt 优化出的“正本”</a:t>
            </a:r>
          </a:p>
          <a:p>
            <a:pPr algn="l">
              <a:spcBef>
                <a:spcPts val="0"/>
              </a:spcBef>
              <a:spcAft>
                <a:spcPts val="140"/>
              </a:spcAft>
            </a:pPr>
            <a:r>
              <a:rPr sz="83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evals/        </a:t>
            </a:r>
            <a:r>
              <a:rPr sz="79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# 本技能评测:绑定哪套题 + 留出用例</a:t>
            </a:r>
          </a:p>
          <a:p>
            <a:pPr algn="l">
              <a:spcBef>
                <a:spcPts val="0"/>
              </a:spcBef>
              <a:spcAft>
                <a:spcPts val="140"/>
              </a:spcAft>
            </a:pPr>
            <a:r>
              <a:rPr sz="83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candidates/   </a:t>
            </a:r>
            <a:r>
              <a:rPr sz="79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# Pareto 前沿:互补候选</a:t>
            </a:r>
          </a:p>
          <a:p>
            <a:pPr algn="l">
              <a:spcBef>
                <a:spcPts val="0"/>
              </a:spcBef>
              <a:spcAft>
                <a:spcPts val="140"/>
              </a:spcAft>
            </a:pPr>
            <a:r>
              <a:rPr sz="83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scorecards/   </a:t>
            </a:r>
            <a:r>
              <a:rPr sz="79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# 本技能历次 A/B 跑分</a:t>
            </a:r>
          </a:p>
          <a:p>
            <a:pPr algn="l">
              <a:spcBef>
                <a:spcPts val="0"/>
              </a:spcBef>
              <a:spcAft>
                <a:spcPts val="140"/>
              </a:spcAft>
            </a:pPr>
            <a:r>
              <a:rPr sz="83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references/   </a:t>
            </a:r>
            <a:r>
              <a:rPr sz="79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# 重材料(按需加载)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4809744"/>
            <a:ext cx="4782312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0F1E3D"/>
                </a:solidFill>
                <a:latin typeface="Microsoft YaHei"/>
                <a:ea typeface="Microsoft YaHei"/>
                <a:cs typeface="Microsoft YaHei"/>
              </a:rPr>
              <a:t>易混淆：eval/（顶层共享题库） 与 evals/（技能内考卷）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95160" y="5084064"/>
            <a:ext cx="2331720" cy="1225296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eval/  顶层 · 共享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共享题库 task_suites/ + 发布评分 scorecards/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45752" y="5084064"/>
            <a:ext cx="2331720" cy="1225296"/>
          </a:xfrm>
          <a:prstGeom prst="roundRect">
            <a:avLst>
              <a:gd name="adj" fmla="val 10000"/>
            </a:avLst>
          </a:prstGeom>
          <a:solidFill>
            <a:srgbClr val="E2F7F3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evals/  技能内 · 私有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引用 eval_id 指向某 suite + 本技能用例/跑分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Team Skill Hub · Draft v2.1 · 2026-05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241280" cy="50292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分阶段路线图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548640"/>
            <a:ext cx="10241280" cy="310896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C8D2E0"/>
                </a:solidFill>
                <a:latin typeface="Microsoft YaHei"/>
                <a:ea typeface="Microsoft YaHei"/>
                <a:cs typeface="Microsoft YaHei"/>
              </a:rPr>
              <a:t>Phase 3（搭建 eval 评测套件）是关键瓶颈（长杆），红色标注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C8D2E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7" name="Chevron 6"/>
          <p:cNvSpPr/>
          <p:nvPr/>
        </p:nvSpPr>
        <p:spPr>
          <a:xfrm>
            <a:off x="411480" y="2331720"/>
            <a:ext cx="2395728" cy="1554480"/>
          </a:xfrm>
          <a:prstGeom prst="chevron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Phase 0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抽取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1–2w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114800"/>
            <a:ext cx="2212848" cy="77724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双仓锁定 + 路径兼容</a:t>
            </a:r>
          </a:p>
        </p:txBody>
      </p:sp>
      <p:sp>
        <p:nvSpPr>
          <p:cNvPr id="9" name="Chevron 8"/>
          <p:cNvSpPr/>
          <p:nvPr/>
        </p:nvSpPr>
        <p:spPr>
          <a:xfrm>
            <a:off x="2642616" y="2331720"/>
            <a:ext cx="2395728" cy="1554480"/>
          </a:xfrm>
          <a:prstGeom prst="chevron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Phase 1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蒸馏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2–3w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79776" y="4114800"/>
            <a:ext cx="2212848" cy="77724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hmopt sediment 沉淀</a:t>
            </a:r>
          </a:p>
        </p:txBody>
      </p:sp>
      <p:sp>
        <p:nvSpPr>
          <p:cNvPr id="11" name="Chevron 10"/>
          <p:cNvSpPr/>
          <p:nvPr/>
        </p:nvSpPr>
        <p:spPr>
          <a:xfrm>
            <a:off x="4873752" y="2331720"/>
            <a:ext cx="2395728" cy="1554480"/>
          </a:xfrm>
          <a:prstGeom prst="chevron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Phase 2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策展+合并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3–6w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10912" y="4114800"/>
            <a:ext cx="2212848" cy="77724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引擎A + CI + 规则文档</a:t>
            </a:r>
          </a:p>
        </p:txBody>
      </p:sp>
      <p:sp>
        <p:nvSpPr>
          <p:cNvPr id="13" name="Chevron 12"/>
          <p:cNvSpPr/>
          <p:nvPr/>
        </p:nvSpPr>
        <p:spPr>
          <a:xfrm>
            <a:off x="7104888" y="2331720"/>
            <a:ext cx="2395728" cy="1554480"/>
          </a:xfrm>
          <a:prstGeom prst="chevron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Phase 3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评测门 ★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6–10w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42048" y="4114800"/>
            <a:ext cx="2212848" cy="77724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core 评测套件 + 引擎B</a:t>
            </a:r>
          </a:p>
        </p:txBody>
      </p:sp>
      <p:sp>
        <p:nvSpPr>
          <p:cNvPr id="15" name="Chevron 14"/>
          <p:cNvSpPr/>
          <p:nvPr/>
        </p:nvSpPr>
        <p:spPr>
          <a:xfrm>
            <a:off x="9336024" y="2331720"/>
            <a:ext cx="2395728" cy="1554480"/>
          </a:xfrm>
          <a:prstGeom prst="chevron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Phase 4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自动优化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10w+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73184" y="4114800"/>
            <a:ext cx="2212848" cy="77724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定时作业 + 发布节奏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40680"/>
            <a:ext cx="11091672" cy="54864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先用 symlink 软链兜底、跑通双仓（Phase 0）；评测套件最难也最值；优化作业从半自动逐步走向全自动。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Team Skill Hub · Draft v2.1 · 2026-05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
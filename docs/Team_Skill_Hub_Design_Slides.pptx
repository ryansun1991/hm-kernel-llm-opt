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931920"/>
            <a:ext cx="6035040" cy="3657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057400"/>
            <a:ext cx="10424160" cy="109728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4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团队级 Skill / Memory 仓库闭环方案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3154680"/>
            <a:ext cx="10424160" cy="54864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0">
                <a:solidFill>
                  <a:srgbClr val="0D9488"/>
                </a:solidFill>
                <a:latin typeface="Microsoft YaHei"/>
                <a:ea typeface="Microsoft YaHei"/>
                <a:cs typeface="Microsoft YaHei"/>
              </a:rPr>
              <a:t>Team Skill Hub  ·  本地沉淀 → 团队技能仓 → 反哺 Pipeline → 闭环迭代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069080"/>
            <a:ext cx="10424160" cy="45720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C8D2E0"/>
                </a:solidFill>
                <a:latin typeface="Microsoft YaHei"/>
                <a:ea typeface="Microsoft YaHei"/>
                <a:cs typeface="Microsoft YaHei"/>
              </a:rPr>
              <a:t>可迭代  ·  可沉淀  ·  可闭环优化  ·  可复用  ·  稳定可用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5074920"/>
            <a:ext cx="1581912" cy="457200"/>
          </a:xfrm>
          <a:prstGeom prst="roundRect">
            <a:avLst>
              <a:gd name="adj" fmla="val 50000"/>
            </a:avLst>
          </a:prstGeom>
          <a:solidFill>
            <a:srgbClr val="1B2E55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SkillOpt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33472" y="5074920"/>
            <a:ext cx="996696" cy="457200"/>
          </a:xfrm>
          <a:prstGeom prst="roundRect">
            <a:avLst>
              <a:gd name="adj" fmla="val 50000"/>
            </a:avLst>
          </a:prstGeom>
          <a:solidFill>
            <a:srgbClr val="1B2E55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memU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858768" y="5074920"/>
            <a:ext cx="1874520" cy="457200"/>
          </a:xfrm>
          <a:prstGeom prst="roundRect">
            <a:avLst>
              <a:gd name="adj" fmla="val 50000"/>
            </a:avLst>
          </a:prstGeom>
          <a:solidFill>
            <a:srgbClr val="1B2E55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Mem0 / Zep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61888" y="5074920"/>
            <a:ext cx="996696" cy="457200"/>
          </a:xfrm>
          <a:prstGeom prst="roundRect">
            <a:avLst>
              <a:gd name="adj" fmla="val 50000"/>
            </a:avLst>
          </a:prstGeom>
          <a:solidFill>
            <a:srgbClr val="1B2E55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GEPA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87183" y="5074920"/>
            <a:ext cx="1435608" cy="457200"/>
          </a:xfrm>
          <a:prstGeom prst="roundRect">
            <a:avLst>
              <a:gd name="adj" fmla="val 50000"/>
            </a:avLst>
          </a:prstGeom>
          <a:solidFill>
            <a:srgbClr val="1B2E55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Voyager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851392" y="5074920"/>
            <a:ext cx="2167128" cy="457200"/>
          </a:xfrm>
          <a:prstGeom prst="roundRect">
            <a:avLst>
              <a:gd name="adj" fmla="val 50000"/>
            </a:avLst>
          </a:prstGeom>
          <a:solidFill>
            <a:srgbClr val="1B2E55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Agent Skills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126480"/>
            <a:ext cx="7315200" cy="36576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C8D2E0"/>
                </a:solidFill>
                <a:latin typeface="Microsoft YaHei"/>
                <a:ea typeface="Microsoft YaHei"/>
                <a:cs typeface="Microsoft YaHei"/>
              </a:rPr>
              <a:t>Draft v2.1  ·  2026-05  ·  研究 + 方案设计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6400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0241280" cy="50292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2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闭环全景 · 两仓协同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548640"/>
            <a:ext cx="10241280" cy="310896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C8D2E0"/>
                </a:solidFill>
                <a:latin typeface="Microsoft YaHei"/>
                <a:ea typeface="Microsoft YaHei"/>
                <a:cs typeface="Microsoft YaHei"/>
              </a:rPr>
              <a:t>消费 → 蒸馏 → 沉淀合并 → eval 发布 → 再消费（每环都有质量门）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274320"/>
            <a:ext cx="822960" cy="45720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C8D2E0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331720"/>
            <a:ext cx="2514600" cy="1600200"/>
          </a:xfrm>
          <a:prstGeom prst="roundRect">
            <a:avLst>
              <a:gd name="adj" fmla="val 10000"/>
            </a:avLst>
          </a:prstGeom>
          <a:solidFill>
            <a:srgbClr val="EEF2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400" b="1">
                <a:solidFill>
                  <a:srgbClr val="4F46E5"/>
                </a:solidFill>
                <a:latin typeface="Microsoft YaHei"/>
                <a:ea typeface="Microsoft YaHei"/>
                <a:cs typeface="Microsoft YaHei"/>
              </a:rPr>
              <a:t>hm-skill-hub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团队资产面 · semver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skills/ (引擎B)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knowledge/ (引擎A)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20440" y="2331720"/>
            <a:ext cx="2697480" cy="1600200"/>
          </a:xfrm>
          <a:prstGeom prst="roundRect">
            <a:avLst>
              <a:gd name="adj" fmla="val 10000"/>
            </a:avLst>
          </a:prstGeom>
          <a:solidFill>
            <a:srgbClr val="E2F7F3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400" b="1">
                <a:solidFill>
                  <a:srgbClr val="0D9488"/>
                </a:solidFill>
                <a:latin typeface="Microsoft YaHei"/>
                <a:ea typeface="Microsoft YaHei"/>
                <a:cs typeface="Microsoft YaHei"/>
              </a:rPr>
              <a:t>pipeline 运行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（每成员）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research→plan→code→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review→test→decision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20840" y="2331720"/>
            <a:ext cx="2331720" cy="160020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local/ 运行证据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+ sediment_staging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（Tier1 候选）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555480" y="2331720"/>
            <a:ext cx="2148840" cy="1600200"/>
          </a:xfrm>
          <a:prstGeom prst="roundRect">
            <a:avLst>
              <a:gd name="adj" fmla="val 10000"/>
            </a:avLst>
          </a:prstGeom>
          <a:solidFill>
            <a:srgbClr val="FDF4DC"/>
          </a:solidFill>
          <a:ln w="12700">
            <a:solidFill>
              <a:srgbClr val="B47E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B47E00"/>
                </a:solidFill>
                <a:latin typeface="Microsoft YaHei"/>
                <a:ea typeface="Microsoft YaHei"/>
                <a:cs typeface="Microsoft YaHei"/>
              </a:rPr>
              <a:t>Curator + CI 门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去重 · 冲突 · eval-gate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脱敏 · Pareto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017520" y="3131820"/>
            <a:ext cx="502920" cy="0"/>
          </a:xfrm>
          <a:prstGeom prst="line">
            <a:avLst/>
          </a:prstGeom>
          <a:ln w="317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697480" y="1874519"/>
            <a:ext cx="1143000" cy="329184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① 消费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217920" y="3131820"/>
            <a:ext cx="502920" cy="0"/>
          </a:xfrm>
          <a:prstGeom prst="line">
            <a:avLst/>
          </a:prstGeom>
          <a:ln w="317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5897880" y="1874519"/>
            <a:ext cx="1143000" cy="329184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② 蒸馏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052560" y="3131820"/>
            <a:ext cx="502920" cy="0"/>
          </a:xfrm>
          <a:prstGeom prst="line">
            <a:avLst/>
          </a:prstGeom>
          <a:ln w="317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8732520" y="1874519"/>
            <a:ext cx="1143000" cy="329184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③ 沉淀PR</a:t>
            </a:r>
          </a:p>
        </p:txBody>
      </p:sp>
      <p:sp>
        <p:nvSpPr>
          <p:cNvPr id="17" name="Left Arrow 16"/>
          <p:cNvSpPr/>
          <p:nvPr/>
        </p:nvSpPr>
        <p:spPr>
          <a:xfrm>
            <a:off x="548640" y="4343400"/>
            <a:ext cx="11155680" cy="658368"/>
          </a:xfrm>
          <a:prstGeom prst="leftArrow">
            <a:avLst/>
          </a:prstGeom>
          <a:solidFill>
            <a:srgbClr val="E3ED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4F46E5"/>
                </a:solidFill>
                <a:latin typeface="Microsoft YaHei"/>
                <a:ea typeface="Microsoft YaHei"/>
                <a:cs typeface="Microsoft YaHei"/>
              </a:rPr>
              <a:t>④ 发布：eval-gate 通过才回灌 pipeline（闭环·pinned 版本）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394960"/>
            <a:ext cx="11091672" cy="548640"/>
          </a:xfrm>
          <a:prstGeom prst="round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4F46E5"/>
                </a:solidFill>
                <a:latin typeface="Microsoft YaHei"/>
                <a:ea typeface="Microsoft YaHei"/>
                <a:cs typeface="Microsoft YaHei"/>
              </a:rPr>
              <a:t>每一环都有质量门，脏数据不滚雪球；hub 以 pinned 版本反向喂回，可复现、可回滚。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37960"/>
            <a:ext cx="11247120" cy="27432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Team Skill Hub · Draft v2.1 · 2026-05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6400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0241280" cy="50292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2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脊柱：两类资产 · 两套合并引擎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548640"/>
            <a:ext cx="10241280" cy="310896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C8D2E0"/>
                </a:solidFill>
                <a:latin typeface="Microsoft YaHei"/>
                <a:ea typeface="Microsoft YaHei"/>
                <a:cs typeface="Microsoft YaHei"/>
              </a:rPr>
              <a:t>用同一套 git 行级合并治理两者 = 团队记忆仓失败根因；分开走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274320"/>
            <a:ext cx="822960" cy="45720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C8D2E0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325880"/>
            <a:ext cx="5486400" cy="3703320"/>
          </a:xfrm>
          <a:prstGeom prst="roundRect">
            <a:avLst>
              <a:gd name="adj" fmla="val 5000"/>
            </a:avLst>
          </a:prstGeom>
          <a:solidFill>
            <a:srgbClr val="EEF2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212080" cy="36576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1">
                <a:solidFill>
                  <a:srgbClr val="4F46E5"/>
                </a:solidFill>
                <a:latin typeface="Microsoft YaHei"/>
                <a:ea typeface="Microsoft YaHei"/>
                <a:cs typeface="Microsoft YaHei"/>
              </a:rPr>
              <a:t>Skills（过程性）— 引擎 B：验证门竞争式编辑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920240"/>
            <a:ext cx="4937760" cy="5486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成员提议：有界编辑 add / del / replace（文本学习率裁剪）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417320" y="2697480"/>
            <a:ext cx="3657600" cy="548640"/>
          </a:xfrm>
          <a:prstGeom prst="roundRect">
            <a:avLst>
              <a:gd name="adj" fmla="val 9000"/>
            </a:avLst>
          </a:prstGeom>
          <a:solidFill>
            <a:srgbClr val="FDF4DC"/>
          </a:solidFill>
          <a:ln w="12700">
            <a:solidFill>
              <a:srgbClr val="B47E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B47E00"/>
                </a:solidFill>
                <a:latin typeface="Microsoft YaHei"/>
                <a:ea typeface="Microsoft YaHei"/>
                <a:cs typeface="Microsoft YaHei"/>
              </a:rPr>
              <a:t>留出 eval 套件：严格变好？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246120" y="2468880"/>
            <a:ext cx="0" cy="228600"/>
          </a:xfrm>
          <a:prstGeom prst="line">
            <a:avLst/>
          </a:prstGeom>
          <a:ln w="2540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77240" y="3474720"/>
            <a:ext cx="2331720" cy="566928"/>
          </a:xfrm>
          <a:prstGeom prst="roundRect">
            <a:avLst>
              <a:gd name="adj" fmla="val 9000"/>
            </a:avLst>
          </a:prstGeom>
          <a:solidFill>
            <a:srgbClr val="DDF3E5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00" b="1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是 → 更新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best_skill.md + scorecard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83280" y="3474720"/>
            <a:ext cx="2331720" cy="566928"/>
          </a:xfrm>
          <a:prstGeom prst="roundRect">
            <a:avLst>
              <a:gd name="adj" fmla="val 9000"/>
            </a:avLst>
          </a:prstGeom>
          <a:solidFill>
            <a:srgbClr val="FDE7E9"/>
          </a:solidFill>
          <a:ln w="12700">
            <a:solidFill>
              <a:srgbClr val="DC35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00" b="1">
                <a:solidFill>
                  <a:srgbClr val="DC3545"/>
                </a:solidFill>
                <a:latin typeface="Microsoft YaHei"/>
                <a:ea typeface="Microsoft YaHei"/>
                <a:cs typeface="Microsoft YaHei"/>
              </a:rPr>
              <a:t>否 → 进 bad_edits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缓冲（不再重试）</a:t>
            </a:r>
          </a:p>
        </p:txBody>
      </p:sp>
      <p:cxnSp>
        <p:nvCxnSpPr>
          <p:cNvPr id="14" name="Connector 13"/>
          <p:cNvCxnSpPr/>
          <p:nvPr/>
        </p:nvCxnSpPr>
        <p:spPr>
          <a:xfrm flipH="1">
            <a:off x="1920240" y="3246120"/>
            <a:ext cx="548640" cy="228600"/>
          </a:xfrm>
          <a:prstGeom prst="line">
            <a:avLst/>
          </a:prstGeom>
          <a:ln w="22225">
            <a:solidFill>
              <a:srgbClr val="16A3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023360" y="3246120"/>
            <a:ext cx="548640" cy="228600"/>
          </a:xfrm>
          <a:prstGeom prst="line">
            <a:avLst/>
          </a:prstGeom>
          <a:ln w="22225">
            <a:solidFill>
              <a:srgbClr val="DC354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" y="4251960"/>
            <a:ext cx="4937760" cy="603504"/>
          </a:xfrm>
          <a:prstGeom prst="roundRect">
            <a:avLst>
              <a:gd name="adj" fmla="val 9000"/>
            </a:avLst>
          </a:prstGeom>
          <a:solidFill>
            <a:srgbClr val="E6E2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4F46E5"/>
                </a:solidFill>
                <a:latin typeface="Microsoft YaHei"/>
                <a:ea typeface="Microsoft YaHei"/>
                <a:cs typeface="Microsoft YaHei"/>
              </a:rPr>
              <a:t>GEPA Pareto：保留互补候选，防多人编辑塌缩到局部最优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99632" y="1325880"/>
            <a:ext cx="5486400" cy="3703320"/>
          </a:xfrm>
          <a:prstGeom prst="roundRect">
            <a:avLst>
              <a:gd name="adj" fmla="val 5000"/>
            </a:avLst>
          </a:prstGeom>
          <a:solidFill>
            <a:srgbClr val="FFECD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36792" y="1417320"/>
            <a:ext cx="5212080" cy="36576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EA580C"/>
                </a:solidFill>
                <a:latin typeface="Microsoft YaHei"/>
                <a:ea typeface="Microsoft YaHei"/>
                <a:cs typeface="Microsoft YaHei"/>
              </a:rPr>
              <a:t>Knowledge（事实/记忆）— 引擎 A：集合并 + 去重 + 冲突消解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46520" y="1920240"/>
            <a:ext cx="5029200" cy="50292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稳定 ID · 集合并（绝不 git 行级合并）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46520" y="2606040"/>
            <a:ext cx="5029200" cy="5486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近似重复？→ 合并出处，confirmations + 1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46520" y="3291840"/>
            <a:ext cx="5029200" cy="6400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矛盾？→ 证据/新近度加权（Zep 双时态）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旧记录标 superseded，不删除，可审计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46520" y="4069080"/>
            <a:ext cx="5029200" cy="50292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否则 → 新增（带出处 + 证据，无出处即拒）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961120" y="2423160"/>
            <a:ext cx="0" cy="137160"/>
          </a:xfrm>
          <a:prstGeom prst="line">
            <a:avLst/>
          </a:prstGeom>
          <a:ln w="22225">
            <a:solidFill>
              <a:srgbClr val="EA580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8961120" y="3154680"/>
            <a:ext cx="0" cy="137160"/>
          </a:xfrm>
          <a:prstGeom prst="line">
            <a:avLst/>
          </a:prstGeom>
          <a:ln w="22225">
            <a:solidFill>
              <a:srgbClr val="EA580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8961120" y="3931920"/>
            <a:ext cx="0" cy="137160"/>
          </a:xfrm>
          <a:prstGeom prst="line">
            <a:avLst/>
          </a:prstGeom>
          <a:ln w="22225">
            <a:solidFill>
              <a:srgbClr val="EA580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548640" y="5257800"/>
            <a:ext cx="11091672" cy="548640"/>
          </a:xfrm>
          <a:prstGeom prst="round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4F46E5"/>
                </a:solidFill>
                <a:latin typeface="Microsoft YaHei"/>
                <a:ea typeface="Microsoft YaHei"/>
                <a:cs typeface="Microsoft YaHei"/>
              </a:rPr>
              <a:t>知识靠『集合并 + 去重 + 冲突消解』；技能靠『验证门竞争式编辑 + Pareto』。两类资产，两台引擎。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537960"/>
            <a:ext cx="11247120" cy="27432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Team Skill Hub · Draft v2.1 · 2026-05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6400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0241280" cy="50292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2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沉淀漏斗：三层 · 三道门 · L0–L3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548640"/>
            <a:ext cx="10241280" cy="310896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C8D2E0"/>
                </a:solidFill>
                <a:latin typeface="Microsoft YaHei"/>
                <a:ea typeface="Microsoft YaHei"/>
                <a:cs typeface="Microsoft YaHei"/>
              </a:rPr>
              <a:t>一条原始轨迹如何层层过门、晋升为团队资产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274320"/>
            <a:ext cx="822960" cy="45720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C8D2E0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09647" y="1234440"/>
            <a:ext cx="7772400" cy="548640"/>
          </a:xfrm>
          <a:prstGeom prst="roundRect">
            <a:avLst>
              <a:gd name="adj" fmla="val 9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Tier0 运行轨迹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plans · reviews · bench · design（本地，可能含密钥）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21127" y="1965960"/>
            <a:ext cx="6949440" cy="548640"/>
          </a:xfrm>
          <a:prstGeom prst="roundRect">
            <a:avLst>
              <a:gd name="adj" fmla="val 9000"/>
            </a:avLst>
          </a:prstGeom>
          <a:solidFill>
            <a:srgbClr val="E3ED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Tier1 候选 = L1 — 类型化 + 出处 + 证据（staging）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86887" y="2697480"/>
            <a:ext cx="6217920" cy="548640"/>
          </a:xfrm>
          <a:prstGeom prst="roundRect">
            <a:avLst>
              <a:gd name="adj" fmla="val 9000"/>
            </a:avLst>
          </a:prstGeom>
          <a:solidFill>
            <a:srgbClr val="FDF4DC"/>
          </a:solidFill>
          <a:ln w="12700">
            <a:solidFill>
              <a:srgbClr val="B47E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B47E00"/>
                </a:solidFill>
                <a:latin typeface="Microsoft YaHei"/>
                <a:ea typeface="Microsoft YaHei"/>
                <a:cs typeface="Microsoft YaHei"/>
              </a:rPr>
              <a:t>门1 · Schema / Lint / 脱敏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52647" y="3429000"/>
            <a:ext cx="5486400" cy="548640"/>
          </a:xfrm>
          <a:prstGeom prst="roundRect">
            <a:avLst>
              <a:gd name="adj" fmla="val 9000"/>
            </a:avLst>
          </a:prstGeom>
          <a:solidFill>
            <a:srgbClr val="FDF4DC"/>
          </a:solidFill>
          <a:ln w="12700">
            <a:solidFill>
              <a:srgbClr val="B47E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B47E00"/>
                </a:solidFill>
                <a:latin typeface="Microsoft YaHei"/>
                <a:ea typeface="Microsoft YaHei"/>
                <a:cs typeface="Microsoft YaHei"/>
              </a:rPr>
              <a:t>门2 · 证据门：引用 · delta · ≥N 确认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18407" y="4160520"/>
            <a:ext cx="4754880" cy="548640"/>
          </a:xfrm>
          <a:prstGeom prst="roundRect">
            <a:avLst>
              <a:gd name="adj" fmla="val 9000"/>
            </a:avLst>
          </a:prstGeom>
          <a:solidFill>
            <a:srgbClr val="FDF4DC"/>
          </a:solidFill>
          <a:ln w="12700">
            <a:solidFill>
              <a:srgbClr val="B47E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B47E00"/>
                </a:solidFill>
                <a:latin typeface="Microsoft YaHei"/>
                <a:ea typeface="Microsoft YaHei"/>
                <a:cs typeface="Microsoft YaHei"/>
              </a:rPr>
              <a:t>门3 · 策展 + eval：Curator + 双评审 + eval-gate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84167" y="4892040"/>
            <a:ext cx="4023360" cy="548640"/>
          </a:xfrm>
          <a:prstGeom prst="roundRect">
            <a:avLst>
              <a:gd name="adj" fmla="val 9000"/>
            </a:avLst>
          </a:prstGeom>
          <a:solidFill>
            <a:srgbClr val="DDF3E5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Tier2 = L2 stable → knowledge/ 或 skills/domain/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41367" y="5623560"/>
            <a:ext cx="3108960" cy="548640"/>
          </a:xfrm>
          <a:prstGeom prst="roundRect">
            <a:avLst>
              <a:gd name="adj" fmla="val 9000"/>
            </a:avLst>
          </a:prstGeom>
          <a:solidFill>
            <a:srgbClr val="C7ECD6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L3 core → skills/core/（组织金标准）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095847" y="1783080"/>
            <a:ext cx="0" cy="182880"/>
          </a:xfrm>
          <a:prstGeom prst="line">
            <a:avLst/>
          </a:prstGeom>
          <a:ln w="2540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278727" y="1728216"/>
            <a:ext cx="3291840" cy="292608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收口点蒸馏 hmopt sediment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095847" y="2514600"/>
            <a:ext cx="0" cy="182880"/>
          </a:xfrm>
          <a:prstGeom prst="line">
            <a:avLst/>
          </a:prstGeom>
          <a:ln w="2540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6095847" y="3246120"/>
            <a:ext cx="0" cy="182880"/>
          </a:xfrm>
          <a:prstGeom prst="line">
            <a:avLst/>
          </a:prstGeom>
          <a:ln w="2540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095847" y="3977639"/>
            <a:ext cx="0" cy="182881"/>
          </a:xfrm>
          <a:prstGeom prst="line">
            <a:avLst/>
          </a:prstGeom>
          <a:ln w="2540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095847" y="4709159"/>
            <a:ext cx="0" cy="182881"/>
          </a:xfrm>
          <a:prstGeom prst="line">
            <a:avLst/>
          </a:prstGeom>
          <a:ln w="2540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095847" y="5440679"/>
            <a:ext cx="0" cy="182881"/>
          </a:xfrm>
          <a:prstGeom prst="line">
            <a:avLst/>
          </a:prstGeom>
          <a:ln w="2540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278727" y="5385816"/>
            <a:ext cx="3291840" cy="292608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跨子团队复用成功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2697480"/>
            <a:ext cx="2194560" cy="82296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1">
                <a:solidFill>
                  <a:srgbClr val="DC3545"/>
                </a:solidFill>
                <a:latin typeface="Microsoft YaHei"/>
                <a:ea typeface="Microsoft YaHei"/>
                <a:cs typeface="Microsoft YaHei"/>
              </a:rPr>
              <a:t>拒 → 打回 / 留本地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DC3545"/>
                </a:solidFill>
                <a:latin typeface="Microsoft YaHei"/>
                <a:ea typeface="Microsoft YaHei"/>
                <a:cs typeface="Microsoft YaHei"/>
              </a:rPr>
              <a:t>无证据 → 留 L1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DC3545"/>
                </a:solidFill>
                <a:latin typeface="Microsoft YaHei"/>
                <a:ea typeface="Microsoft YaHei"/>
                <a:cs typeface="Microsoft YaHei"/>
              </a:rPr>
              <a:t>破例 → 降级 + 签字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（无豁免口子）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537960"/>
            <a:ext cx="11247120" cy="27432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Team Skill Hub · Draft v2.1 · 2026-05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6400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0241280" cy="50292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2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skills/ 内部布局：消灭组合爆炸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548640"/>
            <a:ext cx="10241280" cy="310896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C8D2E0"/>
                </a:solidFill>
                <a:latin typeface="Microsoft YaHei"/>
                <a:ea typeface="Microsoft YaHei"/>
                <a:cs typeface="Microsoft YaHei"/>
              </a:rPr>
              <a:t>首要判据：做法/流程=skill，事实/教训=knowledge；只有 3 个维度是真正的 skill 文件夹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274320"/>
            <a:ext cx="822960" cy="45720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C8D2E0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051560"/>
            <a:ext cx="11091672" cy="384048"/>
          </a:xfrm>
          <a:prstGeom prst="round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4F46E5"/>
                </a:solidFill>
                <a:latin typeface="Microsoft YaHei"/>
                <a:ea typeface="Microsoft YaHei"/>
                <a:cs typeface="Microsoft YaHei"/>
              </a:rPr>
              <a:t>判定：做法/流程 → skill（照着执行·改措辞调优·eval 衡量）　｜　事实/结论/教训 → knowledge（查阅·增删纠错条目）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627632"/>
            <a:ext cx="2743200" cy="512064"/>
          </a:xfrm>
          <a:prstGeom prst="roundRect">
            <a:avLst>
              <a:gd name="adj" fmla="val 9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流程 / 跨切面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286000"/>
            <a:ext cx="2743200" cy="512064"/>
          </a:xfrm>
          <a:prstGeom prst="roundRect">
            <a:avLst>
              <a:gd name="adj" fmla="val 9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优化招式 mechanism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944368"/>
            <a:ext cx="2743200" cy="512064"/>
          </a:xfrm>
          <a:prstGeom prst="roundRect">
            <a:avLst>
              <a:gd name="adj" fmla="val 9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子系统 subsystem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602735"/>
            <a:ext cx="2743200" cy="512064"/>
          </a:xfrm>
          <a:prstGeom prst="roundRect">
            <a:avLst>
              <a:gd name="adj" fmla="val 9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目录 dir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261103"/>
            <a:ext cx="2743200" cy="512064"/>
          </a:xfrm>
          <a:prstGeom prst="roundRect">
            <a:avLst>
              <a:gd name="adj" fmla="val 9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文件 file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919471"/>
            <a:ext cx="2743200" cy="512064"/>
          </a:xfrm>
          <a:prstGeom prst="roundRect">
            <a:avLst>
              <a:gd name="adj" fmla="val 9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函数 function / symbol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0" y="1627632"/>
            <a:ext cx="4023360" cy="566928"/>
          </a:xfrm>
          <a:prstGeom prst="roundRect">
            <a:avLst>
              <a:gd name="adj" fmla="val 9000"/>
            </a:avLst>
          </a:prstGeom>
          <a:solidFill>
            <a:srgbClr val="E3ED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skills/core/   流程·跨切面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20" y="2395728"/>
            <a:ext cx="4023360" cy="566928"/>
          </a:xfrm>
          <a:prstGeom prst="roundRect">
            <a:avLst>
              <a:gd name="adj" fmla="val 9000"/>
            </a:avLst>
          </a:prstGeom>
          <a:solidFill>
            <a:srgbClr val="E3ED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skills/technique/   优化招式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89520" y="3163824"/>
            <a:ext cx="4023360" cy="566928"/>
          </a:xfrm>
          <a:prstGeom prst="roundRect">
            <a:avLst>
              <a:gd name="adj" fmla="val 9000"/>
            </a:avLst>
          </a:prstGeom>
          <a:solidFill>
            <a:srgbClr val="E3ED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skills/domain/ 按子系统/  ← 唯一拓扑层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89520" y="4224528"/>
            <a:ext cx="4023360" cy="566928"/>
          </a:xfrm>
          <a:prstGeom prst="roundRect">
            <a:avLst>
              <a:gd name="adj" fmla="val 9000"/>
            </a:avLst>
          </a:prstGeom>
          <a:solidFill>
            <a:srgbClr val="FFECD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EA580C"/>
                </a:solidFill>
                <a:latin typeface="Microsoft YaHei"/>
                <a:ea typeface="Microsoft YaHei"/>
                <a:cs typeface="Microsoft YaHei"/>
              </a:rPr>
              <a:t>knowledge/targets/facts/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89520" y="4992624"/>
            <a:ext cx="4023360" cy="566928"/>
          </a:xfrm>
          <a:prstGeom prst="roundRect">
            <a:avLst>
              <a:gd name="adj" fmla="val 9000"/>
            </a:avLst>
          </a:prstGeom>
          <a:solidFill>
            <a:srgbClr val="FFECD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EA580C"/>
                </a:solidFill>
                <a:latin typeface="Microsoft YaHei"/>
                <a:ea typeface="Microsoft YaHei"/>
                <a:cs typeface="Microsoft YaHei"/>
              </a:rPr>
              <a:t>knowledge/ idea_ledger + symbol_selectors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291840" y="1883664"/>
            <a:ext cx="4297680" cy="27431"/>
          </a:xfrm>
          <a:prstGeom prst="line">
            <a:avLst/>
          </a:prstGeom>
          <a:ln w="22225">
            <a:solidFill>
              <a:srgbClr val="2563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3291840" y="2542032"/>
            <a:ext cx="4297680" cy="137160"/>
          </a:xfrm>
          <a:prstGeom prst="line">
            <a:avLst/>
          </a:prstGeom>
          <a:ln w="22225">
            <a:solidFill>
              <a:srgbClr val="2563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3291840" y="3200400"/>
            <a:ext cx="4297680" cy="246888"/>
          </a:xfrm>
          <a:prstGeom prst="line">
            <a:avLst/>
          </a:prstGeom>
          <a:ln w="22225">
            <a:solidFill>
              <a:srgbClr val="2563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3291840" y="3447288"/>
            <a:ext cx="4297680" cy="411480"/>
          </a:xfrm>
          <a:prstGeom prst="line">
            <a:avLst/>
          </a:prstGeom>
          <a:ln w="22225">
            <a:solidFill>
              <a:srgbClr val="6B7280"/>
            </a:solidFill>
            <a:tailEnd type="triangle" w="med" len="med"/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3291840" y="4507992"/>
            <a:ext cx="4297680" cy="9144"/>
          </a:xfrm>
          <a:prstGeom prst="line">
            <a:avLst/>
          </a:prstGeom>
          <a:ln w="22225">
            <a:solidFill>
              <a:srgbClr val="EA580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3291840" y="5175503"/>
            <a:ext cx="4297680" cy="100585"/>
          </a:xfrm>
          <a:prstGeom prst="line">
            <a:avLst/>
          </a:prstGeom>
          <a:ln w="22225">
            <a:solidFill>
              <a:srgbClr val="EA580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3611880" y="3703320"/>
            <a:ext cx="3840480" cy="45720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50" b="1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目录: applies_to.path_globs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（不单独建目录）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897880"/>
            <a:ext cx="11091672" cy="548640"/>
          </a:xfrm>
          <a:prstGeom prst="round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4F46E5"/>
                </a:solidFill>
                <a:latin typeface="Microsoft YaHei"/>
                <a:ea typeface="Microsoft YaHei"/>
                <a:cs typeface="Microsoft YaHei"/>
              </a:rPr>
              <a:t>组合而非枚举：resolver 按 selector 解析 domain，requires 拉入 core+technique，knowledge 按符号检索挂载。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537960"/>
            <a:ext cx="11247120" cy="27432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Team Skill Hub · Draft v2.1 · 2026-05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6400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0241280" cy="50292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2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分阶段路线图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548640"/>
            <a:ext cx="10241280" cy="310896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C8D2E0"/>
                </a:solidFill>
                <a:latin typeface="Microsoft YaHei"/>
                <a:ea typeface="Microsoft YaHei"/>
                <a:cs typeface="Microsoft YaHei"/>
              </a:rPr>
              <a:t>Phase 3（建 eval 套件）是关键长杆，红色标注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274320"/>
            <a:ext cx="822960" cy="45720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C8D2E0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sp>
        <p:nvSpPr>
          <p:cNvPr id="7" name="Chevron 6"/>
          <p:cNvSpPr/>
          <p:nvPr/>
        </p:nvSpPr>
        <p:spPr>
          <a:xfrm>
            <a:off x="411480" y="2331720"/>
            <a:ext cx="2395728" cy="1554480"/>
          </a:xfrm>
          <a:prstGeom prst="chevron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Phase 0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抽取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1–2w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114800"/>
            <a:ext cx="2212848" cy="777240"/>
          </a:xfrm>
          <a:prstGeom prst="roundRect">
            <a:avLst>
              <a:gd name="adj" fmla="val 9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双仓 pin + 路径兼容</a:t>
            </a:r>
          </a:p>
        </p:txBody>
      </p:sp>
      <p:sp>
        <p:nvSpPr>
          <p:cNvPr id="9" name="Chevron 8"/>
          <p:cNvSpPr/>
          <p:nvPr/>
        </p:nvSpPr>
        <p:spPr>
          <a:xfrm>
            <a:off x="2642616" y="2331720"/>
            <a:ext cx="2395728" cy="1554480"/>
          </a:xfrm>
          <a:prstGeom prst="chevron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Phase 1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蒸馏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2–3w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79776" y="4114800"/>
            <a:ext cx="2212848" cy="777240"/>
          </a:xfrm>
          <a:prstGeom prst="roundRect">
            <a:avLst>
              <a:gd name="adj" fmla="val 9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hmopt sediment</a:t>
            </a:r>
          </a:p>
        </p:txBody>
      </p:sp>
      <p:sp>
        <p:nvSpPr>
          <p:cNvPr id="11" name="Chevron 10"/>
          <p:cNvSpPr/>
          <p:nvPr/>
        </p:nvSpPr>
        <p:spPr>
          <a:xfrm>
            <a:off x="4873752" y="2331720"/>
            <a:ext cx="2395728" cy="1554480"/>
          </a:xfrm>
          <a:prstGeom prst="chevron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Phase 2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策展+合并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3–6w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10912" y="4114800"/>
            <a:ext cx="2212848" cy="777240"/>
          </a:xfrm>
          <a:prstGeom prst="roundRect">
            <a:avLst>
              <a:gd name="adj" fmla="val 9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引擎A + CI + policies</a:t>
            </a:r>
          </a:p>
        </p:txBody>
      </p:sp>
      <p:sp>
        <p:nvSpPr>
          <p:cNvPr id="13" name="Chevron 12"/>
          <p:cNvSpPr/>
          <p:nvPr/>
        </p:nvSpPr>
        <p:spPr>
          <a:xfrm>
            <a:off x="7104888" y="2331720"/>
            <a:ext cx="2395728" cy="1554480"/>
          </a:xfrm>
          <a:prstGeom prst="chevron">
            <a:avLst/>
          </a:prstGeom>
          <a:solidFill>
            <a:srgbClr val="DC3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Phase 3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eval 门 ★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6–10w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42048" y="4114800"/>
            <a:ext cx="2212848" cy="777240"/>
          </a:xfrm>
          <a:prstGeom prst="roundRect">
            <a:avLst>
              <a:gd name="adj" fmla="val 9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core suite + 引擎B</a:t>
            </a:r>
          </a:p>
        </p:txBody>
      </p:sp>
      <p:sp>
        <p:nvSpPr>
          <p:cNvPr id="15" name="Chevron 14"/>
          <p:cNvSpPr/>
          <p:nvPr/>
        </p:nvSpPr>
        <p:spPr>
          <a:xfrm>
            <a:off x="9336024" y="2331720"/>
            <a:ext cx="2395728" cy="1554480"/>
          </a:xfrm>
          <a:prstGeom prst="chevron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Phase 4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自动优化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10w+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473184" y="4114800"/>
            <a:ext cx="2212848" cy="777240"/>
          </a:xfrm>
          <a:prstGeom prst="roundRect">
            <a:avLst>
              <a:gd name="adj" fmla="val 9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定时作业 + 发布节奏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440680"/>
            <a:ext cx="11091672" cy="548640"/>
          </a:xfrm>
          <a:prstGeom prst="round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4F46E5"/>
                </a:solidFill>
                <a:latin typeface="Microsoft YaHei"/>
                <a:ea typeface="Microsoft YaHei"/>
                <a:cs typeface="Microsoft YaHei"/>
              </a:rPr>
              <a:t>先 symlink 兜底跑通双仓（Phase 0）；eval 套件最难也最值；优化作业半自动 → 全自动。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537960"/>
            <a:ext cx="11247120" cy="27432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Team Skill Hub · Draft v2.1 · 2026-05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
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931920"/>
            <a:ext cx="6035040" cy="3657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424160" cy="10972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团队级 Skill / Memory 仓库闭环方案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10424160" cy="5486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Team Skill Hub  ·  本地沉淀 → 团队技能仓 → 反哺 Pipeline → 闭环迭代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069080"/>
            <a:ext cx="104241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可迭代  ·  可沉淀  ·  可闭环优化  ·  可复用  ·  稳定可用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42416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方法来源（业界研究参考）：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138928"/>
            <a:ext cx="1581912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SkillOpt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33472" y="5138928"/>
            <a:ext cx="996696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5138928"/>
            <a:ext cx="1874520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Mem0 / Zep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61888" y="5138928"/>
            <a:ext cx="996696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87183" y="5138928"/>
            <a:ext cx="1435608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Voyager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51392" y="5138928"/>
            <a:ext cx="2167128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Draft v2.2  ·  2026-05  ·  研究 + 方案设计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闭环全景 · 两仓协同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消费 → 蒸馏 → 沉淀合并 → 评测后发布 → 再消费（每个环节都有质量关卡）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31720"/>
            <a:ext cx="2514600" cy="16002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hm-skill-hub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团队资产库 · 版本化(semver)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skills/ 技能·引擎B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knowledge/ 知识·引擎A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331720"/>
            <a:ext cx="2697480" cy="1600200"/>
          </a:xfrm>
          <a:prstGeom prst="roundRect">
            <a:avLst>
              <a:gd name="adj" fmla="val 10000"/>
            </a:avLst>
          </a:prstGeom>
          <a:solidFill>
            <a:srgbClr val="E2F7F3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pipeline 运行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（每位成员各自跑）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research→plan→code→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review→test→decision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331720"/>
            <a:ext cx="2331720" cy="1600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local/ 运行证据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+ sediment_staging 暂存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（Tier1 候选沉淀）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331720"/>
            <a:ext cx="2148840" cy="1600200"/>
          </a:xfrm>
          <a:prstGeom prst="roundRect">
            <a:avLst>
              <a:gd name="adj" fmla="val 10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策展器 + CI 关卡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去重·消解冲突·评测闸门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去敏(清密钥)·保留互补候选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1752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9748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消费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9788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蒸馏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3252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沉淀PR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548640" y="4343400"/>
            <a:ext cx="11155680" cy="658368"/>
          </a:xfrm>
          <a:prstGeom prst="leftArrow">
            <a:avLst/>
          </a:prstGeom>
          <a:solidFill>
            <a:srgbClr val="E3ED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④ 发布：评测闸门通过才回灌 pipeline（锁定版本 · 可复现 · 可回滚）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9496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每个环节都有质量关卡，脏数据不会滚雪球；hub 以“锁定版本”反向喂回，可复现、可回滚。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v2.2 · 2026-05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脊柱：两类资产 · 两套合并引擎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团队记忆仓失败的根因：用同一套 git 行级合并治理两类资产 → 必须分开走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486400" cy="370332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Skills 技能（做法/流程）— 引擎 B：改动须通过验证才合并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4937760" cy="548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成员提议有界改动 增/删/改（单次改动量受“文本学习率”约束）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2697480"/>
            <a:ext cx="365760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在留出的评测套件上：分数严格变好？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46120" y="2468880"/>
            <a:ext cx="0" cy="22860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7240" y="3474720"/>
            <a:ext cx="2331720" cy="566928"/>
          </a:xfrm>
          <a:prstGeom prst="roundRect">
            <a:avLst>
              <a:gd name="adj" fmla="val 9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是 → 采纳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更新技能正本 + 评分卡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474720"/>
            <a:ext cx="2331720" cy="566928"/>
          </a:xfrm>
          <a:prstGeom prst="roundRect">
            <a:avLst>
              <a:gd name="adj" fmla="val 9000"/>
            </a:avLst>
          </a:prstGeom>
          <a:solidFill>
            <a:srgbClr val="FDE7E9"/>
          </a:solidFill>
          <a:ln w="1270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否 → 记入被拒改动表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（bad_edits·不再重试）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920240" y="3246120"/>
            <a:ext cx="548640" cy="228600"/>
          </a:xfrm>
          <a:prstGeom prst="line">
            <a:avLst/>
          </a:prstGeom>
          <a:ln w="22225">
            <a:solidFill>
              <a:srgbClr val="16A3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23360" y="3246120"/>
            <a:ext cx="548640" cy="228600"/>
          </a:xfrm>
          <a:prstGeom prst="line">
            <a:avLst/>
          </a:prstGeom>
          <a:ln w="22225">
            <a:solidFill>
              <a:srgbClr val="DC3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4251960"/>
            <a:ext cx="4937760" cy="603504"/>
          </a:xfrm>
          <a:prstGeom prst="roundRect">
            <a:avLst>
              <a:gd name="adj" fmla="val 9000"/>
            </a:avLst>
          </a:prstGeom>
          <a:solidFill>
            <a:srgbClr val="E6E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保留互补候选（Pareto 前沿）：防多人改动互相覆盖、塌缩为局部最优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325880"/>
            <a:ext cx="5486400" cy="3703320"/>
          </a:xfrm>
          <a:prstGeom prst="roundRect">
            <a:avLst>
              <a:gd name="adj" fmla="val 5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141732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 知识（事实/教训）— 引擎 A：按条目合并 + 去重 + 消解矛盾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5029200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每条一稳定 ID · 按条目合并（绝不做 git 行级合并）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606040"/>
            <a:ext cx="5029200" cy="548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近似重复？→ 合并来源，确认次数 +1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3291840"/>
            <a:ext cx="5029200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互相矛盾？→ 按证据强弱与新旧裁决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旧记录标“已被取代”，保留不删、可追溯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069080"/>
            <a:ext cx="5029200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都不是 → 新增入库（须带来源 + 证据，无来源即拒）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61120" y="242316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961120" y="315468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961120" y="393192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8640" y="525780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知识靠『按条目合并 + 去重 + 消解矛盾』；技能靠『验证后才合并 + 保留互补候选』。两类资产，两台引擎，分开治理。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v2.2 · 2026-05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沉淀漏斗：三层 · 三道关卡 · 成熟度 L0–L3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一条原始运行轨迹，如何层层过关、晋升为团队共享资产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09647" y="1234440"/>
            <a:ext cx="7772400" cy="5486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Tier0 原始运行轨迹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plans · reviews · bench · design（本地，可能含密钥）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21127" y="1965960"/>
            <a:ext cx="6949440" cy="548640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Tier1 候选 = L1 — 结构化 + 来源 + 证据（暂存区 staging）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6887" y="2697480"/>
            <a:ext cx="621792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关卡1 · 格式校验 / 规范检查 / 去敏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2647" y="3429000"/>
            <a:ext cx="548640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关卡2 · 证据门：有引用 · 有收益数据 · ≥N 次确认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8407" y="4160520"/>
            <a:ext cx="475488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关卡3 · 策展 + 评测：去重合并 + 双人评审 + 评测闸门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4167" y="4892040"/>
            <a:ext cx="4023360" cy="548640"/>
          </a:xfrm>
          <a:prstGeom prst="roundRect">
            <a:avLst>
              <a:gd name="adj" fmla="val 9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Tier2 = L2 稳定版 → 进 knowledge/ 或 skills/domain/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41367" y="5623560"/>
            <a:ext cx="3108960" cy="548640"/>
          </a:xfrm>
          <a:prstGeom prst="roundRect">
            <a:avLst>
              <a:gd name="adj" fmla="val 9000"/>
            </a:avLst>
          </a:prstGeom>
          <a:solidFill>
            <a:srgbClr val="C7ECD6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L3 核心 → skills/core/（组织级金标准）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178308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78727" y="1728216"/>
            <a:ext cx="329184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收口点蒸馏 hmopt sediment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5847" y="251460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324612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397763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95847" y="470915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" y="544067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78727" y="5385816"/>
            <a:ext cx="329184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跨子团队复用成功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697480"/>
            <a:ext cx="2194560" cy="8229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拒 → 打回 / 留本地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无证据 → 留 L1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破例 → 降级 + 签字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（不设豁免口子）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v2.2 · 2026-05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skills/ 内部布局：消灭组合爆炸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首要判据：做法/流程 = 技能，事实/教训 = 知识；只有 3 个维度是真正的技能文件夹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11091672" cy="38404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判定：做法/流程 → 技能（照着执行·靠改措辞调优·评测能衡量）　｜　事实/结论/教训 → 知识（供查阅·靠增删纠错条目维护）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27632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流程 / 跨切面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优化招式（mechanism）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44368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子系统（subsystem）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02735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目录（dir）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61103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文件（file）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19471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函数（function/符号）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627632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skills/core/   流程·跨切面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2395728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skills/technique/   优化招式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3163824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skills/domain/ 按子系统/  ← 唯一触及代码结构的层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4224528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knowledge/targets/facts/  文件级事实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992624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knowledge/ idea_ledger + 符号选择器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91840" y="1883664"/>
            <a:ext cx="4297680" cy="27431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91840" y="2542032"/>
            <a:ext cx="4297680" cy="13716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91840" y="3200400"/>
            <a:ext cx="4297680" cy="246888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291840" y="3447288"/>
            <a:ext cx="4297680" cy="4114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291840" y="4507992"/>
            <a:ext cx="4297680" cy="9144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291840" y="5175503"/>
            <a:ext cx="4297680" cy="100585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11880" y="3703320"/>
            <a:ext cx="384048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目录：写进 domain 技能的“适用路径”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（不单独建目录）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9788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组合而非枚举：加载时按目标解析出 domain 技能，顺 requires 拉入 core+technique，再按符号检索挂上对应 knowledge。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v2.2 · 2026-05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完整工程目录 Layout：两仓职责划清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两仓分工：hm-skill-hub = 团队共享资产（版本化、只读消费）｜ .opencode/ = 各成员执行面（本地叠加 + 在途沉淀）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33271"/>
            <a:ext cx="6903720" cy="53583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078992"/>
            <a:ext cx="6675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① 中央资产仓 hm-skill-hub/ — 团队共享 · 版本化（举例展开）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6858000" cy="4992624"/>
          </a:xfrm>
          <a:prstGeom prst="rect">
            <a:avLst/>
          </a:prstGeom>
          <a:noFill/>
        </p:spPr>
        <p:txBody>
          <a:bodyPr wrap="none" anchor="t" lIns="128016" rIns="54864" tIns="91440">
            <a:spAutoFit/>
          </a:bodyPr>
          <a:lstStyle/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hm-skill-hub/    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团队共享 · 版本化(semver)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registry.yaml 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总清单:技能/版本/评测/负责人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schemas/      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各类记录的格式约束(校验用)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skills/       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技能(引擎B·过 eval-gate 优化) · 三层见上页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core/      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流程·跨切面(全子系统通用)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optimization-funnel/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例:优化漏斗主流程 — 文件夹内容如下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SKILL.md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选中即读:何时用 + 怎么用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best_skill.md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SkillOpt 优化出的“正本”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evals/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技能内·私有评测:用哪套题 + 留出用例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candidates/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Pareto 前沿:互补候选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scorecards/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本技能历次 A/B 跑分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└─ references/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重材料(按需加载)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stage-gate-enforcement/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例:阶段门禁强制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technique/ 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优化招式 · 按 mechanism 命名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hoist-loop-invariant/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例:循环不变量外提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batch-coalescing/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例:批量合并写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domain/    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按子系统(唯一触及代码结构)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mm-reclaim/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例:内存回收(含 references/)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hyperhold-io/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例:hyperhold I/O 路径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_registry/skills.yaml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全量索引 + 子系统选择器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agents/  ·  commands/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角色定义 + slash 命令(评审制·非 eval)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pipelines/  ·  docs/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流水线预设 + harness 规范(原 CLAUDE.md)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knowledge/    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知识(引擎A·分层·每条一文件)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global/    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全局教训 / 反模式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lessons/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例:G012_reclaim-twice.md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anti_patterns/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例:A007_busy-wait.md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subsystems/&lt;s&gt;.md  ·  targets/&lt;slug&gt;/{facts,decisions,idea_ledger}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index/     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向量检索索引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evidence/     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可复核证据(每条回链来源)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benchmarks/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例:mm-reclaim_2026Q2.json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regressions/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例:R031_shrink_node.json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eval/         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顶层·团队共享评测(区别于技能内 evals/)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task_suites/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可复用任务集 例:mm_reclaim_suite/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scorecards/  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发布级评分 例:funnel_v3_*.md</a:t>
            </a:r>
          </a:p>
          <a:p>
            <a:pPr algn="l">
              <a:spcBef>
                <a:spcPts val="0"/>
              </a:spcBef>
              <a:spcAft>
                <a:spcPts val="95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└─ policies/ staging/ tools/ .github/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规则·入站候选·脚本·CI 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1078992"/>
            <a:ext cx="4325112" cy="25054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152144"/>
            <a:ext cx="411480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② 业务仓 .opencode/ — 每成员执行面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444752"/>
            <a:ext cx="4206240" cy="2103120"/>
          </a:xfrm>
          <a:prstGeom prst="rect">
            <a:avLst/>
          </a:prstGeom>
          <a:noFill/>
        </p:spPr>
        <p:txBody>
          <a:bodyPr wrap="none" anchor="t" lIns="128016" rIns="54864" tIns="91440">
            <a:spAutoFit/>
          </a:bodyPr>
          <a:lstStyle/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.opencode/    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在业务仓内 · 执行面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hub/       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子模块·锁定版本(只读)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local/     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本成员执行产物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runs/&lt;run_id&gt;/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plans/reviews/bench…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  &lt;target&gt;_design.md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运行证据(建议留存)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memory/   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在途记忆(Tier1)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sediment_staging/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候选包 → PR 到 hub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state/current_task.json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纯运行态(gitignore)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skill-memory.lock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锁定版本(semver+SHA)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└─ resolver.py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先 hub 再叠加 local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3694176"/>
            <a:ext cx="4325112" cy="877824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三类资产 → 唯一归宿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做法/流程 → hub（skills · agents · commands · pipelines · docs）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事实/教训 → hub knowledge ｜ 运行证据 → local/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4645152"/>
            <a:ext cx="4325112" cy="54864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资产面 / 执行面分离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hub 只读·共享·版本化；local 个人·在途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5230368"/>
            <a:ext cx="4325112" cy="548640"/>
          </a:xfrm>
          <a:prstGeom prst="roundRect">
            <a:avLst>
              <a:gd name="adj" fmla="val 10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每条知识 = 一文件 + 稳定 ID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规避 git 行级冲突，热点文件不争用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5815584"/>
            <a:ext cx="4325112" cy="530352"/>
          </a:xfrm>
          <a:prstGeom prst="roundRect">
            <a:avLst>
              <a:gd name="adj" fmla="val 10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子模块锁定 + 版本锁文件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可复现·防漂移·中央仓宕机本地兜底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v2.2 · 2026-05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分阶段路线图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Phase 3（搭建 eval 评测套件）是关键瓶颈（长杆），红色标注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7" name="Chevron 6"/>
          <p:cNvSpPr/>
          <p:nvPr/>
        </p:nvSpPr>
        <p:spPr>
          <a:xfrm>
            <a:off x="411480" y="2331720"/>
            <a:ext cx="2395728" cy="155448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0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抽取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1–2w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双仓锁定 + 路径兼容</a:t>
            </a:r>
          </a:p>
        </p:txBody>
      </p:sp>
      <p:sp>
        <p:nvSpPr>
          <p:cNvPr id="9" name="Chevron 8"/>
          <p:cNvSpPr/>
          <p:nvPr/>
        </p:nvSpPr>
        <p:spPr>
          <a:xfrm>
            <a:off x="2642616" y="2331720"/>
            <a:ext cx="2395728" cy="15544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1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蒸馏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2–3w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9776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hmopt sediment 沉淀</a:t>
            </a:r>
          </a:p>
        </p:txBody>
      </p:sp>
      <p:sp>
        <p:nvSpPr>
          <p:cNvPr id="11" name="Chevron 10"/>
          <p:cNvSpPr/>
          <p:nvPr/>
        </p:nvSpPr>
        <p:spPr>
          <a:xfrm>
            <a:off x="4873752" y="2331720"/>
            <a:ext cx="2395728" cy="155448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2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策展+合并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3–6w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0912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引擎A + CI + 规则文档</a:t>
            </a:r>
          </a:p>
        </p:txBody>
      </p:sp>
      <p:sp>
        <p:nvSpPr>
          <p:cNvPr id="13" name="Chevron 12"/>
          <p:cNvSpPr/>
          <p:nvPr/>
        </p:nvSpPr>
        <p:spPr>
          <a:xfrm>
            <a:off x="7104888" y="2331720"/>
            <a:ext cx="2395728" cy="1554480"/>
          </a:xfrm>
          <a:prstGeom prst="chevron">
            <a:avLst/>
          </a:prstGeom>
          <a:solidFill>
            <a:srgbClr val="DC3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3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评测门 ★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6–10w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8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core 评测套件 + 引擎B</a:t>
            </a:r>
          </a:p>
        </p:txBody>
      </p:sp>
      <p:sp>
        <p:nvSpPr>
          <p:cNvPr id="15" name="Chevron 14"/>
          <p:cNvSpPr/>
          <p:nvPr/>
        </p:nvSpPr>
        <p:spPr>
          <a:xfrm>
            <a:off x="9336024" y="2331720"/>
            <a:ext cx="2395728" cy="1554480"/>
          </a:xfrm>
          <a:prstGeom prst="chevron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4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自动优化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10w+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3184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定时作业 + 发布节奏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4068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先用 symlink 软链兜底、跑通双仓（Phase 0）；评测套件最难也最值；优化作业从半自动逐步走向全自动。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v2.2 · 2026-05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